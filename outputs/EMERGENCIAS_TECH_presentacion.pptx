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22"/>
  </p:normalViewPr>
  <p:slideViewPr>
    <p:cSldViewPr snapToGrid="0">
      <p:cViewPr>
        <p:scale>
          <a:sx n="115" d="100"/>
          <a:sy n="115" d="100"/>
        </p:scale>
        <p:origin x="4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MX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Peso relativo</c:v>
          </c:tx>
          <c:spPr>
            <a:solidFill>
              <a:srgbClr val="2563EB"/>
            </a:solidFill>
          </c:spPr>
          <c:invertIfNegative val="1"/>
          <c:dLbls>
            <c:delete val="1"/>
          </c:dLbls>
          <c:cat>
            <c:strLit>
              <c:ptCount val="4"/>
              <c:pt idx="0">
                <c:v>Baja</c:v>
              </c:pt>
              <c:pt idx="1">
                <c:v>Media</c:v>
              </c:pt>
              <c:pt idx="2">
                <c:v>Alta</c:v>
              </c:pt>
              <c:pt idx="3">
                <c:v>Crítica</c:v>
              </c:pt>
            </c:strLit>
          </c:cat>
          <c:val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027-AA47-AC9F-8871D07E794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4748B"/>
                </a:solidFill>
              </a:defRPr>
            </a:pPr>
            <a:endParaRPr lang="es-EC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4748B"/>
                </a:solidFill>
              </a:defRPr>
            </a:pPr>
            <a:endParaRPr lang="es-EC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MX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v>Valor</c:v>
          </c:tx>
          <c:dPt>
            <c:idx val="0"/>
            <c:bubble3D val="0"/>
            <c:spPr>
              <a:solidFill>
                <a:srgbClr val="2563EB"/>
              </a:solidFill>
            </c:spPr>
            <c:extLst>
              <c:ext xmlns:c16="http://schemas.microsoft.com/office/drawing/2014/chart" uri="{C3380CC4-5D6E-409C-BE32-E72D297353CC}">
                <c16:uniqueId val="{00000001-7A4F-2247-8EBE-D59E175A82E5}"/>
              </c:ext>
            </c:extLst>
          </c:dPt>
          <c:dPt>
            <c:idx val="1"/>
            <c:bubble3D val="0"/>
            <c:spPr>
              <a:solidFill>
                <a:srgbClr val="0EA5E9"/>
              </a:solidFill>
            </c:spPr>
            <c:extLst>
              <c:ext xmlns:c16="http://schemas.microsoft.com/office/drawing/2014/chart" uri="{C3380CC4-5D6E-409C-BE32-E72D297353CC}">
                <c16:uniqueId val="{00000003-7A4F-2247-8EBE-D59E175A82E5}"/>
              </c:ext>
            </c:extLst>
          </c:dPt>
          <c:dPt>
            <c:idx val="2"/>
            <c:bubble3D val="0"/>
            <c:spPr>
              <a:solidFill>
                <a:srgbClr val="22C55E"/>
              </a:solidFill>
            </c:spPr>
            <c:extLst>
              <c:ext xmlns:c16="http://schemas.microsoft.com/office/drawing/2014/chart" uri="{C3380CC4-5D6E-409C-BE32-E72D297353CC}">
                <c16:uniqueId val="{00000005-7A4F-2247-8EBE-D59E175A82E5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7-7A4F-2247-8EBE-D59E175A82E5}"/>
              </c:ext>
            </c:extLst>
          </c:dPt>
          <c:dLbls>
            <c:delete val="1"/>
          </c:dLbls>
          <c:cat>
            <c:strLit>
              <c:ptCount val="4"/>
              <c:pt idx="0">
                <c:v>Tiempo real</c:v>
              </c:pt>
              <c:pt idx="1">
                <c:v>Ubicación</c:v>
              </c:pt>
              <c:pt idx="2">
                <c:v>Seguridad</c:v>
              </c:pt>
              <c:pt idx="3">
                <c:v>Analítica</c:v>
              </c:pt>
            </c:strLit>
          </c:cat>
          <c:val>
            <c:numLit>
              <c:formatCode>General</c:formatCode>
              <c:ptCount val="4"/>
              <c:pt idx="0">
                <c:v>35</c:v>
              </c:pt>
              <c:pt idx="1">
                <c:v>25</c:v>
              </c:pt>
              <c:pt idx="2">
                <c:v>20</c:v>
              </c:pt>
              <c:pt idx="3">
                <c:v>20</c:v>
              </c:pt>
            </c:numLit>
          </c:val>
          <c:extLst>
            <c:ext xmlns:c16="http://schemas.microsoft.com/office/drawing/2014/chart" uri="{C3380CC4-5D6E-409C-BE32-E72D297353CC}">
              <c16:uniqueId val="{00000008-7A4F-2247-8EBE-D59E175A82E5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  <c:holeSize val="58"/>
      </c:doughnutChart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0F172A"/>
              </a:solidFill>
            </a:defRPr>
          </a:pPr>
          <a:endParaRPr lang="es-EC"/>
        </a:p>
      </c:txPr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83B9B975-F206-41B0-A11D-CD108C2434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41B93070-35FD-4212-875D-7DA956A80015}"/>
              </a:ext>
            </a:extLst>
          </p:cNvPr>
          <p:cNvSpPr>
            <a:spLocks noGrp="1"/>
          </p:cNvSpPr>
          <p:nvPr/>
        </p:nvSpPr>
        <p:spPr>
          <a:xfrm>
            <a:off x="7810500" y="342900"/>
            <a:ext cx="47625" cy="47625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169A9C1C-5E5F-46FD-9700-559BD4B5105A}"/>
              </a:ext>
            </a:extLst>
          </p:cNvPr>
          <p:cNvSpPr>
            <a:spLocks noGrp="1"/>
          </p:cNvSpPr>
          <p:nvPr/>
        </p:nvSpPr>
        <p:spPr>
          <a:xfrm>
            <a:off x="8134350" y="8763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5D994F1-76B6-4E4C-BB38-01BD2D3926A5}"/>
              </a:ext>
            </a:extLst>
          </p:cNvPr>
          <p:cNvSpPr>
            <a:spLocks noGrp="1"/>
          </p:cNvSpPr>
          <p:nvPr/>
        </p:nvSpPr>
        <p:spPr>
          <a:xfrm>
            <a:off x="8458200" y="14097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001CB824-9111-43D1-A8FA-ECFDFE07A952}"/>
              </a:ext>
            </a:extLst>
          </p:cNvPr>
          <p:cNvSpPr>
            <a:spLocks noGrp="1"/>
          </p:cNvSpPr>
          <p:nvPr/>
        </p:nvSpPr>
        <p:spPr>
          <a:xfrm>
            <a:off x="8782050" y="1943100"/>
            <a:ext cx="47625" cy="47625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13E8686-FA1B-4329-A3B5-4E09E225D543}"/>
              </a:ext>
            </a:extLst>
          </p:cNvPr>
          <p:cNvSpPr>
            <a:spLocks noGrp="1"/>
          </p:cNvSpPr>
          <p:nvPr/>
        </p:nvSpPr>
        <p:spPr>
          <a:xfrm>
            <a:off x="9105900" y="24765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4A72AC4-B22A-4319-BCB9-754FBE438220}"/>
              </a:ext>
            </a:extLst>
          </p:cNvPr>
          <p:cNvSpPr>
            <a:spLocks noGrp="1"/>
          </p:cNvSpPr>
          <p:nvPr/>
        </p:nvSpPr>
        <p:spPr>
          <a:xfrm>
            <a:off x="9429750" y="3429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30124948-3D5B-4534-B651-2B89C660D2F8}"/>
              </a:ext>
            </a:extLst>
          </p:cNvPr>
          <p:cNvSpPr>
            <a:spLocks noGrp="1"/>
          </p:cNvSpPr>
          <p:nvPr/>
        </p:nvSpPr>
        <p:spPr>
          <a:xfrm>
            <a:off x="9753600" y="876300"/>
            <a:ext cx="47625" cy="47625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BDA3D961-D518-494B-9B86-2BB83F092BC7}"/>
              </a:ext>
            </a:extLst>
          </p:cNvPr>
          <p:cNvSpPr>
            <a:spLocks noGrp="1"/>
          </p:cNvSpPr>
          <p:nvPr/>
        </p:nvSpPr>
        <p:spPr>
          <a:xfrm>
            <a:off x="10077450" y="14097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B3ADD84-6A6C-4FB8-BBF0-F46BB1D6A6DC}"/>
              </a:ext>
            </a:extLst>
          </p:cNvPr>
          <p:cNvSpPr>
            <a:spLocks noGrp="1"/>
          </p:cNvSpPr>
          <p:nvPr/>
        </p:nvSpPr>
        <p:spPr>
          <a:xfrm>
            <a:off x="10401300" y="19431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42972A2-7568-4019-AAE2-4D0F8B8D2475}"/>
              </a:ext>
            </a:extLst>
          </p:cNvPr>
          <p:cNvSpPr>
            <a:spLocks noGrp="1"/>
          </p:cNvSpPr>
          <p:nvPr/>
        </p:nvSpPr>
        <p:spPr>
          <a:xfrm>
            <a:off x="10725150" y="2476500"/>
            <a:ext cx="47625" cy="47625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31" name="Imagen 30"/>
          <p:cNvPicPr>
            <a:picLocks noChangeAspect="1"/>
          </p:cNvPicPr>
          <p:nvPr/>
        </p:nvPicPr>
        <p:blipFill>
          <a:blip r:embed="rId3"/>
          <a:srcRect l="8567" r="8567"/>
          <a:stretch>
            <a:fillRect/>
          </a:stretch>
        </p:blipFill>
        <p:spPr>
          <a:xfrm>
            <a:off x="4953000" y="514350"/>
            <a:ext cx="6324600" cy="5257800"/>
          </a:xfrm>
          <a:prstGeom prst="roundRect">
            <a:avLst>
              <a:gd name="adj" fmla="val 3986"/>
            </a:avLst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1D48B129-1F7C-4FFA-82A5-F6A0D78FB744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3429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75" b="1">
                <a:solidFill>
                  <a:srgbClr val="38BDF8"/>
                </a:solidFill>
              </a:defRPr>
            </a:pPr>
            <a:r>
              <a:rPr lang="es-ES_tradnl" sz="975" b="1" noProof="0" dirty="0">
                <a:solidFill>
                  <a:srgbClr val="38BDF8"/>
                </a:solidFill>
              </a:rPr>
              <a:t>PROYECTO DE SOFTWARE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06D10B2-F0D3-4A64-8803-172D097F81E6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4762500" cy="1428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4350" b="1">
                <a:solidFill>
                  <a:srgbClr val="FFFFFF"/>
                </a:solidFill>
              </a:defRPr>
            </a:pPr>
            <a:r>
              <a:rPr lang="es-ES_tradnl" sz="4350" b="1" noProof="0" dirty="0">
                <a:solidFill>
                  <a:srgbClr val="FFFFFF"/>
                </a:solidFill>
              </a:rPr>
              <a:t>EMERGENCIAS</a:t>
            </a:r>
          </a:p>
          <a:p>
            <a:pPr algn="l">
              <a:defRPr sz="4350" b="1">
                <a:solidFill>
                  <a:srgbClr val="FFFFFF"/>
                </a:solidFill>
              </a:defRPr>
            </a:pPr>
            <a:r>
              <a:rPr lang="es-ES_tradnl" sz="4350" b="1" noProof="0" dirty="0">
                <a:solidFill>
                  <a:srgbClr val="FFFFFF"/>
                </a:solidFill>
              </a:rPr>
              <a:t>TECH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F57A157-F15D-448A-835E-839A95D29FDA}"/>
              </a:ext>
            </a:extLst>
          </p:cNvPr>
          <p:cNvSpPr>
            <a:spLocks noGrp="1"/>
          </p:cNvSpPr>
          <p:nvPr/>
        </p:nvSpPr>
        <p:spPr>
          <a:xfrm>
            <a:off x="685800" y="3028950"/>
            <a:ext cx="40005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650" b="0">
                <a:solidFill>
                  <a:srgbClr val="D7E5FF"/>
                </a:solidFill>
              </a:defRPr>
            </a:pPr>
            <a:r>
              <a:rPr lang="es-ES_tradnl" sz="1650" b="0" noProof="0" dirty="0">
                <a:solidFill>
                  <a:srgbClr val="D7E5FF"/>
                </a:solidFill>
              </a:rPr>
              <a:t>Plataforma distribuida para reportes, coordinación y respuesta a emergencias en tiempo real.</a:t>
            </a:r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65B5A0AF-B9AE-4538-B32A-5E6E2ECC5A0A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3714750" cy="285750"/>
          </a:xfrm>
          <a:prstGeom prst="roundRect">
            <a:avLst>
              <a:gd name="adj" fmla="val 50000"/>
            </a:avLst>
          </a:prstGeom>
          <a:solidFill>
            <a:srgbClr val="0D2A4D"/>
          </a:solidFill>
          <a:ln w="9525">
            <a:solidFill>
              <a:srgbClr val="38BDF8"/>
            </a:solidFill>
          </a:ln>
        </p:spPr>
        <p:txBody>
          <a:bodyPr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rPr lang="es-ES_tradnl" sz="900" b="1" noProof="0" dirty="0" err="1">
                <a:solidFill>
                  <a:srgbClr val="38BDF8"/>
                </a:solidFill>
              </a:rPr>
              <a:t>React</a:t>
            </a:r>
            <a:r>
              <a:rPr lang="es-ES_tradnl" sz="900" b="1" noProof="0" dirty="0">
                <a:solidFill>
                  <a:srgbClr val="38BDF8"/>
                </a:solidFill>
              </a:rPr>
              <a:t> + Express + </a:t>
            </a:r>
            <a:r>
              <a:rPr lang="es-ES_tradnl" sz="900" b="1" noProof="0" dirty="0" err="1">
                <a:solidFill>
                  <a:srgbClr val="38BDF8"/>
                </a:solidFill>
              </a:rPr>
              <a:t>Socket.IO</a:t>
            </a:r>
            <a:r>
              <a:rPr lang="es-ES_tradnl" sz="900" b="1" noProof="0" dirty="0">
                <a:solidFill>
                  <a:srgbClr val="38BDF8"/>
                </a:solidFill>
              </a:rPr>
              <a:t> + </a:t>
            </a:r>
            <a:r>
              <a:rPr lang="es-ES_tradnl" sz="900" b="1" noProof="0" dirty="0" err="1">
                <a:solidFill>
                  <a:srgbClr val="38BDF8"/>
                </a:solidFill>
              </a:rPr>
              <a:t>WebRTC</a:t>
            </a:r>
            <a:r>
              <a:rPr lang="es-ES_tradnl" sz="900" b="1" noProof="0" dirty="0">
                <a:solidFill>
                  <a:srgbClr val="38BDF8"/>
                </a:solidFill>
              </a:rPr>
              <a:t> + Mapas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284298B-E724-42C4-839D-E0DFEDF20341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3714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lang="es-ES_tradnl" sz="1350" b="1" noProof="0" dirty="0">
                <a:solidFill>
                  <a:srgbClr val="FFFFFF"/>
                </a:solidFill>
              </a:rPr>
              <a:t>Integrante: ALEGRIA ADONIS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A63176C-E02D-4970-AE94-C564FA88BA81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B6C7E6"/>
                </a:solidFill>
              </a:defRPr>
            </a:pPr>
            <a:r>
              <a:rPr lang="es-ES_tradnl" sz="750" b="1" noProof="0" dirty="0">
                <a:solidFill>
                  <a:srgbClr val="B6C7E6"/>
                </a:solidFill>
              </a:rPr>
              <a:t>EMERGENCIAS TECH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7C1175B-15AF-4687-8BF7-FA7646D6C1B1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B6C7E6"/>
                </a:solidFill>
              </a:defRPr>
            </a:pPr>
            <a:r>
              <a:rPr lang="es-ES_tradnl" sz="900" b="1" noProof="0" dirty="0">
                <a:solidFill>
                  <a:srgbClr val="B6C7E6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72577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BFC9DF12-EB77-4ACA-84E8-B5012F0A5F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BA49859-1127-44BC-A887-04522DAFEDAE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0" b="1">
                <a:solidFill>
                  <a:srgbClr val="2563EB"/>
                </a:solidFill>
              </a:defRPr>
            </a:pPr>
            <a:r>
              <a:rPr lang="es-ES_tradnl" sz="900" b="1" noProof="0" dirty="0">
                <a:solidFill>
                  <a:srgbClr val="2563EB"/>
                </a:solidFill>
              </a:rPr>
              <a:t>PROBLEMA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D416701-D2DC-4603-9843-9BEB5B785633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88582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lang="es-ES_tradnl" sz="2250" b="1" noProof="0" dirty="0">
                <a:solidFill>
                  <a:srgbClr val="0F172A"/>
                </a:solidFill>
              </a:rPr>
              <a:t>La emergencia pierde valor cuando la información llega tarde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36BF710-7DD6-4DE4-B8EC-ED18E0375226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El reto es conectar reporte, operador y unidad de respuesta sin recargas, llamadas dispersas ni pérdida de trazabilidad.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2DCF4CD-A25B-47BD-823B-3A195AE82434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lang="es-ES_tradnl" sz="750" b="1" noProof="0" dirty="0">
                <a:solidFill>
                  <a:srgbClr val="64748B"/>
                </a:solidFill>
              </a:rPr>
              <a:t>EMERGENCIAS TECH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08694FA-FE29-478D-B32D-AA22F42B9CA3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lang="es-ES_tradnl" sz="900" b="1" noProof="0" dirty="0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DF78D06B-E7F7-4966-A912-A1A142596738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219075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89EBB8-8789-4C63-92A9-D1A559B1498A}"/>
              </a:ext>
            </a:extLst>
          </p:cNvPr>
          <p:cNvSpPr>
            <a:spLocks noGrp="1"/>
          </p:cNvSpPr>
          <p:nvPr/>
        </p:nvSpPr>
        <p:spPr>
          <a:xfrm>
            <a:off x="857250" y="1866900"/>
            <a:ext cx="18097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850" b="1">
                <a:solidFill>
                  <a:srgbClr val="EF4444"/>
                </a:solidFill>
              </a:defRPr>
            </a:pPr>
            <a:r>
              <a:rPr lang="es-ES_tradnl" sz="2850" b="1" noProof="0" dirty="0">
                <a:solidFill>
                  <a:srgbClr val="EF4444"/>
                </a:solidFill>
              </a:rPr>
              <a:t>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9948F75-1B05-419B-92F6-DF46AB835E07}"/>
              </a:ext>
            </a:extLst>
          </p:cNvPr>
          <p:cNvSpPr>
            <a:spLocks noGrp="1"/>
          </p:cNvSpPr>
          <p:nvPr/>
        </p:nvSpPr>
        <p:spPr>
          <a:xfrm>
            <a:off x="857250" y="2343150"/>
            <a:ext cx="180975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lang="es-ES_tradnl" sz="1125" b="0" noProof="0" dirty="0">
                <a:solidFill>
                  <a:srgbClr val="64748B"/>
                </a:solidFill>
              </a:rPr>
              <a:t>ciudadano reporta desde web con ubicación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916D99A4-E698-4E14-B20D-9D52EC9BD526}"/>
              </a:ext>
            </a:extLst>
          </p:cNvPr>
          <p:cNvSpPr>
            <a:spLocks noGrp="1"/>
          </p:cNvSpPr>
          <p:nvPr/>
        </p:nvSpPr>
        <p:spPr>
          <a:xfrm>
            <a:off x="3095625" y="1695450"/>
            <a:ext cx="219075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EBFE826-D85A-4E6C-8630-F5A8D666A3CF}"/>
              </a:ext>
            </a:extLst>
          </p:cNvPr>
          <p:cNvSpPr>
            <a:spLocks noGrp="1"/>
          </p:cNvSpPr>
          <p:nvPr/>
        </p:nvSpPr>
        <p:spPr>
          <a:xfrm>
            <a:off x="3286125" y="1866900"/>
            <a:ext cx="18097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850" b="1">
                <a:solidFill>
                  <a:srgbClr val="2563EB"/>
                </a:solidFill>
              </a:defRPr>
            </a:pPr>
            <a:r>
              <a:rPr lang="es-ES_tradnl" sz="2850" b="1" noProof="0" dirty="0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3D21D56-A850-4417-B31E-70262D384A7E}"/>
              </a:ext>
            </a:extLst>
          </p:cNvPr>
          <p:cNvSpPr>
            <a:spLocks noGrp="1"/>
          </p:cNvSpPr>
          <p:nvPr/>
        </p:nvSpPr>
        <p:spPr>
          <a:xfrm>
            <a:off x="3286125" y="2343150"/>
            <a:ext cx="180975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lang="es-ES_tradnl" sz="1125" b="0" noProof="0" dirty="0">
                <a:solidFill>
                  <a:srgbClr val="64748B"/>
                </a:solidFill>
              </a:rPr>
              <a:t>actores coordinados: usuario, operador y unidad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0F8B0DAC-6716-4608-9BE0-40A4571A25E6}"/>
              </a:ext>
            </a:extLst>
          </p:cNvPr>
          <p:cNvSpPr>
            <a:spLocks noGrp="1"/>
          </p:cNvSpPr>
          <p:nvPr/>
        </p:nvSpPr>
        <p:spPr>
          <a:xfrm>
            <a:off x="5524500" y="1695450"/>
            <a:ext cx="219075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E5114E9-2075-418A-ABA2-9F5A49BD63BF}"/>
              </a:ext>
            </a:extLst>
          </p:cNvPr>
          <p:cNvSpPr>
            <a:spLocks noGrp="1"/>
          </p:cNvSpPr>
          <p:nvPr/>
        </p:nvSpPr>
        <p:spPr>
          <a:xfrm>
            <a:off x="5715000" y="1866900"/>
            <a:ext cx="18097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850" b="1">
                <a:solidFill>
                  <a:srgbClr val="22C55E"/>
                </a:solidFill>
              </a:defRPr>
            </a:pPr>
            <a:r>
              <a:rPr lang="es-ES_tradnl" sz="2850" b="1" noProof="0" dirty="0">
                <a:solidFill>
                  <a:srgbClr val="22C55E"/>
                </a:solidFill>
              </a:rPr>
              <a:t>4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572309A-3869-4F14-8917-D7D345D7429C}"/>
              </a:ext>
            </a:extLst>
          </p:cNvPr>
          <p:cNvSpPr>
            <a:spLocks noGrp="1"/>
          </p:cNvSpPr>
          <p:nvPr/>
        </p:nvSpPr>
        <p:spPr>
          <a:xfrm>
            <a:off x="5715000" y="2343150"/>
            <a:ext cx="180975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lang="es-ES_tradnl" sz="1125" b="0" noProof="0" dirty="0">
                <a:solidFill>
                  <a:srgbClr val="64748B"/>
                </a:solidFill>
              </a:rPr>
              <a:t>estados operativos auditables</a:t>
            </a:r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CD266BF9-65A0-4E54-8069-9CC30183F60B}"/>
              </a:ext>
            </a:extLst>
          </p:cNvPr>
          <p:cNvSpPr>
            <a:spLocks noGrp="1"/>
          </p:cNvSpPr>
          <p:nvPr/>
        </p:nvSpPr>
        <p:spPr>
          <a:xfrm>
            <a:off x="8191500" y="1524000"/>
            <a:ext cx="2857500" cy="2476500"/>
          </a:xfrm>
          <a:prstGeom prst="roundRect">
            <a:avLst>
              <a:gd name="adj" fmla="val 5385"/>
            </a:avLst>
          </a:prstGeom>
          <a:solidFill>
            <a:srgbClr val="0B2345"/>
          </a:solidFill>
          <a:ln w="9525">
            <a:solidFill>
              <a:srgbClr val="0B234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2792C1B-7C9A-45BF-A126-263E6BCF1469}"/>
              </a:ext>
            </a:extLst>
          </p:cNvPr>
          <p:cNvSpPr>
            <a:spLocks noGrp="1"/>
          </p:cNvSpPr>
          <p:nvPr/>
        </p:nvSpPr>
        <p:spPr>
          <a:xfrm>
            <a:off x="8477250" y="1733550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lang="es-ES_tradnl" sz="1500" b="1" noProof="0" dirty="0">
                <a:solidFill>
                  <a:srgbClr val="FFFFFF"/>
                </a:solidFill>
              </a:rPr>
              <a:t>Infografía del problema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601753F8-009A-4940-BF5B-5F49EF5DC9A1}"/>
              </a:ext>
            </a:extLst>
          </p:cNvPr>
          <p:cNvSpPr>
            <a:spLocks noGrp="1"/>
          </p:cNvSpPr>
          <p:nvPr/>
        </p:nvSpPr>
        <p:spPr>
          <a:xfrm>
            <a:off x="8620125" y="2381250"/>
            <a:ext cx="514350" cy="51435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es-ES_tradnl" sz="1350" b="1" noProof="0" dirty="0">
                <a:solidFill>
                  <a:srgbClr val="FFFFFF"/>
                </a:solidFill>
              </a:rPr>
              <a:t>U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632F4FCE-8771-4C89-98FC-6C942E66AC49}"/>
              </a:ext>
            </a:extLst>
          </p:cNvPr>
          <p:cNvSpPr>
            <a:spLocks noGrp="1"/>
          </p:cNvSpPr>
          <p:nvPr/>
        </p:nvSpPr>
        <p:spPr>
          <a:xfrm>
            <a:off x="9667875" y="2381250"/>
            <a:ext cx="514350" cy="51435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es-ES_tradnl" sz="1350" b="1" noProof="0" dirty="0">
                <a:solidFill>
                  <a:srgbClr val="FFFFFF"/>
                </a:solidFill>
              </a:rPr>
              <a:t>O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F83CA205-D673-488B-B610-FD6296C4627D}"/>
              </a:ext>
            </a:extLst>
          </p:cNvPr>
          <p:cNvSpPr>
            <a:spLocks noGrp="1"/>
          </p:cNvSpPr>
          <p:nvPr/>
        </p:nvSpPr>
        <p:spPr>
          <a:xfrm>
            <a:off x="9144000" y="3333750"/>
            <a:ext cx="514350" cy="51435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es-ES_tradnl" sz="1350" b="1" noProof="0" dirty="0">
                <a:solidFill>
                  <a:srgbClr val="FFFFFF"/>
                </a:solidFill>
              </a:rPr>
              <a:t>R</a:t>
            </a:r>
          </a:p>
        </p:txBody>
      </p:sp>
      <p:cxnSp>
        <p:nvCxnSpPr>
          <p:cNvPr id="55" name="Conector recto de flecha 54"/>
          <p:cNvCxnSpPr>
            <a:stCxn id="18" idx="6"/>
            <a:endCxn id="19" idx="2"/>
          </p:cNvCxnSpPr>
          <p:nvPr/>
        </p:nvCxnSpPr>
        <p:spPr>
          <a:xfrm>
            <a:off x="9134475" y="2638425"/>
            <a:ext cx="533400" cy="0"/>
          </a:xfrm>
          <a:prstGeom prst="straightConnector1">
            <a:avLst/>
          </a:prstGeom>
          <a:ln w="19050">
            <a:solidFill>
              <a:srgbClr val="F59E0B"/>
            </a:solidFill>
            <a:prstDash val="solid"/>
            <a:tailEnd type="arrow" w="med" len="med"/>
          </a:ln>
        </p:spPr>
      </p:cxnSp>
      <p:cxnSp>
        <p:nvCxnSpPr>
          <p:cNvPr id="56" name="Conector angular 55"/>
          <p:cNvCxnSpPr>
            <a:stCxn id="19" idx="4"/>
            <a:endCxn id="20" idx="0"/>
          </p:cNvCxnSpPr>
          <p:nvPr/>
        </p:nvCxnSpPr>
        <p:spPr>
          <a:xfrm flipH="1">
            <a:off x="9401175" y="2895600"/>
            <a:ext cx="523875" cy="4381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38BDF8"/>
            </a:solidFill>
            <a:prstDash val="solid"/>
            <a:tailEnd type="arrow" w="med" len="med"/>
          </a:ln>
        </p:spPr>
      </p:cxnSp>
      <p:cxnSp>
        <p:nvCxnSpPr>
          <p:cNvPr id="57" name="Conector angular 56"/>
          <p:cNvCxnSpPr>
            <a:stCxn id="18" idx="4"/>
            <a:endCxn id="20" idx="2"/>
          </p:cNvCxnSpPr>
          <p:nvPr/>
        </p:nvCxnSpPr>
        <p:spPr>
          <a:xfrm>
            <a:off x="8877300" y="2895600"/>
            <a:ext cx="266700" cy="695325"/>
          </a:xfrm>
          <a:prstGeom prst="bentConnector3">
            <a:avLst>
              <a:gd name="adj1" fmla="val 0"/>
            </a:avLst>
          </a:prstGeom>
          <a:ln w="19050">
            <a:solidFill>
              <a:srgbClr val="EF4444"/>
            </a:solidFill>
            <a:prstDash val="solid"/>
            <a:tailEnd type="arrow" w="med" len="med"/>
          </a:ln>
        </p:spPr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576597C-9A0D-4710-ACEA-B20AF819A123}"/>
              </a:ext>
            </a:extLst>
          </p:cNvPr>
          <p:cNvSpPr>
            <a:spLocks noGrp="1"/>
          </p:cNvSpPr>
          <p:nvPr/>
        </p:nvSpPr>
        <p:spPr>
          <a:xfrm>
            <a:off x="666750" y="3286125"/>
            <a:ext cx="7000875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lang="es-ES_tradnl" sz="1650" b="1" noProof="0" dirty="0">
                <a:solidFill>
                  <a:srgbClr val="0F172A"/>
                </a:solidFill>
              </a:rPr>
              <a:t>Sin una plataforma centralizada, el reporte queda fragmentado: ubicación, evidencia, prioridad, estado y comunicación viven en canales separados.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DACE1437-BA54-4FAC-A0C1-B3AFD4B2AF83}"/>
              </a:ext>
            </a:extLst>
          </p:cNvPr>
          <p:cNvSpPr>
            <a:spLocks noGrp="1"/>
          </p:cNvSpPr>
          <p:nvPr/>
        </p:nvSpPr>
        <p:spPr>
          <a:xfrm>
            <a:off x="809625" y="4486275"/>
            <a:ext cx="228600" cy="22860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txBody>
          <a:bodyPr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rPr lang="es-ES_tradnl" sz="600" b="1" noProof="0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DBA78EC-460B-440E-B4E6-0C60CC11228A}"/>
              </a:ext>
            </a:extLst>
          </p:cNvPr>
          <p:cNvSpPr>
            <a:spLocks noGrp="1"/>
          </p:cNvSpPr>
          <p:nvPr/>
        </p:nvSpPr>
        <p:spPr>
          <a:xfrm>
            <a:off x="1152525" y="4476750"/>
            <a:ext cx="65151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275" b="0">
                <a:solidFill>
                  <a:srgbClr val="0F172A"/>
                </a:solidFill>
              </a:defRPr>
            </a:pPr>
            <a:r>
              <a:rPr lang="es-ES_tradnl" sz="1275" b="0" noProof="0" dirty="0">
                <a:solidFill>
                  <a:srgbClr val="0F172A"/>
                </a:solidFill>
              </a:rPr>
              <a:t>Demoras al ubicar el incidente.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743A4384-1D90-43D6-9703-6869BF860236}"/>
              </a:ext>
            </a:extLst>
          </p:cNvPr>
          <p:cNvSpPr>
            <a:spLocks noGrp="1"/>
          </p:cNvSpPr>
          <p:nvPr/>
        </p:nvSpPr>
        <p:spPr>
          <a:xfrm>
            <a:off x="809625" y="4810125"/>
            <a:ext cx="228600" cy="22860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txBody>
          <a:bodyPr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rPr lang="es-ES_tradnl" sz="600" b="1" noProof="0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19C1E47-211E-4886-B07D-B78CE22B35E1}"/>
              </a:ext>
            </a:extLst>
          </p:cNvPr>
          <p:cNvSpPr>
            <a:spLocks noGrp="1"/>
          </p:cNvSpPr>
          <p:nvPr/>
        </p:nvSpPr>
        <p:spPr>
          <a:xfrm>
            <a:off x="1152525" y="4800600"/>
            <a:ext cx="65151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275" b="0">
                <a:solidFill>
                  <a:srgbClr val="0F172A"/>
                </a:solidFill>
              </a:defRPr>
            </a:pPr>
            <a:r>
              <a:rPr lang="es-ES_tradnl" sz="1275" b="0" noProof="0" dirty="0">
                <a:solidFill>
                  <a:srgbClr val="0F172A"/>
                </a:solidFill>
              </a:rPr>
              <a:t>Dificultad para priorizar gravedad.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7C849408-1B4D-42DA-B4B1-47C721E8E417}"/>
              </a:ext>
            </a:extLst>
          </p:cNvPr>
          <p:cNvSpPr>
            <a:spLocks noGrp="1"/>
          </p:cNvSpPr>
          <p:nvPr/>
        </p:nvSpPr>
        <p:spPr>
          <a:xfrm>
            <a:off x="809625" y="5133975"/>
            <a:ext cx="228600" cy="22860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txBody>
          <a:bodyPr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rPr lang="es-ES_tradnl" sz="600" b="1" noProof="0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18A5923-F91B-4A00-8C67-415CA6D25DEB}"/>
              </a:ext>
            </a:extLst>
          </p:cNvPr>
          <p:cNvSpPr>
            <a:spLocks noGrp="1"/>
          </p:cNvSpPr>
          <p:nvPr/>
        </p:nvSpPr>
        <p:spPr>
          <a:xfrm>
            <a:off x="1152525" y="5124450"/>
            <a:ext cx="65151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275" b="0">
                <a:solidFill>
                  <a:srgbClr val="0F172A"/>
                </a:solidFill>
              </a:defRPr>
            </a:pPr>
            <a:r>
              <a:rPr lang="es-ES_tradnl" sz="1275" b="0" noProof="0" dirty="0">
                <a:solidFill>
                  <a:srgbClr val="0F172A"/>
                </a:solidFill>
              </a:rPr>
              <a:t>Seguimiento manual del estado.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095FA102-BD35-4633-AF18-6B7646079D27}"/>
              </a:ext>
            </a:extLst>
          </p:cNvPr>
          <p:cNvSpPr>
            <a:spLocks noGrp="1"/>
          </p:cNvSpPr>
          <p:nvPr/>
        </p:nvSpPr>
        <p:spPr>
          <a:xfrm>
            <a:off x="809625" y="5457825"/>
            <a:ext cx="228600" cy="22860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txBody>
          <a:bodyPr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rPr lang="es-ES_tradnl" sz="600" b="1" noProof="0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3480810E-B788-4277-AB9C-D3F9A319FF1E}"/>
              </a:ext>
            </a:extLst>
          </p:cNvPr>
          <p:cNvSpPr>
            <a:spLocks noGrp="1"/>
          </p:cNvSpPr>
          <p:nvPr/>
        </p:nvSpPr>
        <p:spPr>
          <a:xfrm>
            <a:off x="1152525" y="5448300"/>
            <a:ext cx="65151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275" b="0">
                <a:solidFill>
                  <a:srgbClr val="0F172A"/>
                </a:solidFill>
              </a:defRPr>
            </a:pPr>
            <a:r>
              <a:rPr lang="es-ES_tradnl" sz="1275" b="0" noProof="0" dirty="0">
                <a:solidFill>
                  <a:srgbClr val="0F172A"/>
                </a:solidFill>
              </a:rPr>
              <a:t>Comunicación poco trazable entre ciudadano y operador.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C6B5A098-12AB-4D19-A638-8E3590EFE52B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lang="es-ES_tradnl" sz="750" b="1" noProof="0" dirty="0">
                <a:solidFill>
                  <a:srgbClr val="64748B"/>
                </a:solidFill>
              </a:rPr>
              <a:t>EMERGENCIAS TECH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14EEF14C-7835-49EB-84A9-CBFC14B36D29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lang="es-ES_tradnl" sz="900" b="1" noProof="0" dirty="0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10389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B32F4D96-E5C1-4893-A539-8CDA516BD2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853D76F-1B61-41C3-B7BA-43275B772B55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0" b="1">
                <a:solidFill>
                  <a:srgbClr val="2563EB"/>
                </a:solidFill>
              </a:defRPr>
            </a:pPr>
            <a:r>
              <a:rPr lang="es-ES_tradnl" sz="900" b="1" noProof="0" dirty="0">
                <a:solidFill>
                  <a:srgbClr val="2563EB"/>
                </a:solidFill>
              </a:rPr>
              <a:t>OBJETIVO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DF41377-4135-43BB-9747-19EB4927CC5F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88582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lang="es-ES_tradnl" sz="2250" b="1" noProof="0" dirty="0">
                <a:solidFill>
                  <a:srgbClr val="0F172A"/>
                </a:solidFill>
              </a:rPr>
              <a:t>Una solución digital para coordinar atención de emergencias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0C593EA-952D-4635-AD56-6FB0A51BFFD4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El sistema transforma reportes ciudadanos en casos operativos con asignación, seguimiento y comunicación en tiempo real.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2922A54-72F2-47D1-BBA9-D4FEDBCE39C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lang="es-ES_tradnl" sz="750" b="1" noProof="0" dirty="0">
                <a:solidFill>
                  <a:srgbClr val="64748B"/>
                </a:solidFill>
              </a:rPr>
              <a:t>EMERGENCIAS TECH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101B9E3-4255-4679-B140-16A37D6BDC15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lang="es-ES_tradnl" sz="900" b="1" noProof="0" dirty="0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11D44E4F-818A-4F38-924A-79A25427C1C9}"/>
              </a:ext>
            </a:extLst>
          </p:cNvPr>
          <p:cNvSpPr>
            <a:spLocks noGrp="1"/>
          </p:cNvSpPr>
          <p:nvPr/>
        </p:nvSpPr>
        <p:spPr>
          <a:xfrm>
            <a:off x="704850" y="1581150"/>
            <a:ext cx="4838700" cy="3048000"/>
          </a:xfrm>
          <a:prstGeom prst="roundRect">
            <a:avLst>
              <a:gd name="adj" fmla="val 4375"/>
            </a:avLst>
          </a:prstGeom>
          <a:solidFill>
            <a:srgbClr val="0B2345"/>
          </a:solidFill>
          <a:ln w="9525">
            <a:solidFill>
              <a:srgbClr val="0B234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5AF380D-387C-4C95-A149-E28683F18E81}"/>
              </a:ext>
            </a:extLst>
          </p:cNvPr>
          <p:cNvSpPr>
            <a:spLocks noGrp="1"/>
          </p:cNvSpPr>
          <p:nvPr/>
        </p:nvSpPr>
        <p:spPr>
          <a:xfrm>
            <a:off x="1028700" y="1885950"/>
            <a:ext cx="39052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950" b="1">
                <a:solidFill>
                  <a:srgbClr val="FFFFFF"/>
                </a:solidFill>
              </a:defRPr>
            </a:pPr>
            <a:r>
              <a:rPr lang="es-ES_tradnl" sz="1950" b="1" noProof="0" dirty="0">
                <a:solidFill>
                  <a:srgbClr val="FFFFFF"/>
                </a:solidFill>
              </a:rPr>
              <a:t>Objetivo general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FE9B564-CE6A-4B6B-A165-82301B36EC8C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3857625" cy="1162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650" b="0">
                <a:solidFill>
                  <a:srgbClr val="E8F2FF"/>
                </a:solidFill>
              </a:defRPr>
            </a:pPr>
            <a:r>
              <a:rPr lang="es-ES_tradnl" sz="1650" b="0" noProof="0" dirty="0">
                <a:solidFill>
                  <a:srgbClr val="E8F2FF"/>
                </a:solidFill>
              </a:rPr>
              <a:t>Desarrollar una aplicación distribuida que permita registrar emergencias, asignar unidades cercanas, notificar eventos críticos y acompañar el caso hasta su resolución.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C397265-F637-4CE0-89E0-EFE5D5C9912E}"/>
              </a:ext>
            </a:extLst>
          </p:cNvPr>
          <p:cNvSpPr>
            <a:spLocks noGrp="1"/>
          </p:cNvSpPr>
          <p:nvPr/>
        </p:nvSpPr>
        <p:spPr>
          <a:xfrm>
            <a:off x="1028700" y="3848100"/>
            <a:ext cx="3619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275" b="1">
                <a:solidFill>
                  <a:srgbClr val="38BDF8"/>
                </a:solidFill>
              </a:defRPr>
            </a:pPr>
            <a:r>
              <a:rPr lang="es-ES_tradnl" sz="1275" b="1" noProof="0" dirty="0">
                <a:solidFill>
                  <a:srgbClr val="38BDF8"/>
                </a:solidFill>
              </a:rPr>
              <a:t>Enfoque: rapidez, trazabilidad y coordinación operativa.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C1032937-5FF3-4851-9087-3BAFADF238C4}"/>
              </a:ext>
            </a:extLst>
          </p:cNvPr>
          <p:cNvSpPr>
            <a:spLocks noGrp="1"/>
          </p:cNvSpPr>
          <p:nvPr/>
        </p:nvSpPr>
        <p:spPr>
          <a:xfrm>
            <a:off x="5962650" y="1581150"/>
            <a:ext cx="2381250" cy="87630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0A38308-6106-47B2-A568-E527135B3059}"/>
              </a:ext>
            </a:extLst>
          </p:cNvPr>
          <p:cNvSpPr>
            <a:spLocks noGrp="1"/>
          </p:cNvSpPr>
          <p:nvPr/>
        </p:nvSpPr>
        <p:spPr>
          <a:xfrm>
            <a:off x="6172200" y="1733550"/>
            <a:ext cx="1809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1">
                <a:solidFill>
                  <a:srgbClr val="0EA5E9"/>
                </a:solidFill>
              </a:defRPr>
            </a:pPr>
            <a:r>
              <a:rPr lang="es-ES_tradnl" sz="1500" b="1" noProof="0" dirty="0">
                <a:solidFill>
                  <a:srgbClr val="0EA5E9"/>
                </a:solidFill>
              </a:rPr>
              <a:t>Capturar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1FC86E5-E71F-43DA-BCAB-89FFF1FEE790}"/>
              </a:ext>
            </a:extLst>
          </p:cNvPr>
          <p:cNvSpPr>
            <a:spLocks noGrp="1"/>
          </p:cNvSpPr>
          <p:nvPr/>
        </p:nvSpPr>
        <p:spPr>
          <a:xfrm>
            <a:off x="6172200" y="2028825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tipo, descripción, evidencia y ubicación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4F6ADE29-362C-47DC-B66D-0936604EFC49}"/>
              </a:ext>
            </a:extLst>
          </p:cNvPr>
          <p:cNvSpPr>
            <a:spLocks noGrp="1"/>
          </p:cNvSpPr>
          <p:nvPr/>
        </p:nvSpPr>
        <p:spPr>
          <a:xfrm>
            <a:off x="8582025" y="1581150"/>
            <a:ext cx="2381250" cy="87630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00BA0C4-B242-44EB-8599-2C70677B7155}"/>
              </a:ext>
            </a:extLst>
          </p:cNvPr>
          <p:cNvSpPr>
            <a:spLocks noGrp="1"/>
          </p:cNvSpPr>
          <p:nvPr/>
        </p:nvSpPr>
        <p:spPr>
          <a:xfrm>
            <a:off x="8791575" y="1733550"/>
            <a:ext cx="1809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lang="es-ES_tradnl" sz="1500" b="1" noProof="0" dirty="0">
                <a:solidFill>
                  <a:srgbClr val="2563EB"/>
                </a:solidFill>
              </a:rPr>
              <a:t>Asignar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E4B08EB-E29D-47A8-9C90-9F2828840288}"/>
              </a:ext>
            </a:extLst>
          </p:cNvPr>
          <p:cNvSpPr>
            <a:spLocks noGrp="1"/>
          </p:cNvSpPr>
          <p:nvPr/>
        </p:nvSpPr>
        <p:spPr>
          <a:xfrm>
            <a:off x="8791575" y="2028825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unidad según tipo y cercanía geográfica</a:t>
            </a:r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68E826A8-ADED-4932-AD65-6046F2E377EE}"/>
              </a:ext>
            </a:extLst>
          </p:cNvPr>
          <p:cNvSpPr>
            <a:spLocks noGrp="1"/>
          </p:cNvSpPr>
          <p:nvPr/>
        </p:nvSpPr>
        <p:spPr>
          <a:xfrm>
            <a:off x="5962650" y="2705100"/>
            <a:ext cx="2381250" cy="87630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C6688B6-2DA0-4503-B6B7-C76EC35B9981}"/>
              </a:ext>
            </a:extLst>
          </p:cNvPr>
          <p:cNvSpPr>
            <a:spLocks noGrp="1"/>
          </p:cNvSpPr>
          <p:nvPr/>
        </p:nvSpPr>
        <p:spPr>
          <a:xfrm>
            <a:off x="6172200" y="2857500"/>
            <a:ext cx="1809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1">
                <a:solidFill>
                  <a:srgbClr val="0EA5E9"/>
                </a:solidFill>
              </a:defRPr>
            </a:pPr>
            <a:r>
              <a:rPr lang="es-ES_tradnl" sz="1500" b="1" noProof="0" dirty="0">
                <a:solidFill>
                  <a:srgbClr val="0EA5E9"/>
                </a:solidFill>
              </a:rPr>
              <a:t>Notificar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339E024-DB15-47D8-BD3A-F9659F46819A}"/>
              </a:ext>
            </a:extLst>
          </p:cNvPr>
          <p:cNvSpPr>
            <a:spLocks noGrp="1"/>
          </p:cNvSpPr>
          <p:nvPr/>
        </p:nvSpPr>
        <p:spPr>
          <a:xfrm>
            <a:off x="6172200" y="3152775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cambios con </a:t>
            </a:r>
            <a:r>
              <a:rPr lang="es-ES_tradnl" sz="1088" b="0" noProof="0" dirty="0" err="1">
                <a:solidFill>
                  <a:srgbClr val="64748B"/>
                </a:solidFill>
              </a:rPr>
              <a:t>Socket.IO</a:t>
            </a:r>
            <a:r>
              <a:rPr lang="es-ES_tradnl" sz="1088" b="0" noProof="0" dirty="0">
                <a:solidFill>
                  <a:srgbClr val="64748B"/>
                </a:solidFill>
              </a:rPr>
              <a:t> en tiempo real</a:t>
            </a:r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D64FA5CB-C45A-447E-BEBF-29E264E6C7DE}"/>
              </a:ext>
            </a:extLst>
          </p:cNvPr>
          <p:cNvSpPr>
            <a:spLocks noGrp="1"/>
          </p:cNvSpPr>
          <p:nvPr/>
        </p:nvSpPr>
        <p:spPr>
          <a:xfrm>
            <a:off x="8582025" y="2705100"/>
            <a:ext cx="2381250" cy="87630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08FAE4B-625E-4ECB-9567-333316E3E0A6}"/>
              </a:ext>
            </a:extLst>
          </p:cNvPr>
          <p:cNvSpPr>
            <a:spLocks noGrp="1"/>
          </p:cNvSpPr>
          <p:nvPr/>
        </p:nvSpPr>
        <p:spPr>
          <a:xfrm>
            <a:off x="8791575" y="2857500"/>
            <a:ext cx="1809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lang="es-ES_tradnl" sz="1500" b="1" noProof="0" dirty="0">
                <a:solidFill>
                  <a:srgbClr val="2563EB"/>
                </a:solidFill>
              </a:rPr>
              <a:t>Comunicar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C5FDA78-03C0-464E-BEF1-216EBE498E30}"/>
              </a:ext>
            </a:extLst>
          </p:cNvPr>
          <p:cNvSpPr>
            <a:spLocks noGrp="1"/>
          </p:cNvSpPr>
          <p:nvPr/>
        </p:nvSpPr>
        <p:spPr>
          <a:xfrm>
            <a:off x="8791575" y="3152775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chat y videollamada por emergencia</a:t>
            </a:r>
          </a:p>
        </p:txBody>
      </p:sp>
      <p:sp>
        <p:nvSpPr>
          <p:cNvPr id="23" name="Rectángulo redondeado 22">
            <a:extLst>
              <a:ext uri="{FF2B5EF4-FFF2-40B4-BE49-F238E27FC236}">
                <a16:creationId xmlns:a16="http://schemas.microsoft.com/office/drawing/2014/main" id="{1AA7BFE9-DE33-4A77-873A-4845455029A1}"/>
              </a:ext>
            </a:extLst>
          </p:cNvPr>
          <p:cNvSpPr>
            <a:spLocks noGrp="1"/>
          </p:cNvSpPr>
          <p:nvPr/>
        </p:nvSpPr>
        <p:spPr>
          <a:xfrm>
            <a:off x="5962650" y="3829050"/>
            <a:ext cx="2381250" cy="87630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FE11BDF-7F30-4641-9FD5-E8A2A658253F}"/>
              </a:ext>
            </a:extLst>
          </p:cNvPr>
          <p:cNvSpPr>
            <a:spLocks noGrp="1"/>
          </p:cNvSpPr>
          <p:nvPr/>
        </p:nvSpPr>
        <p:spPr>
          <a:xfrm>
            <a:off x="6172200" y="3981450"/>
            <a:ext cx="1809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1">
                <a:solidFill>
                  <a:srgbClr val="0EA5E9"/>
                </a:solidFill>
              </a:defRPr>
            </a:pPr>
            <a:r>
              <a:rPr lang="es-ES_tradnl" sz="1500" b="1" noProof="0" dirty="0">
                <a:solidFill>
                  <a:srgbClr val="0EA5E9"/>
                </a:solidFill>
              </a:rPr>
              <a:t>Monitorear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3A4B5E0-34D5-479A-A5DC-6715EC081448}"/>
              </a:ext>
            </a:extLst>
          </p:cNvPr>
          <p:cNvSpPr>
            <a:spLocks noGrp="1"/>
          </p:cNvSpPr>
          <p:nvPr/>
        </p:nvSpPr>
        <p:spPr>
          <a:xfrm>
            <a:off x="6172200" y="4276725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mapas, estados, KPI y analítica</a:t>
            </a: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FA853752-7A99-402A-BB60-64EFE04AB2A1}"/>
              </a:ext>
            </a:extLst>
          </p:cNvPr>
          <p:cNvSpPr>
            <a:spLocks noGrp="1"/>
          </p:cNvSpPr>
          <p:nvPr/>
        </p:nvSpPr>
        <p:spPr>
          <a:xfrm>
            <a:off x="8582025" y="3829050"/>
            <a:ext cx="2381250" cy="87630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620257B-AA9E-434E-8D9A-29EC5B970CB9}"/>
              </a:ext>
            </a:extLst>
          </p:cNvPr>
          <p:cNvSpPr>
            <a:spLocks noGrp="1"/>
          </p:cNvSpPr>
          <p:nvPr/>
        </p:nvSpPr>
        <p:spPr>
          <a:xfrm>
            <a:off x="8791575" y="3981450"/>
            <a:ext cx="1809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lang="es-ES_tradnl" sz="1500" b="1" noProof="0" dirty="0">
                <a:solidFill>
                  <a:srgbClr val="2563EB"/>
                </a:solidFill>
              </a:rPr>
              <a:t>Escalar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5645379-4051-4257-BDDD-F54AB0A8F73D}"/>
              </a:ext>
            </a:extLst>
          </p:cNvPr>
          <p:cNvSpPr>
            <a:spLocks noGrp="1"/>
          </p:cNvSpPr>
          <p:nvPr/>
        </p:nvSpPr>
        <p:spPr>
          <a:xfrm>
            <a:off x="8791575" y="4276725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base para IA predictiva futura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CF2AEE6-4E2D-495D-8037-15FE67E64619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lang="es-ES_tradnl" sz="750" b="1" noProof="0" dirty="0">
                <a:solidFill>
                  <a:srgbClr val="64748B"/>
                </a:solidFill>
              </a:rPr>
              <a:t>EMERGENCIAS TECH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EE01AF09-6BE6-4735-8354-D9C717AA86A0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lang="es-ES_tradnl" sz="900" b="1" noProof="0" dirty="0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858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>
            <a:extLst>
              <a:ext uri="{FF2B5EF4-FFF2-40B4-BE49-F238E27FC236}">
                <a16:creationId xmlns:a16="http://schemas.microsoft.com/office/drawing/2014/main" id="{08260526-F99B-4FD5-8719-9DA9602E7E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F48CA7C1-34A1-4835-811C-8AF434E78BC8}"/>
              </a:ext>
            </a:extLst>
          </p:cNvPr>
          <p:cNvSpPr>
            <a:spLocks noGrp="1"/>
          </p:cNvSpPr>
          <p:nvPr/>
        </p:nvSpPr>
        <p:spPr>
          <a:xfrm>
            <a:off x="7810500" y="342900"/>
            <a:ext cx="47625" cy="47625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343A9BB5-2870-4198-B383-6E151030CC02}"/>
              </a:ext>
            </a:extLst>
          </p:cNvPr>
          <p:cNvSpPr>
            <a:spLocks noGrp="1"/>
          </p:cNvSpPr>
          <p:nvPr/>
        </p:nvSpPr>
        <p:spPr>
          <a:xfrm>
            <a:off x="8134350" y="8763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3F959BC2-D79F-4C1B-9497-1477ADD85F51}"/>
              </a:ext>
            </a:extLst>
          </p:cNvPr>
          <p:cNvSpPr>
            <a:spLocks noGrp="1"/>
          </p:cNvSpPr>
          <p:nvPr/>
        </p:nvSpPr>
        <p:spPr>
          <a:xfrm>
            <a:off x="8458200" y="14097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E092314D-9E30-4DE7-AE0C-DA29102D3506}"/>
              </a:ext>
            </a:extLst>
          </p:cNvPr>
          <p:cNvSpPr>
            <a:spLocks noGrp="1"/>
          </p:cNvSpPr>
          <p:nvPr/>
        </p:nvSpPr>
        <p:spPr>
          <a:xfrm>
            <a:off x="8701617" y="3094567"/>
            <a:ext cx="47625" cy="47625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E16C2747-0414-4227-BE3E-477FE4BE2A1E}"/>
              </a:ext>
            </a:extLst>
          </p:cNvPr>
          <p:cNvSpPr>
            <a:spLocks noGrp="1"/>
          </p:cNvSpPr>
          <p:nvPr/>
        </p:nvSpPr>
        <p:spPr>
          <a:xfrm>
            <a:off x="9025467" y="3627967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DC924025-6913-47AD-907A-8CEE5E262612}"/>
              </a:ext>
            </a:extLst>
          </p:cNvPr>
          <p:cNvSpPr>
            <a:spLocks noGrp="1"/>
          </p:cNvSpPr>
          <p:nvPr/>
        </p:nvSpPr>
        <p:spPr>
          <a:xfrm>
            <a:off x="9429750" y="3429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5DD8F82A-5D4F-4A5E-A465-7FAD381D679D}"/>
              </a:ext>
            </a:extLst>
          </p:cNvPr>
          <p:cNvSpPr>
            <a:spLocks noGrp="1"/>
          </p:cNvSpPr>
          <p:nvPr/>
        </p:nvSpPr>
        <p:spPr>
          <a:xfrm>
            <a:off x="9753600" y="876300"/>
            <a:ext cx="47625" cy="47625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91D899C7-30A5-4305-8387-9C6C12E24B02}"/>
              </a:ext>
            </a:extLst>
          </p:cNvPr>
          <p:cNvSpPr>
            <a:spLocks noGrp="1"/>
          </p:cNvSpPr>
          <p:nvPr/>
        </p:nvSpPr>
        <p:spPr>
          <a:xfrm>
            <a:off x="10077450" y="14097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1DCB8E3-130D-4EF6-925E-F0FA67E2F227}"/>
              </a:ext>
            </a:extLst>
          </p:cNvPr>
          <p:cNvSpPr>
            <a:spLocks noGrp="1"/>
          </p:cNvSpPr>
          <p:nvPr/>
        </p:nvSpPr>
        <p:spPr>
          <a:xfrm>
            <a:off x="10320867" y="3094567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20C80776-0973-43C9-A428-FAC68A652002}"/>
              </a:ext>
            </a:extLst>
          </p:cNvPr>
          <p:cNvSpPr>
            <a:spLocks noGrp="1"/>
          </p:cNvSpPr>
          <p:nvPr/>
        </p:nvSpPr>
        <p:spPr>
          <a:xfrm>
            <a:off x="10644717" y="3627967"/>
            <a:ext cx="47625" cy="47625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AC5AACD-EB10-41C6-BED5-9B6A77BE59E1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0" b="1">
                <a:solidFill>
                  <a:srgbClr val="38BDF8"/>
                </a:solidFill>
              </a:defRPr>
            </a:pPr>
            <a:r>
              <a:rPr lang="es-ES_tradnl" sz="900" b="1" noProof="0" dirty="0">
                <a:solidFill>
                  <a:srgbClr val="38BDF8"/>
                </a:solidFill>
              </a:rPr>
              <a:t>ARQUITECTURA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C54E501-25FF-4E6B-A196-718E3DC7605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88582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lang="es-ES_tradnl" sz="2250" b="1" noProof="0" dirty="0">
                <a:solidFill>
                  <a:srgbClr val="FFFFFF"/>
                </a:solidFill>
              </a:rPr>
              <a:t>Sistema distribuido con REST, eventos y servicios externos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0FC03C6-B9A8-4609-AECD-E33BE0951EC3}"/>
              </a:ext>
            </a:extLst>
          </p:cNvPr>
          <p:cNvSpPr>
            <a:spLocks noGrp="1"/>
          </p:cNvSpPr>
          <p:nvPr/>
        </p:nvSpPr>
        <p:spPr>
          <a:xfrm>
            <a:off x="609600" y="1200149"/>
            <a:ext cx="10287000" cy="866771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C7D2FE"/>
                </a:solidFill>
              </a:defRPr>
            </a:pPr>
            <a:r>
              <a:rPr lang="es-ES_tradnl" sz="1088" b="0" noProof="0" dirty="0">
                <a:solidFill>
                  <a:srgbClr val="C7D2FE"/>
                </a:solidFill>
              </a:rPr>
              <a:t>REST resuelve operaciones de negocio</a:t>
            </a:r>
          </a:p>
          <a:p>
            <a:pPr algn="l">
              <a:defRPr sz="1088" b="0">
                <a:solidFill>
                  <a:srgbClr val="C7D2FE"/>
                </a:solidFill>
              </a:defRPr>
            </a:pPr>
            <a:r>
              <a:rPr lang="es-ES_tradnl" sz="1088" b="0" noProof="0" dirty="0" err="1">
                <a:solidFill>
                  <a:srgbClr val="C7D2FE"/>
                </a:solidFill>
              </a:rPr>
              <a:t>Socket.IO</a:t>
            </a:r>
            <a:r>
              <a:rPr lang="es-ES_tradnl" sz="1088" b="0" noProof="0" dirty="0">
                <a:solidFill>
                  <a:srgbClr val="C7D2FE"/>
                </a:solidFill>
              </a:rPr>
              <a:t> sincroniza eventos</a:t>
            </a:r>
          </a:p>
          <a:p>
            <a:pPr algn="l">
              <a:defRPr sz="1088" b="0">
                <a:solidFill>
                  <a:srgbClr val="C7D2FE"/>
                </a:solidFill>
              </a:defRPr>
            </a:pPr>
            <a:r>
              <a:rPr lang="es-ES_tradnl" sz="1088" b="0" noProof="0" dirty="0" err="1">
                <a:solidFill>
                  <a:srgbClr val="C7D2FE"/>
                </a:solidFill>
              </a:rPr>
              <a:t>WebRTC</a:t>
            </a:r>
            <a:r>
              <a:rPr lang="es-ES_tradnl" sz="1088" b="0" noProof="0" dirty="0">
                <a:solidFill>
                  <a:srgbClr val="C7D2FE"/>
                </a:solidFill>
              </a:rPr>
              <a:t> transmite audio/video</a:t>
            </a:r>
          </a:p>
          <a:p>
            <a:pPr algn="l">
              <a:defRPr sz="1088" b="0">
                <a:solidFill>
                  <a:srgbClr val="C7D2FE"/>
                </a:solidFill>
              </a:defRPr>
            </a:pPr>
            <a:r>
              <a:rPr lang="es-ES_tradnl" sz="1088" dirty="0">
                <a:solidFill>
                  <a:srgbClr val="C7D2FE"/>
                </a:solidFill>
              </a:rPr>
              <a:t>Mapas externos</a:t>
            </a:r>
            <a:r>
              <a:rPr lang="es-ES_tradnl" sz="1088" b="0" noProof="0" dirty="0">
                <a:solidFill>
                  <a:srgbClr val="C7D2FE"/>
                </a:solidFill>
              </a:rPr>
              <a:t> enriquecen ubicación y rutas.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05B5E0B-12FA-47CA-9BC9-6F3742EEE6F0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B6C7E6"/>
                </a:solidFill>
              </a:defRPr>
            </a:pPr>
            <a:r>
              <a:rPr lang="es-ES_tradnl" sz="750" b="1" noProof="0" dirty="0">
                <a:solidFill>
                  <a:srgbClr val="B6C7E6"/>
                </a:solidFill>
              </a:rPr>
              <a:t>EMERGENCIAS TECH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F306C08-5AB8-4169-B76D-3EC889C21EBE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B6C7E6"/>
                </a:solidFill>
              </a:defRPr>
            </a:pPr>
            <a:r>
              <a:rPr lang="es-ES_tradnl" sz="900" b="1" noProof="0" dirty="0">
                <a:solidFill>
                  <a:srgbClr val="B6C7E6"/>
                </a:solidFill>
              </a:rPr>
              <a:t>04</a:t>
            </a:r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009F5F6A-ECC2-4956-AD1C-9684F6B816F3}"/>
              </a:ext>
            </a:extLst>
          </p:cNvPr>
          <p:cNvSpPr>
            <a:spLocks noGrp="1"/>
          </p:cNvSpPr>
          <p:nvPr/>
        </p:nvSpPr>
        <p:spPr>
          <a:xfrm>
            <a:off x="586317" y="3342217"/>
            <a:ext cx="1619250" cy="1009650"/>
          </a:xfrm>
          <a:prstGeom prst="roundRect">
            <a:avLst>
              <a:gd name="adj" fmla="val 13043"/>
            </a:avLst>
          </a:prstGeom>
          <a:solidFill>
            <a:srgbClr val="0F2D54"/>
          </a:solidFill>
          <a:ln w="9525">
            <a:solidFill>
              <a:srgbClr val="38BDF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A2DAD0A-A5E6-4260-88E4-1B6F12A8C0E3}"/>
              </a:ext>
            </a:extLst>
          </p:cNvPr>
          <p:cNvSpPr>
            <a:spLocks noGrp="1"/>
          </p:cNvSpPr>
          <p:nvPr/>
        </p:nvSpPr>
        <p:spPr>
          <a:xfrm>
            <a:off x="872067" y="3513667"/>
            <a:ext cx="1047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lang="es-ES_tradnl" sz="1500" b="1" noProof="0" dirty="0">
                <a:solidFill>
                  <a:srgbClr val="FFFFFF"/>
                </a:solidFill>
              </a:rPr>
              <a:t>Usuarios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0B2A3AB-5152-4D8A-9450-7CF367FA1353}"/>
              </a:ext>
            </a:extLst>
          </p:cNvPr>
          <p:cNvSpPr>
            <a:spLocks noGrp="1"/>
          </p:cNvSpPr>
          <p:nvPr/>
        </p:nvSpPr>
        <p:spPr>
          <a:xfrm>
            <a:off x="872067" y="3799417"/>
            <a:ext cx="104775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975" b="0">
                <a:solidFill>
                  <a:srgbClr val="C7D2FE"/>
                </a:solidFill>
              </a:defRPr>
            </a:pPr>
            <a:r>
              <a:rPr lang="es-ES_tradnl" sz="975" b="0" noProof="0" dirty="0">
                <a:solidFill>
                  <a:srgbClr val="C7D2FE"/>
                </a:solidFill>
              </a:rPr>
              <a:t>Ciudadano</a:t>
            </a:r>
          </a:p>
          <a:p>
            <a:pPr algn="ctr">
              <a:defRPr sz="975" b="0">
                <a:solidFill>
                  <a:srgbClr val="C7D2FE"/>
                </a:solidFill>
              </a:defRPr>
            </a:pPr>
            <a:r>
              <a:rPr lang="es-ES_tradnl" sz="975" b="0" noProof="0" dirty="0">
                <a:solidFill>
                  <a:srgbClr val="C7D2FE"/>
                </a:solidFill>
              </a:rPr>
              <a:t>Operador</a:t>
            </a:r>
          </a:p>
          <a:p>
            <a:pPr algn="ctr">
              <a:defRPr sz="975" b="0">
                <a:solidFill>
                  <a:srgbClr val="C7D2FE"/>
                </a:solidFill>
              </a:defRPr>
            </a:pPr>
            <a:r>
              <a:rPr lang="es-ES_tradnl" sz="975" b="0" noProof="0" dirty="0">
                <a:solidFill>
                  <a:srgbClr val="C7D2FE"/>
                </a:solidFill>
              </a:rPr>
              <a:t>Unidad</a:t>
            </a:r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F4C94252-E25C-472D-B043-341D4ECECB52}"/>
              </a:ext>
            </a:extLst>
          </p:cNvPr>
          <p:cNvSpPr>
            <a:spLocks noGrp="1"/>
          </p:cNvSpPr>
          <p:nvPr/>
        </p:nvSpPr>
        <p:spPr>
          <a:xfrm>
            <a:off x="2824692" y="3094567"/>
            <a:ext cx="2000250" cy="1371600"/>
          </a:xfrm>
          <a:prstGeom prst="roundRect">
            <a:avLst>
              <a:gd name="adj" fmla="val 8333"/>
            </a:avLst>
          </a:prstGeom>
          <a:solidFill>
            <a:srgbClr val="0F2D54"/>
          </a:solidFill>
          <a:ln w="9525">
            <a:solidFill>
              <a:srgbClr val="38BDF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2FE02EC-ED4D-4C06-AE49-5FDD1AC8B414}"/>
              </a:ext>
            </a:extLst>
          </p:cNvPr>
          <p:cNvSpPr>
            <a:spLocks noGrp="1"/>
          </p:cNvSpPr>
          <p:nvPr/>
        </p:nvSpPr>
        <p:spPr>
          <a:xfrm>
            <a:off x="3253317" y="3323167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lang="es-ES_tradnl" sz="1650" b="1" noProof="0" dirty="0" err="1">
                <a:solidFill>
                  <a:srgbClr val="FFFFFF"/>
                </a:solidFill>
              </a:rPr>
              <a:t>Frontend</a:t>
            </a:r>
            <a:endParaRPr lang="es-ES_tradnl" sz="1650" b="1" noProof="0" dirty="0">
              <a:solidFill>
                <a:srgbClr val="FFFFFF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68752F1-8BB2-4337-B21D-28CDEB4F4798}"/>
              </a:ext>
            </a:extLst>
          </p:cNvPr>
          <p:cNvSpPr>
            <a:spLocks noGrp="1"/>
          </p:cNvSpPr>
          <p:nvPr/>
        </p:nvSpPr>
        <p:spPr>
          <a:xfrm>
            <a:off x="3177117" y="3723217"/>
            <a:ext cx="13335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050" b="0">
                <a:solidFill>
                  <a:srgbClr val="D7E5FF"/>
                </a:solidFill>
              </a:defRPr>
            </a:pPr>
            <a:r>
              <a:rPr lang="es-ES_tradnl" sz="1050" b="0" noProof="0" dirty="0" err="1">
                <a:solidFill>
                  <a:srgbClr val="D7E5FF"/>
                </a:solidFill>
              </a:rPr>
              <a:t>React</a:t>
            </a:r>
            <a:r>
              <a:rPr lang="es-ES_tradnl" sz="1050" b="0" noProof="0" dirty="0">
                <a:solidFill>
                  <a:srgbClr val="D7E5FF"/>
                </a:solidFill>
              </a:rPr>
              <a:t> + Vite</a:t>
            </a:r>
          </a:p>
          <a:p>
            <a:pPr algn="ctr">
              <a:defRPr sz="1050" b="0">
                <a:solidFill>
                  <a:srgbClr val="D7E5FF"/>
                </a:solidFill>
              </a:defRPr>
            </a:pPr>
            <a:r>
              <a:rPr lang="es-ES_tradnl" sz="1050" b="0" noProof="0" dirty="0">
                <a:solidFill>
                  <a:srgbClr val="D7E5FF"/>
                </a:solidFill>
              </a:rPr>
              <a:t>Rutas protegidas</a:t>
            </a:r>
          </a:p>
          <a:p>
            <a:pPr algn="ctr">
              <a:defRPr sz="1050" b="0">
                <a:solidFill>
                  <a:srgbClr val="D7E5FF"/>
                </a:solidFill>
              </a:defRPr>
            </a:pPr>
            <a:r>
              <a:rPr lang="es-ES_tradnl" sz="1050" b="0" noProof="0" dirty="0">
                <a:solidFill>
                  <a:srgbClr val="D7E5FF"/>
                </a:solidFill>
              </a:rPr>
              <a:t>Mapas + chat</a:t>
            </a:r>
          </a:p>
        </p:txBody>
      </p:sp>
      <p:sp>
        <p:nvSpPr>
          <p:cNvPr id="23" name="Rectángulo redondeado 22">
            <a:extLst>
              <a:ext uri="{FF2B5EF4-FFF2-40B4-BE49-F238E27FC236}">
                <a16:creationId xmlns:a16="http://schemas.microsoft.com/office/drawing/2014/main" id="{234DB98F-56B2-4E5B-973A-ED77B3263472}"/>
              </a:ext>
            </a:extLst>
          </p:cNvPr>
          <p:cNvSpPr>
            <a:spLocks noGrp="1"/>
          </p:cNvSpPr>
          <p:nvPr/>
        </p:nvSpPr>
        <p:spPr>
          <a:xfrm>
            <a:off x="5491692" y="3094567"/>
            <a:ext cx="2095500" cy="1371600"/>
          </a:xfrm>
          <a:prstGeom prst="roundRect">
            <a:avLst>
              <a:gd name="adj" fmla="val 8333"/>
            </a:avLst>
          </a:prstGeom>
          <a:solidFill>
            <a:srgbClr val="0F2D54"/>
          </a:solidFill>
          <a:ln w="9525">
            <a:solidFill>
              <a:srgbClr val="38BDF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E95AA8B-8093-4CFE-A3C2-CF28C0486A6B}"/>
              </a:ext>
            </a:extLst>
          </p:cNvPr>
          <p:cNvSpPr>
            <a:spLocks noGrp="1"/>
          </p:cNvSpPr>
          <p:nvPr/>
        </p:nvSpPr>
        <p:spPr>
          <a:xfrm>
            <a:off x="5967942" y="3323167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lang="es-ES_tradnl" sz="1650" b="1" noProof="0" dirty="0" err="1">
                <a:solidFill>
                  <a:srgbClr val="FFFFFF"/>
                </a:solidFill>
              </a:rPr>
              <a:t>Backend</a:t>
            </a:r>
            <a:endParaRPr lang="es-ES_tradnl" sz="1650" b="1" noProof="0" dirty="0">
              <a:solidFill>
                <a:srgbClr val="FFFFFF"/>
              </a:solidFill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110D35F-DE6F-4AFE-8B18-620842E41804}"/>
              </a:ext>
            </a:extLst>
          </p:cNvPr>
          <p:cNvSpPr>
            <a:spLocks noGrp="1"/>
          </p:cNvSpPr>
          <p:nvPr/>
        </p:nvSpPr>
        <p:spPr>
          <a:xfrm>
            <a:off x="6015567" y="3723217"/>
            <a:ext cx="104775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050" b="0">
                <a:solidFill>
                  <a:srgbClr val="D7E5FF"/>
                </a:solidFill>
              </a:defRPr>
            </a:pPr>
            <a:r>
              <a:rPr lang="es-ES_tradnl" sz="1050" b="0" noProof="0" dirty="0">
                <a:solidFill>
                  <a:srgbClr val="D7E5FF"/>
                </a:solidFill>
              </a:rPr>
              <a:t>Express API</a:t>
            </a:r>
          </a:p>
          <a:p>
            <a:pPr algn="ctr">
              <a:defRPr sz="1050" b="0">
                <a:solidFill>
                  <a:srgbClr val="D7E5FF"/>
                </a:solidFill>
              </a:defRPr>
            </a:pPr>
            <a:r>
              <a:rPr lang="es-ES_tradnl" sz="1050" b="0" noProof="0" dirty="0">
                <a:solidFill>
                  <a:srgbClr val="D7E5FF"/>
                </a:solidFill>
              </a:rPr>
              <a:t>Servicios</a:t>
            </a:r>
          </a:p>
          <a:p>
            <a:pPr algn="ctr">
              <a:defRPr sz="1050" b="0">
                <a:solidFill>
                  <a:srgbClr val="D7E5FF"/>
                </a:solidFill>
              </a:defRPr>
            </a:pPr>
            <a:r>
              <a:rPr lang="es-ES_tradnl" sz="1050" b="0" noProof="0" dirty="0" err="1">
                <a:solidFill>
                  <a:srgbClr val="D7E5FF"/>
                </a:solidFill>
              </a:rPr>
              <a:t>Workers</a:t>
            </a:r>
            <a:endParaRPr lang="es-ES_tradnl" sz="1050" b="0" noProof="0" dirty="0">
              <a:solidFill>
                <a:srgbClr val="D7E5FF"/>
              </a:solidFill>
            </a:endParaRP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F17709A9-4BDB-4FAD-AD73-960D88C16F2C}"/>
              </a:ext>
            </a:extLst>
          </p:cNvPr>
          <p:cNvSpPr>
            <a:spLocks noGrp="1"/>
          </p:cNvSpPr>
          <p:nvPr/>
        </p:nvSpPr>
        <p:spPr>
          <a:xfrm>
            <a:off x="5444067" y="4999566"/>
            <a:ext cx="2190750" cy="951439"/>
          </a:xfrm>
          <a:prstGeom prst="roundRect">
            <a:avLst>
              <a:gd name="adj" fmla="val 13333"/>
            </a:avLst>
          </a:prstGeom>
          <a:solidFill>
            <a:srgbClr val="112F5C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58EFAD25-6D59-4D4F-9538-EA50A71129DB}"/>
              </a:ext>
            </a:extLst>
          </p:cNvPr>
          <p:cNvSpPr>
            <a:spLocks noGrp="1"/>
          </p:cNvSpPr>
          <p:nvPr/>
        </p:nvSpPr>
        <p:spPr>
          <a:xfrm>
            <a:off x="5825067" y="5171017"/>
            <a:ext cx="14287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lang="es-ES_tradnl" sz="1425" b="1" noProof="0" dirty="0" err="1">
                <a:solidFill>
                  <a:srgbClr val="FFFFFF"/>
                </a:solidFill>
              </a:rPr>
              <a:t>Socket.IO</a:t>
            </a:r>
            <a:endParaRPr lang="es-ES_tradnl" sz="1425" b="1" noProof="0" dirty="0">
              <a:solidFill>
                <a:srgbClr val="FFFFFF"/>
              </a:solidFill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1C0BEE7-C1A0-4D85-9E6A-8B74F633FBB9}"/>
              </a:ext>
            </a:extLst>
          </p:cNvPr>
          <p:cNvSpPr>
            <a:spLocks noGrp="1"/>
          </p:cNvSpPr>
          <p:nvPr/>
        </p:nvSpPr>
        <p:spPr>
          <a:xfrm>
            <a:off x="5710767" y="5513917"/>
            <a:ext cx="1666875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975" b="0">
                <a:solidFill>
                  <a:srgbClr val="FDECC8"/>
                </a:solidFill>
              </a:defRPr>
            </a:pPr>
            <a:r>
              <a:rPr lang="es-ES_tradnl" sz="975" b="0" noProof="0" dirty="0">
                <a:solidFill>
                  <a:srgbClr val="FDECC8"/>
                </a:solidFill>
              </a:rPr>
              <a:t>Eventos, salas, chat y señalización</a:t>
            </a:r>
          </a:p>
        </p:txBody>
      </p:sp>
      <p:sp>
        <p:nvSpPr>
          <p:cNvPr id="29" name="Rectángulo redondeado 28">
            <a:extLst>
              <a:ext uri="{FF2B5EF4-FFF2-40B4-BE49-F238E27FC236}">
                <a16:creationId xmlns:a16="http://schemas.microsoft.com/office/drawing/2014/main" id="{6E5DB80E-64C6-444C-893B-158FF79C96E8}"/>
              </a:ext>
            </a:extLst>
          </p:cNvPr>
          <p:cNvSpPr>
            <a:spLocks noGrp="1"/>
          </p:cNvSpPr>
          <p:nvPr/>
        </p:nvSpPr>
        <p:spPr>
          <a:xfrm>
            <a:off x="8396817" y="2904067"/>
            <a:ext cx="2381250" cy="1905000"/>
          </a:xfrm>
          <a:prstGeom prst="roundRect">
            <a:avLst>
              <a:gd name="adj" fmla="val 6000"/>
            </a:avLst>
          </a:prstGeom>
          <a:solidFill>
            <a:srgbClr val="0F2D54"/>
          </a:solidFill>
          <a:ln w="9525">
            <a:solidFill>
              <a:srgbClr val="5DA6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8D5A86D4-E1BE-42EE-9530-C56CC6C38E4D}"/>
              </a:ext>
            </a:extLst>
          </p:cNvPr>
          <p:cNvSpPr>
            <a:spLocks noGrp="1"/>
          </p:cNvSpPr>
          <p:nvPr/>
        </p:nvSpPr>
        <p:spPr>
          <a:xfrm>
            <a:off x="8777817" y="3151717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lang="es-ES_tradnl" sz="1500" b="1" noProof="0" dirty="0">
                <a:solidFill>
                  <a:srgbClr val="FFFFFF"/>
                </a:solidFill>
              </a:rPr>
              <a:t>Servicios externos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E6A9938-00E5-4211-BAE6-D6B720775621}"/>
              </a:ext>
            </a:extLst>
          </p:cNvPr>
          <p:cNvSpPr>
            <a:spLocks noGrp="1"/>
          </p:cNvSpPr>
          <p:nvPr/>
        </p:nvSpPr>
        <p:spPr>
          <a:xfrm>
            <a:off x="8777817" y="3532717"/>
            <a:ext cx="1619250" cy="819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050" b="0">
                <a:solidFill>
                  <a:srgbClr val="D7E5FF"/>
                </a:solidFill>
              </a:defRPr>
            </a:pPr>
            <a:r>
              <a:rPr lang="es-ES_tradnl" sz="1050" b="0" noProof="0" dirty="0">
                <a:solidFill>
                  <a:srgbClr val="D7E5FF"/>
                </a:solidFill>
              </a:rPr>
              <a:t>Google Auth</a:t>
            </a:r>
          </a:p>
          <a:p>
            <a:pPr algn="ctr">
              <a:defRPr sz="1050" b="0">
                <a:solidFill>
                  <a:srgbClr val="D7E5FF"/>
                </a:solidFill>
              </a:defRPr>
            </a:pPr>
            <a:r>
              <a:rPr lang="es-ES_tradnl" sz="1050" b="0" noProof="0" dirty="0">
                <a:solidFill>
                  <a:srgbClr val="D7E5FF"/>
                </a:solidFill>
              </a:rPr>
              <a:t>OSRM rutas</a:t>
            </a:r>
          </a:p>
          <a:p>
            <a:pPr algn="ctr">
              <a:defRPr sz="1050" b="0">
                <a:solidFill>
                  <a:srgbClr val="D7E5FF"/>
                </a:solidFill>
              </a:defRPr>
            </a:pPr>
            <a:r>
              <a:rPr lang="es-ES_tradnl" sz="1050" b="0" noProof="0" dirty="0" err="1">
                <a:solidFill>
                  <a:srgbClr val="D7E5FF"/>
                </a:solidFill>
              </a:rPr>
              <a:t>OpenStreetMap</a:t>
            </a:r>
            <a:r>
              <a:rPr lang="es-ES_tradnl" sz="1050" b="0" noProof="0" dirty="0">
                <a:solidFill>
                  <a:srgbClr val="D7E5FF"/>
                </a:solidFill>
              </a:rPr>
              <a:t> tiles</a:t>
            </a:r>
          </a:p>
          <a:p>
            <a:pPr algn="ctr">
              <a:defRPr sz="1050" b="0">
                <a:solidFill>
                  <a:srgbClr val="D7E5FF"/>
                </a:solidFill>
              </a:defRPr>
            </a:pPr>
            <a:r>
              <a:rPr lang="es-ES_tradnl" sz="1050" b="0" noProof="0" dirty="0">
                <a:solidFill>
                  <a:srgbClr val="D7E5FF"/>
                </a:solidFill>
              </a:rPr>
              <a:t>STUN para </a:t>
            </a:r>
            <a:r>
              <a:rPr lang="es-ES_tradnl" sz="1050" b="0" noProof="0" dirty="0" err="1">
                <a:solidFill>
                  <a:srgbClr val="D7E5FF"/>
                </a:solidFill>
              </a:rPr>
              <a:t>WebRTC</a:t>
            </a:r>
            <a:endParaRPr lang="es-ES_tradnl" sz="1050" b="0" noProof="0" dirty="0">
              <a:solidFill>
                <a:srgbClr val="D7E5FF"/>
              </a:solidFill>
            </a:endParaRPr>
          </a:p>
        </p:txBody>
      </p:sp>
      <p:sp>
        <p:nvSpPr>
          <p:cNvPr id="32" name="Rectángulo redondeado 31">
            <a:extLst>
              <a:ext uri="{FF2B5EF4-FFF2-40B4-BE49-F238E27FC236}">
                <a16:creationId xmlns:a16="http://schemas.microsoft.com/office/drawing/2014/main" id="{68A9CBF8-40E6-4F8B-BC95-BAA8A9C47680}"/>
              </a:ext>
            </a:extLst>
          </p:cNvPr>
          <p:cNvSpPr>
            <a:spLocks noGrp="1"/>
          </p:cNvSpPr>
          <p:nvPr/>
        </p:nvSpPr>
        <p:spPr>
          <a:xfrm>
            <a:off x="8396817" y="5247217"/>
            <a:ext cx="2381250" cy="857250"/>
          </a:xfrm>
          <a:prstGeom prst="roundRect">
            <a:avLst>
              <a:gd name="adj" fmla="val 13333"/>
            </a:avLst>
          </a:prstGeom>
          <a:solidFill>
            <a:srgbClr val="0F2D54"/>
          </a:solidFill>
          <a:ln w="9525">
            <a:solidFill>
              <a:srgbClr val="22C55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28590C5-675F-4056-B282-CE43303D8DF3}"/>
              </a:ext>
            </a:extLst>
          </p:cNvPr>
          <p:cNvSpPr>
            <a:spLocks noGrp="1"/>
          </p:cNvSpPr>
          <p:nvPr/>
        </p:nvSpPr>
        <p:spPr>
          <a:xfrm>
            <a:off x="8730192" y="5418667"/>
            <a:ext cx="1714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es-ES_tradnl" sz="1350" b="1" noProof="0" dirty="0">
                <a:solidFill>
                  <a:srgbClr val="FFFFFF"/>
                </a:solidFill>
              </a:rPr>
              <a:t>Datos actuales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DC95DA7-3F16-43BD-964A-131510906DA3}"/>
              </a:ext>
            </a:extLst>
          </p:cNvPr>
          <p:cNvSpPr>
            <a:spLocks noGrp="1"/>
          </p:cNvSpPr>
          <p:nvPr/>
        </p:nvSpPr>
        <p:spPr>
          <a:xfrm>
            <a:off x="8720667" y="5742517"/>
            <a:ext cx="1714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975" b="0">
                <a:solidFill>
                  <a:srgbClr val="DCFCE7"/>
                </a:solidFill>
              </a:defRPr>
            </a:pPr>
            <a:r>
              <a:rPr lang="es-ES_tradnl" sz="975" b="0" noProof="0" dirty="0">
                <a:solidFill>
                  <a:srgbClr val="DCFCE7"/>
                </a:solidFill>
              </a:rPr>
              <a:t>Memoria, CSV, JSON, </a:t>
            </a:r>
            <a:r>
              <a:rPr lang="es-ES_tradnl" sz="975" b="0" noProof="0" dirty="0" err="1">
                <a:solidFill>
                  <a:srgbClr val="DCFCE7"/>
                </a:solidFill>
              </a:rPr>
              <a:t>dataset</a:t>
            </a:r>
            <a:r>
              <a:rPr lang="es-ES_tradnl" sz="975" b="0" noProof="0" dirty="0">
                <a:solidFill>
                  <a:srgbClr val="DCFCE7"/>
                </a:solidFill>
              </a:rPr>
              <a:t> KPI</a:t>
            </a:r>
          </a:p>
        </p:txBody>
      </p:sp>
      <p:cxnSp>
        <p:nvCxnSpPr>
          <p:cNvPr id="76" name="Conector recto de flecha 75"/>
          <p:cNvCxnSpPr>
            <a:cxnSpLocks/>
            <a:stCxn id="17" idx="3"/>
            <a:endCxn id="20" idx="1"/>
          </p:cNvCxnSpPr>
          <p:nvPr/>
        </p:nvCxnSpPr>
        <p:spPr>
          <a:xfrm flipV="1">
            <a:off x="2205567" y="3780367"/>
            <a:ext cx="619125" cy="66675"/>
          </a:xfrm>
          <a:prstGeom prst="straightConnector1">
            <a:avLst/>
          </a:prstGeom>
          <a:ln w="19050">
            <a:solidFill>
              <a:srgbClr val="0EA5E9"/>
            </a:solidFill>
            <a:prstDash val="solid"/>
            <a:tailEnd type="arrow" w="med" len="med"/>
          </a:ln>
        </p:spPr>
      </p:cxnSp>
      <p:cxnSp>
        <p:nvCxnSpPr>
          <p:cNvPr id="77" name="Conector recto de flecha 76"/>
          <p:cNvCxnSpPr>
            <a:stCxn id="20" idx="3"/>
            <a:endCxn id="23" idx="1"/>
          </p:cNvCxnSpPr>
          <p:nvPr/>
        </p:nvCxnSpPr>
        <p:spPr>
          <a:xfrm>
            <a:off x="4824942" y="3780367"/>
            <a:ext cx="666750" cy="0"/>
          </a:xfrm>
          <a:prstGeom prst="straightConnector1">
            <a:avLst/>
          </a:prstGeom>
          <a:ln w="19050">
            <a:solidFill>
              <a:srgbClr val="0EA5E9"/>
            </a:solidFill>
            <a:prstDash val="solid"/>
            <a:tailEnd type="arrow" w="med" len="med"/>
          </a:ln>
        </p:spPr>
      </p:cxnSp>
      <p:cxnSp>
        <p:nvCxnSpPr>
          <p:cNvPr id="78" name="Conector angular 77"/>
          <p:cNvCxnSpPr>
            <a:stCxn id="23" idx="3"/>
            <a:endCxn id="29" idx="1"/>
          </p:cNvCxnSpPr>
          <p:nvPr/>
        </p:nvCxnSpPr>
        <p:spPr>
          <a:xfrm>
            <a:off x="7587192" y="3780367"/>
            <a:ext cx="809625" cy="76200"/>
          </a:xfrm>
          <a:prstGeom prst="bentConnector3">
            <a:avLst>
              <a:gd name="adj1" fmla="val 50000"/>
            </a:avLst>
          </a:prstGeom>
          <a:ln w="19050">
            <a:solidFill>
              <a:srgbClr val="0EA5E9"/>
            </a:solidFill>
            <a:prstDash val="solid"/>
            <a:tailEnd type="arrow" w="med" len="med"/>
          </a:ln>
        </p:spPr>
      </p:cxnSp>
      <p:cxnSp>
        <p:nvCxnSpPr>
          <p:cNvPr id="79" name="Conector recto de flecha 78"/>
          <p:cNvCxnSpPr>
            <a:cxnSpLocks/>
            <a:stCxn id="23" idx="2"/>
            <a:endCxn id="26" idx="0"/>
          </p:cNvCxnSpPr>
          <p:nvPr/>
        </p:nvCxnSpPr>
        <p:spPr>
          <a:xfrm>
            <a:off x="6539442" y="4466167"/>
            <a:ext cx="0" cy="533399"/>
          </a:xfrm>
          <a:prstGeom prst="straightConnector1">
            <a:avLst/>
          </a:prstGeom>
          <a:ln w="19050">
            <a:solidFill>
              <a:srgbClr val="F59E0B"/>
            </a:solidFill>
            <a:prstDash val="solid"/>
            <a:tailEnd type="arrow" w="med" len="med"/>
          </a:ln>
        </p:spPr>
      </p:cxnSp>
      <p:cxnSp>
        <p:nvCxnSpPr>
          <p:cNvPr id="80" name="Conector angular 79"/>
          <p:cNvCxnSpPr>
            <a:stCxn id="23" idx="3"/>
            <a:endCxn id="32" idx="1"/>
          </p:cNvCxnSpPr>
          <p:nvPr/>
        </p:nvCxnSpPr>
        <p:spPr>
          <a:xfrm>
            <a:off x="7587192" y="3780367"/>
            <a:ext cx="809625" cy="1895475"/>
          </a:xfrm>
          <a:prstGeom prst="bentConnector3">
            <a:avLst>
              <a:gd name="adj1" fmla="val 50000"/>
            </a:avLst>
          </a:prstGeom>
          <a:ln w="19050">
            <a:solidFill>
              <a:srgbClr val="22C55E"/>
            </a:solidFill>
            <a:prstDash val="solid"/>
            <a:tailEnd type="arrow" w="med" len="med"/>
          </a:ln>
        </p:spPr>
      </p:cxnSp>
      <p:sp>
        <p:nvSpPr>
          <p:cNvPr id="40" name="Rectángulo 39">
            <a:extLst>
              <a:ext uri="{FF2B5EF4-FFF2-40B4-BE49-F238E27FC236}">
                <a16:creationId xmlns:a16="http://schemas.microsoft.com/office/drawing/2014/main" id="{FD358DE6-206C-47DA-8499-0CC9F2A8CA76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B6C7E6"/>
                </a:solidFill>
              </a:defRPr>
            </a:pPr>
            <a:r>
              <a:rPr lang="es-ES_tradnl" sz="750" b="1" noProof="0" dirty="0">
                <a:solidFill>
                  <a:srgbClr val="B6C7E6"/>
                </a:solidFill>
              </a:rPr>
              <a:t>EMERGENCIAS TECH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061522BB-8A2B-49AA-9BEC-E0C6C2CFD94D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B6C7E6"/>
                </a:solidFill>
              </a:defRPr>
            </a:pPr>
            <a:r>
              <a:rPr lang="es-ES_tradnl" sz="900" b="1" noProof="0" dirty="0">
                <a:solidFill>
                  <a:srgbClr val="B6C7E6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67782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8DF7E74B-CB36-44C8-AB06-2896CD40B4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8C2B2C2-924D-43EB-93BD-478E2A91493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0" b="1">
                <a:solidFill>
                  <a:srgbClr val="2563EB"/>
                </a:solidFill>
              </a:defRPr>
            </a:pPr>
            <a:r>
              <a:rPr lang="es-ES_tradnl" sz="900" b="1" noProof="0" dirty="0">
                <a:solidFill>
                  <a:srgbClr val="2563EB"/>
                </a:solidFill>
              </a:rPr>
              <a:t>STACK TECNOLÓGICO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1CA015B-7EAB-48DC-9D69-5FC5F790D03E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88582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550" b="1">
                <a:solidFill>
                  <a:srgbClr val="0F172A"/>
                </a:solidFill>
              </a:defRPr>
            </a:pPr>
            <a:r>
              <a:rPr lang="es-ES_tradnl" sz="2550" b="1" noProof="0" dirty="0">
                <a:solidFill>
                  <a:srgbClr val="0F172A"/>
                </a:solidFill>
              </a:rPr>
              <a:t>Tecnologías principales del proyecto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2E8BB91-C11A-47E2-834C-D0822969A5E6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La selección combina SPA moderna, API REST, tiempo real, seguridad por token, mapas y servicios externos.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BB63367-368E-4578-A0DF-1B1E228C9B37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lang="es-ES_tradnl" sz="750" b="1" noProof="0" dirty="0">
                <a:solidFill>
                  <a:srgbClr val="64748B"/>
                </a:solidFill>
              </a:rPr>
              <a:t>EMERGENCIAS TECH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ACE592B-A007-4C00-B35F-7D990FF206F2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lang="es-ES_tradnl" sz="900" b="1" noProof="0" dirty="0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7415FC17-E3CF-46CB-A64D-6CBB49A04C2A}"/>
              </a:ext>
            </a:extLst>
          </p:cNvPr>
          <p:cNvSpPr>
            <a:spLocks noGrp="1"/>
          </p:cNvSpPr>
          <p:nvPr/>
        </p:nvSpPr>
        <p:spPr>
          <a:xfrm>
            <a:off x="762000" y="1543050"/>
            <a:ext cx="3048000" cy="781050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44" name="Imagen 4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4400" y="1676400"/>
            <a:ext cx="400050" cy="40005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0BA33D3E-55BC-4D4E-A588-637E7A7ED2A8}"/>
              </a:ext>
            </a:extLst>
          </p:cNvPr>
          <p:cNvSpPr>
            <a:spLocks noGrp="1"/>
          </p:cNvSpPr>
          <p:nvPr/>
        </p:nvSpPr>
        <p:spPr>
          <a:xfrm>
            <a:off x="1409700" y="1752600"/>
            <a:ext cx="22669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rPr lang="es-ES_tradnl" sz="1200" b="1" noProof="0" dirty="0" err="1">
                <a:solidFill>
                  <a:srgbClr val="0F172A"/>
                </a:solidFill>
              </a:rPr>
              <a:t>React</a:t>
            </a:r>
            <a:endParaRPr lang="es-ES_tradnl" sz="1200" b="1" noProof="0" dirty="0">
              <a:solidFill>
                <a:srgbClr val="0F172A"/>
              </a:solidFill>
            </a:endParaRP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29FA19AF-783E-4D42-A751-76CAFEFB1DB6}"/>
              </a:ext>
            </a:extLst>
          </p:cNvPr>
          <p:cNvSpPr>
            <a:spLocks noGrp="1"/>
          </p:cNvSpPr>
          <p:nvPr/>
        </p:nvSpPr>
        <p:spPr>
          <a:xfrm>
            <a:off x="4238625" y="1543050"/>
            <a:ext cx="3048000" cy="781050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47" name="Imagen 4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91025" y="1676400"/>
            <a:ext cx="400050" cy="40005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A0AFC14D-67AA-4E42-9993-638FFE924E35}"/>
              </a:ext>
            </a:extLst>
          </p:cNvPr>
          <p:cNvSpPr>
            <a:spLocks noGrp="1"/>
          </p:cNvSpPr>
          <p:nvPr/>
        </p:nvSpPr>
        <p:spPr>
          <a:xfrm>
            <a:off x="4886325" y="1752600"/>
            <a:ext cx="22669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rPr lang="es-ES_tradnl" sz="1200" b="1" noProof="0" dirty="0">
                <a:solidFill>
                  <a:srgbClr val="0F172A"/>
                </a:solidFill>
              </a:rPr>
              <a:t>Vite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F9154F16-7CEA-4017-8FCD-56E64D4BA144}"/>
              </a:ext>
            </a:extLst>
          </p:cNvPr>
          <p:cNvSpPr>
            <a:spLocks noGrp="1"/>
          </p:cNvSpPr>
          <p:nvPr/>
        </p:nvSpPr>
        <p:spPr>
          <a:xfrm>
            <a:off x="7715250" y="1543050"/>
            <a:ext cx="3048000" cy="781050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50" name="Imagen 4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867650" y="1676400"/>
            <a:ext cx="400050" cy="400050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56EDBD92-FB45-4979-B1FA-91841273B3D5}"/>
              </a:ext>
            </a:extLst>
          </p:cNvPr>
          <p:cNvSpPr>
            <a:spLocks noGrp="1"/>
          </p:cNvSpPr>
          <p:nvPr/>
        </p:nvSpPr>
        <p:spPr>
          <a:xfrm>
            <a:off x="8362950" y="1752600"/>
            <a:ext cx="22669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rPr lang="es-ES_tradnl" sz="1200" b="1" noProof="0" dirty="0" err="1">
                <a:solidFill>
                  <a:srgbClr val="0F172A"/>
                </a:solidFill>
              </a:rPr>
              <a:t>Node.js</a:t>
            </a:r>
            <a:endParaRPr lang="es-ES_tradnl" sz="1200" b="1" noProof="0" dirty="0">
              <a:solidFill>
                <a:srgbClr val="0F172A"/>
              </a:solidFill>
            </a:endParaRPr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DFDD41B0-34DA-4357-9FCB-774AA4C44667}"/>
              </a:ext>
            </a:extLst>
          </p:cNvPr>
          <p:cNvSpPr>
            <a:spLocks noGrp="1"/>
          </p:cNvSpPr>
          <p:nvPr/>
        </p:nvSpPr>
        <p:spPr>
          <a:xfrm>
            <a:off x="762000" y="2571750"/>
            <a:ext cx="3048000" cy="781050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53" name="Imagen 5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14400" y="2705100"/>
            <a:ext cx="400050" cy="400050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BFF661C8-3638-42EF-BDAB-1D117C070F48}"/>
              </a:ext>
            </a:extLst>
          </p:cNvPr>
          <p:cNvSpPr>
            <a:spLocks noGrp="1"/>
          </p:cNvSpPr>
          <p:nvPr/>
        </p:nvSpPr>
        <p:spPr>
          <a:xfrm>
            <a:off x="1409700" y="2781300"/>
            <a:ext cx="22669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rPr lang="es-ES_tradnl" sz="1200" b="1" noProof="0" dirty="0">
                <a:solidFill>
                  <a:srgbClr val="0F172A"/>
                </a:solidFill>
              </a:rPr>
              <a:t>Express</a:t>
            </a:r>
          </a:p>
        </p:txBody>
      </p:sp>
      <p:sp>
        <p:nvSpPr>
          <p:cNvPr id="19" name="Rectángulo redondeado 18">
            <a:extLst>
              <a:ext uri="{FF2B5EF4-FFF2-40B4-BE49-F238E27FC236}">
                <a16:creationId xmlns:a16="http://schemas.microsoft.com/office/drawing/2014/main" id="{12CB331D-7BA3-4E41-9F1C-85B05CFF2153}"/>
              </a:ext>
            </a:extLst>
          </p:cNvPr>
          <p:cNvSpPr>
            <a:spLocks noGrp="1"/>
          </p:cNvSpPr>
          <p:nvPr/>
        </p:nvSpPr>
        <p:spPr>
          <a:xfrm>
            <a:off x="4238625" y="2571750"/>
            <a:ext cx="3048000" cy="781050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56" name="Imagen 5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391025" y="2705100"/>
            <a:ext cx="400050" cy="400050"/>
          </a:xfrm>
          <a:prstGeom prst="rect">
            <a:avLst/>
          </a:prstGeom>
        </p:spPr>
      </p:pic>
      <p:sp>
        <p:nvSpPr>
          <p:cNvPr id="21" name="Rectángulo 20">
            <a:extLst>
              <a:ext uri="{FF2B5EF4-FFF2-40B4-BE49-F238E27FC236}">
                <a16:creationId xmlns:a16="http://schemas.microsoft.com/office/drawing/2014/main" id="{2C29A37A-DF7F-4C4C-A544-7A3FC58B2664}"/>
              </a:ext>
            </a:extLst>
          </p:cNvPr>
          <p:cNvSpPr>
            <a:spLocks noGrp="1"/>
          </p:cNvSpPr>
          <p:nvPr/>
        </p:nvSpPr>
        <p:spPr>
          <a:xfrm>
            <a:off x="4886325" y="2781300"/>
            <a:ext cx="22669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rPr lang="es-ES_tradnl" sz="1200" b="1" noProof="0" dirty="0" err="1">
                <a:solidFill>
                  <a:srgbClr val="0F172A"/>
                </a:solidFill>
              </a:rPr>
              <a:t>Socket.IO</a:t>
            </a:r>
            <a:endParaRPr lang="es-ES_tradnl" sz="1200" b="1" noProof="0" dirty="0">
              <a:solidFill>
                <a:srgbClr val="0F172A"/>
              </a:solidFill>
            </a:endParaRPr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27260DD3-029E-4722-9A49-A5ED9EF03314}"/>
              </a:ext>
            </a:extLst>
          </p:cNvPr>
          <p:cNvSpPr>
            <a:spLocks noGrp="1"/>
          </p:cNvSpPr>
          <p:nvPr/>
        </p:nvSpPr>
        <p:spPr>
          <a:xfrm>
            <a:off x="7715250" y="2571750"/>
            <a:ext cx="3048000" cy="781050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59" name="Imagen 58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867650" y="2705100"/>
            <a:ext cx="400050" cy="4000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8AB74200-BF70-4F96-97B1-5EAAD5071298}"/>
              </a:ext>
            </a:extLst>
          </p:cNvPr>
          <p:cNvSpPr>
            <a:spLocks noGrp="1"/>
          </p:cNvSpPr>
          <p:nvPr/>
        </p:nvSpPr>
        <p:spPr>
          <a:xfrm>
            <a:off x="8362950" y="2781300"/>
            <a:ext cx="22669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rPr lang="es-ES_tradnl" sz="1200" b="1" noProof="0" dirty="0">
                <a:solidFill>
                  <a:srgbClr val="0F172A"/>
                </a:solidFill>
              </a:rPr>
              <a:t>JWT</a:t>
            </a:r>
          </a:p>
        </p:txBody>
      </p:sp>
      <p:sp>
        <p:nvSpPr>
          <p:cNvPr id="25" name="Rectángulo redondeado 24">
            <a:extLst>
              <a:ext uri="{FF2B5EF4-FFF2-40B4-BE49-F238E27FC236}">
                <a16:creationId xmlns:a16="http://schemas.microsoft.com/office/drawing/2014/main" id="{6652F7E6-C494-47FF-83C4-3B3AC8E0D0DC}"/>
              </a:ext>
            </a:extLst>
          </p:cNvPr>
          <p:cNvSpPr>
            <a:spLocks noGrp="1"/>
          </p:cNvSpPr>
          <p:nvPr/>
        </p:nvSpPr>
        <p:spPr>
          <a:xfrm>
            <a:off x="762000" y="3600450"/>
            <a:ext cx="3048000" cy="781050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62" name="Imagen 61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914400" y="3733800"/>
            <a:ext cx="400050" cy="40005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5DD14CF9-0D56-43D2-9714-D8B89126B01F}"/>
              </a:ext>
            </a:extLst>
          </p:cNvPr>
          <p:cNvSpPr>
            <a:spLocks noGrp="1"/>
          </p:cNvSpPr>
          <p:nvPr/>
        </p:nvSpPr>
        <p:spPr>
          <a:xfrm>
            <a:off x="1409700" y="3810000"/>
            <a:ext cx="22669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rPr lang="es-ES_tradnl" sz="1200" b="1" noProof="0" dirty="0" err="1">
                <a:solidFill>
                  <a:srgbClr val="0F172A"/>
                </a:solidFill>
              </a:rPr>
              <a:t>Leaflet</a:t>
            </a:r>
            <a:endParaRPr lang="es-ES_tradnl" sz="1200" b="1" noProof="0" dirty="0">
              <a:solidFill>
                <a:srgbClr val="0F172A"/>
              </a:solidFill>
            </a:endParaRPr>
          </a:p>
        </p:txBody>
      </p:sp>
      <p:sp>
        <p:nvSpPr>
          <p:cNvPr id="28" name="Rectángulo redondeado 27">
            <a:extLst>
              <a:ext uri="{FF2B5EF4-FFF2-40B4-BE49-F238E27FC236}">
                <a16:creationId xmlns:a16="http://schemas.microsoft.com/office/drawing/2014/main" id="{4A4C6D1C-CA10-41CE-9741-119425494438}"/>
              </a:ext>
            </a:extLst>
          </p:cNvPr>
          <p:cNvSpPr>
            <a:spLocks noGrp="1"/>
          </p:cNvSpPr>
          <p:nvPr/>
        </p:nvSpPr>
        <p:spPr>
          <a:xfrm>
            <a:off x="4238625" y="3600450"/>
            <a:ext cx="3048000" cy="781050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65" name="Imagen 64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4391025" y="3733800"/>
            <a:ext cx="400050" cy="400050"/>
          </a:xfrm>
          <a:prstGeom prst="rect">
            <a:avLst/>
          </a:prstGeom>
        </p:spPr>
      </p:pic>
      <p:sp>
        <p:nvSpPr>
          <p:cNvPr id="30" name="Rectángulo 29">
            <a:extLst>
              <a:ext uri="{FF2B5EF4-FFF2-40B4-BE49-F238E27FC236}">
                <a16:creationId xmlns:a16="http://schemas.microsoft.com/office/drawing/2014/main" id="{9A0695D5-70F6-4E91-BD84-76B85EF36C40}"/>
              </a:ext>
            </a:extLst>
          </p:cNvPr>
          <p:cNvSpPr>
            <a:spLocks noGrp="1"/>
          </p:cNvSpPr>
          <p:nvPr/>
        </p:nvSpPr>
        <p:spPr>
          <a:xfrm>
            <a:off x="4886325" y="3810000"/>
            <a:ext cx="22669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rPr lang="es-ES_tradnl" sz="1200" b="1" noProof="0" dirty="0">
                <a:solidFill>
                  <a:srgbClr val="0F172A"/>
                </a:solidFill>
              </a:rPr>
              <a:t>Google</a:t>
            </a:r>
          </a:p>
        </p:txBody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642FA8C1-F19B-4E8E-B3FF-487BACAF3D81}"/>
              </a:ext>
            </a:extLst>
          </p:cNvPr>
          <p:cNvSpPr>
            <a:spLocks noGrp="1"/>
          </p:cNvSpPr>
          <p:nvPr/>
        </p:nvSpPr>
        <p:spPr>
          <a:xfrm>
            <a:off x="7715250" y="3600450"/>
            <a:ext cx="3048000" cy="781050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pic>
        <p:nvPicPr>
          <p:cNvPr id="68" name="Imagen 67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7867650" y="3733800"/>
            <a:ext cx="400050" cy="400050"/>
          </a:xfrm>
          <a:prstGeom prst="rect">
            <a:avLst/>
          </a:prstGeom>
        </p:spPr>
      </p:pic>
      <p:sp>
        <p:nvSpPr>
          <p:cNvPr id="33" name="Rectángulo 32">
            <a:extLst>
              <a:ext uri="{FF2B5EF4-FFF2-40B4-BE49-F238E27FC236}">
                <a16:creationId xmlns:a16="http://schemas.microsoft.com/office/drawing/2014/main" id="{F000BA5B-B7CC-4D77-875D-FE161C27D4AF}"/>
              </a:ext>
            </a:extLst>
          </p:cNvPr>
          <p:cNvSpPr>
            <a:spLocks noGrp="1"/>
          </p:cNvSpPr>
          <p:nvPr/>
        </p:nvSpPr>
        <p:spPr>
          <a:xfrm>
            <a:off x="8362950" y="3810000"/>
            <a:ext cx="22669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rPr lang="es-ES_tradnl" sz="1200" b="1" noProof="0" dirty="0" err="1">
                <a:solidFill>
                  <a:srgbClr val="0F172A"/>
                </a:solidFill>
              </a:rPr>
              <a:t>OpenStreetMap</a:t>
            </a:r>
            <a:endParaRPr lang="es-ES_tradnl" sz="1200" b="1" noProof="0" dirty="0">
              <a:solidFill>
                <a:srgbClr val="0F172A"/>
              </a:solidFill>
            </a:endParaRPr>
          </a:p>
        </p:txBody>
      </p:sp>
      <p:graphicFrame>
        <p:nvGraphicFramePr>
          <p:cNvPr id="70" name="Tabla 69"/>
          <p:cNvGraphicFramePr/>
          <p:nvPr>
            <p:extLst>
              <p:ext uri="{D42A27DB-BD31-4B8C-83A1-F6EECF244321}">
                <p14:modId xmlns:p14="http://schemas.microsoft.com/office/powerpoint/2010/main" val="301914539"/>
              </p:ext>
            </p:extLst>
          </p:nvPr>
        </p:nvGraphicFramePr>
        <p:xfrm>
          <a:off x="762000" y="4810125"/>
          <a:ext cx="10382250" cy="1257300"/>
        </p:xfrm>
        <a:graphic>
          <a:graphicData uri="http://schemas.openxmlformats.org/drawingml/2006/table">
            <a:tbl>
              <a:tblPr firstRow="1" bandRow="1"/>
              <a:tblGrid>
                <a:gridCol w="346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s-ES_tradnl" sz="975" b="1" noProof="0" dirty="0">
                          <a:solidFill>
                            <a:srgbClr val="FFFFFF"/>
                          </a:solidFill>
                        </a:rPr>
                        <a:t>Capa</a:t>
                      </a:r>
                    </a:p>
                  </a:txBody>
                  <a:tcPr>
                    <a:solidFill>
                      <a:srgbClr val="0B23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975" b="1" noProof="0" dirty="0">
                          <a:solidFill>
                            <a:srgbClr val="FFFFFF"/>
                          </a:solidFill>
                        </a:rPr>
                        <a:t>Tecnologías</a:t>
                      </a:r>
                    </a:p>
                  </a:txBody>
                  <a:tcPr>
                    <a:solidFill>
                      <a:srgbClr val="0B23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975" b="1" noProof="0" dirty="0">
                          <a:solidFill>
                            <a:srgbClr val="FFFFFF"/>
                          </a:solidFill>
                        </a:rPr>
                        <a:t>Uso</a:t>
                      </a:r>
                    </a:p>
                  </a:txBody>
                  <a:tcPr>
                    <a:solidFill>
                      <a:srgbClr val="0B23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s-ES_tradnl" sz="938" noProof="0" dirty="0" err="1">
                          <a:solidFill>
                            <a:srgbClr val="0F172A"/>
                          </a:solidFill>
                        </a:rPr>
                        <a:t>Frontend</a:t>
                      </a:r>
                      <a:endParaRPr lang="es-ES_tradnl" sz="938" noProof="0" dirty="0">
                        <a:solidFill>
                          <a:srgbClr val="0F172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938" noProof="0" dirty="0" err="1">
                          <a:solidFill>
                            <a:srgbClr val="0F172A"/>
                          </a:solidFill>
                        </a:rPr>
                        <a:t>React</a:t>
                      </a:r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, Vite, </a:t>
                      </a:r>
                      <a:r>
                        <a:rPr lang="es-ES_tradnl" sz="938" noProof="0" dirty="0" err="1">
                          <a:solidFill>
                            <a:srgbClr val="0F172A"/>
                          </a:solidFill>
                        </a:rPr>
                        <a:t>Router</a:t>
                      </a:r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, </a:t>
                      </a:r>
                      <a:r>
                        <a:rPr lang="es-ES_tradnl" sz="938" noProof="0" dirty="0" err="1">
                          <a:solidFill>
                            <a:srgbClr val="0F172A"/>
                          </a:solidFill>
                        </a:rPr>
                        <a:t>Leaflet</a:t>
                      </a:r>
                      <a:endParaRPr lang="es-ES_tradnl" sz="938" noProof="0" dirty="0">
                        <a:solidFill>
                          <a:srgbClr val="0F172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Interfaz SPA, mapas, vistas por 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s-ES_tradnl" sz="938" noProof="0" dirty="0" err="1">
                          <a:solidFill>
                            <a:srgbClr val="0F172A"/>
                          </a:solidFill>
                        </a:rPr>
                        <a:t>Backend</a:t>
                      </a:r>
                      <a:endParaRPr lang="es-ES_tradnl" sz="938" noProof="0" dirty="0">
                        <a:solidFill>
                          <a:srgbClr val="0F172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938" noProof="0" dirty="0" err="1">
                          <a:solidFill>
                            <a:srgbClr val="0F172A"/>
                          </a:solidFill>
                        </a:rPr>
                        <a:t>Node.js</a:t>
                      </a:r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, Express, </a:t>
                      </a:r>
                      <a:r>
                        <a:rPr lang="es-ES_tradnl" sz="938" noProof="0" dirty="0" err="1">
                          <a:solidFill>
                            <a:srgbClr val="0F172A"/>
                          </a:solidFill>
                        </a:rPr>
                        <a:t>Socket.IO</a:t>
                      </a:r>
                      <a:endParaRPr lang="es-ES_tradnl" sz="938" noProof="0" dirty="0">
                        <a:solidFill>
                          <a:srgbClr val="0F172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API, eventos, chat y coordinación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Seguridad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JWT, </a:t>
                      </a:r>
                      <a:r>
                        <a:rPr lang="es-ES_tradnl" sz="938" noProof="0" dirty="0" err="1">
                          <a:solidFill>
                            <a:srgbClr val="0F172A"/>
                          </a:solidFill>
                        </a:rPr>
                        <a:t>bcryptjs</a:t>
                      </a:r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, Google 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Sesiones, contraseñas y </a:t>
                      </a:r>
                      <a:r>
                        <a:rPr lang="es-ES_tradnl" sz="938" noProof="0" dirty="0" err="1">
                          <a:solidFill>
                            <a:srgbClr val="0F172A"/>
                          </a:solidFill>
                        </a:rPr>
                        <a:t>login</a:t>
                      </a:r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 federado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938" noProof="0" dirty="0" err="1">
                          <a:solidFill>
                            <a:srgbClr val="0F172A"/>
                          </a:solidFill>
                        </a:rPr>
                        <a:t>Map</a:t>
                      </a:r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, CSV, JSON, Excel/KPI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Persistencia actual y análisis operativo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Rectángulo 34">
            <a:extLst>
              <a:ext uri="{FF2B5EF4-FFF2-40B4-BE49-F238E27FC236}">
                <a16:creationId xmlns:a16="http://schemas.microsoft.com/office/drawing/2014/main" id="{78D41B71-BF05-4C23-8D8F-B54A116AF025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lang="es-ES_tradnl" sz="750" b="1" noProof="0" dirty="0">
                <a:solidFill>
                  <a:srgbClr val="64748B"/>
                </a:solidFill>
              </a:rPr>
              <a:t>EMERGENCIAS TECH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72C764FE-F89D-456C-9E9B-019EB9C4CABA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lang="es-ES_tradnl" sz="900" b="1" noProof="0" dirty="0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91190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ángulo 38">
            <a:extLst>
              <a:ext uri="{FF2B5EF4-FFF2-40B4-BE49-F238E27FC236}">
                <a16:creationId xmlns:a16="http://schemas.microsoft.com/office/drawing/2014/main" id="{EDE24C49-2F40-419C-A45F-FE17259450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9F07D71-0962-4994-A4FB-066F9FDC5237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0" b="1">
                <a:solidFill>
                  <a:srgbClr val="2563EB"/>
                </a:solidFill>
              </a:defRPr>
            </a:pPr>
            <a:r>
              <a:rPr lang="es-ES_tradnl" sz="900" b="1" noProof="0" dirty="0">
                <a:solidFill>
                  <a:srgbClr val="2563EB"/>
                </a:solidFill>
              </a:rPr>
              <a:t>TECNOLOGÍAS UTILIZADAS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EC1DC4F-EF62-4792-9D4A-BCEC8798007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88582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550" b="1">
                <a:solidFill>
                  <a:srgbClr val="0F172A"/>
                </a:solidFill>
              </a:defRPr>
            </a:pPr>
            <a:r>
              <a:rPr lang="es-ES_tradnl" sz="2550" b="1" noProof="0" dirty="0">
                <a:solidFill>
                  <a:srgbClr val="0F172A"/>
                </a:solidFill>
              </a:rPr>
              <a:t>Cada tecnología cubre una necesidad concreta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917B8A1-F8B9-4F6B-8FE7-3EF9CA883F26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La arquitectura evita usar una sola herramienta para todo: separa interfaz, negocio, eventos, multimedia y geolocalización.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EC69EA8-37E6-46A0-937F-3181B1CF6546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lang="es-ES_tradnl" sz="750" b="1" noProof="0" dirty="0">
                <a:solidFill>
                  <a:srgbClr val="64748B"/>
                </a:solidFill>
              </a:rPr>
              <a:t>EMERGENCIAS TECH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0D60451-1D2B-42F1-9DAA-1A9056579E50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lang="es-ES_tradnl" sz="900" b="1" noProof="0" dirty="0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AA5580B4-18C5-4D29-BA64-F4530978BB67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4914900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CBC28237-F783-442E-8DA1-AA820A32CA95}"/>
              </a:ext>
            </a:extLst>
          </p:cNvPr>
          <p:cNvSpPr>
            <a:spLocks noGrp="1"/>
          </p:cNvSpPr>
          <p:nvPr/>
        </p:nvSpPr>
        <p:spPr>
          <a:xfrm>
            <a:off x="933450" y="1790700"/>
            <a:ext cx="419100" cy="41910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lang="es-ES_tradnl" sz="1125" b="1" noProof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99A3F1D-AE50-4203-8F17-E66883811139}"/>
              </a:ext>
            </a:extLst>
          </p:cNvPr>
          <p:cNvSpPr>
            <a:spLocks noGrp="1"/>
          </p:cNvSpPr>
          <p:nvPr/>
        </p:nvSpPr>
        <p:spPr>
          <a:xfrm>
            <a:off x="1543050" y="1733550"/>
            <a:ext cx="3714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lang="es-ES_tradnl" sz="1500" b="1" noProof="0" dirty="0" err="1">
                <a:solidFill>
                  <a:srgbClr val="0F172A"/>
                </a:solidFill>
              </a:rPr>
              <a:t>React</a:t>
            </a:r>
            <a:r>
              <a:rPr lang="es-ES_tradnl" sz="1500" b="1" noProof="0" dirty="0">
                <a:solidFill>
                  <a:srgbClr val="0F172A"/>
                </a:solidFill>
              </a:rPr>
              <a:t> + Vite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12343EC-2659-4183-91B6-AF016F1F6161}"/>
              </a:ext>
            </a:extLst>
          </p:cNvPr>
          <p:cNvSpPr>
            <a:spLocks noGrp="1"/>
          </p:cNvSpPr>
          <p:nvPr/>
        </p:nvSpPr>
        <p:spPr>
          <a:xfrm>
            <a:off x="1543050" y="2019300"/>
            <a:ext cx="3667125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Componentes rápidos y estado local para paneles de usuario y operador.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09805D0-B2A8-4791-AEEB-A8F8381D1C62}"/>
              </a:ext>
            </a:extLst>
          </p:cNvPr>
          <p:cNvSpPr>
            <a:spLocks noGrp="1"/>
          </p:cNvSpPr>
          <p:nvPr/>
        </p:nvSpPr>
        <p:spPr>
          <a:xfrm>
            <a:off x="1543050" y="2305050"/>
            <a:ext cx="3667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13" b="1">
                <a:solidFill>
                  <a:srgbClr val="2563EB"/>
                </a:solidFill>
              </a:defRPr>
            </a:pPr>
            <a:r>
              <a:rPr lang="es-ES_tradnl" sz="1013" b="1" noProof="0" dirty="0">
                <a:solidFill>
                  <a:srgbClr val="2563EB"/>
                </a:solidFill>
              </a:rPr>
              <a:t>Permite UI reactiva sin recargar la página.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BCF645F7-A12C-455F-90D9-3FFDAF0803F2}"/>
              </a:ext>
            </a:extLst>
          </p:cNvPr>
          <p:cNvSpPr>
            <a:spLocks noGrp="1"/>
          </p:cNvSpPr>
          <p:nvPr/>
        </p:nvSpPr>
        <p:spPr>
          <a:xfrm>
            <a:off x="6057900" y="1562100"/>
            <a:ext cx="4914900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FCF88734-D35A-498C-8227-A18BE5557D8B}"/>
              </a:ext>
            </a:extLst>
          </p:cNvPr>
          <p:cNvSpPr>
            <a:spLocks noGrp="1"/>
          </p:cNvSpPr>
          <p:nvPr/>
        </p:nvSpPr>
        <p:spPr>
          <a:xfrm>
            <a:off x="6267450" y="1790700"/>
            <a:ext cx="419100" cy="41910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lang="es-ES_tradnl" sz="1125" b="1" noProof="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E517AAB-3868-431B-9BB6-2BF885B46D44}"/>
              </a:ext>
            </a:extLst>
          </p:cNvPr>
          <p:cNvSpPr>
            <a:spLocks noGrp="1"/>
          </p:cNvSpPr>
          <p:nvPr/>
        </p:nvSpPr>
        <p:spPr>
          <a:xfrm>
            <a:off x="6877050" y="1733550"/>
            <a:ext cx="3714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lang="es-ES_tradnl" sz="1500" b="1" noProof="0" dirty="0">
                <a:solidFill>
                  <a:srgbClr val="0F172A"/>
                </a:solidFill>
              </a:rPr>
              <a:t>Express REST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41419D7-1D50-4A00-A508-93CE2148599A}"/>
              </a:ext>
            </a:extLst>
          </p:cNvPr>
          <p:cNvSpPr>
            <a:spLocks noGrp="1"/>
          </p:cNvSpPr>
          <p:nvPr/>
        </p:nvSpPr>
        <p:spPr>
          <a:xfrm>
            <a:off x="6877050" y="2019300"/>
            <a:ext cx="3667125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Expone autenticación, usuarios, reportes, analítica y predicciones.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C7E3143-AF5F-49F5-BF52-E9B24942B807}"/>
              </a:ext>
            </a:extLst>
          </p:cNvPr>
          <p:cNvSpPr>
            <a:spLocks noGrp="1"/>
          </p:cNvSpPr>
          <p:nvPr/>
        </p:nvSpPr>
        <p:spPr>
          <a:xfrm>
            <a:off x="6877050" y="2305050"/>
            <a:ext cx="3667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13" b="1">
                <a:solidFill>
                  <a:srgbClr val="2563EB"/>
                </a:solidFill>
              </a:defRPr>
            </a:pPr>
            <a:r>
              <a:rPr lang="es-ES_tradnl" sz="1013" b="1" noProof="0" dirty="0">
                <a:solidFill>
                  <a:srgbClr val="2563EB"/>
                </a:solidFill>
              </a:rPr>
              <a:t>Simple, modular y suficiente para el </a:t>
            </a:r>
            <a:r>
              <a:rPr lang="es-ES_tradnl" sz="1013" b="1" noProof="0" dirty="0" err="1">
                <a:solidFill>
                  <a:srgbClr val="2563EB"/>
                </a:solidFill>
              </a:rPr>
              <a:t>backend</a:t>
            </a:r>
            <a:r>
              <a:rPr lang="es-ES_tradnl" sz="1013" b="1" noProof="0" dirty="0">
                <a:solidFill>
                  <a:srgbClr val="2563EB"/>
                </a:solidFill>
              </a:rPr>
              <a:t> actual.</a:t>
            </a:r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A5CFBD66-C8C3-4950-ACD6-E57E037CDE3B}"/>
              </a:ext>
            </a:extLst>
          </p:cNvPr>
          <p:cNvSpPr>
            <a:spLocks noGrp="1"/>
          </p:cNvSpPr>
          <p:nvPr/>
        </p:nvSpPr>
        <p:spPr>
          <a:xfrm>
            <a:off x="723900" y="2914650"/>
            <a:ext cx="4914900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A4EEDA22-4819-4043-9174-F73BF94F7362}"/>
              </a:ext>
            </a:extLst>
          </p:cNvPr>
          <p:cNvSpPr>
            <a:spLocks noGrp="1"/>
          </p:cNvSpPr>
          <p:nvPr/>
        </p:nvSpPr>
        <p:spPr>
          <a:xfrm>
            <a:off x="933450" y="3143250"/>
            <a:ext cx="419100" cy="4191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lang="es-ES_tradnl" sz="1125" b="1" noProof="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8B56F03-2923-41EF-8DD8-12806C9B2145}"/>
              </a:ext>
            </a:extLst>
          </p:cNvPr>
          <p:cNvSpPr>
            <a:spLocks noGrp="1"/>
          </p:cNvSpPr>
          <p:nvPr/>
        </p:nvSpPr>
        <p:spPr>
          <a:xfrm>
            <a:off x="1543050" y="3086100"/>
            <a:ext cx="3714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lang="es-ES_tradnl" sz="1500" b="1" noProof="0" dirty="0" err="1">
                <a:solidFill>
                  <a:srgbClr val="0F172A"/>
                </a:solidFill>
              </a:rPr>
              <a:t>Socket.IO</a:t>
            </a:r>
            <a:endParaRPr lang="es-ES_tradnl" sz="1500" b="1" noProof="0" dirty="0">
              <a:solidFill>
                <a:srgbClr val="0F172A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CD74F5E-F053-4D2E-AF05-680B80C17218}"/>
              </a:ext>
            </a:extLst>
          </p:cNvPr>
          <p:cNvSpPr>
            <a:spLocks noGrp="1"/>
          </p:cNvSpPr>
          <p:nvPr/>
        </p:nvSpPr>
        <p:spPr>
          <a:xfrm>
            <a:off x="1543050" y="3371850"/>
            <a:ext cx="3667125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Mantiene eventos en tiempo real con </a:t>
            </a:r>
            <a:r>
              <a:rPr lang="es-ES_tradnl" sz="1088" b="0" noProof="0" dirty="0" err="1">
                <a:solidFill>
                  <a:srgbClr val="64748B"/>
                </a:solidFill>
              </a:rPr>
              <a:t>fallback</a:t>
            </a:r>
            <a:r>
              <a:rPr lang="es-ES_tradnl" sz="1088" b="0" noProof="0" dirty="0">
                <a:solidFill>
                  <a:srgbClr val="64748B"/>
                </a:solidFill>
              </a:rPr>
              <a:t> de transporte.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9EB9CE87-A730-44AE-87AB-5D32EFCF38A2}"/>
              </a:ext>
            </a:extLst>
          </p:cNvPr>
          <p:cNvSpPr>
            <a:spLocks noGrp="1"/>
          </p:cNvSpPr>
          <p:nvPr/>
        </p:nvSpPr>
        <p:spPr>
          <a:xfrm>
            <a:off x="1543050" y="3657600"/>
            <a:ext cx="3667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13" b="1">
                <a:solidFill>
                  <a:srgbClr val="2563EB"/>
                </a:solidFill>
              </a:defRPr>
            </a:pPr>
            <a:r>
              <a:rPr lang="es-ES_tradnl" sz="1013" b="1" noProof="0" dirty="0">
                <a:solidFill>
                  <a:srgbClr val="2563EB"/>
                </a:solidFill>
              </a:rPr>
              <a:t>Ideal para chat, notificaciones y salas.</a:t>
            </a:r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2D790658-8B88-4A4C-A52D-3540C4FD3FCA}"/>
              </a:ext>
            </a:extLst>
          </p:cNvPr>
          <p:cNvSpPr>
            <a:spLocks noGrp="1"/>
          </p:cNvSpPr>
          <p:nvPr/>
        </p:nvSpPr>
        <p:spPr>
          <a:xfrm>
            <a:off x="6057900" y="2914650"/>
            <a:ext cx="4914900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013B8F9D-EB27-41A8-B30C-5A225E234569}"/>
              </a:ext>
            </a:extLst>
          </p:cNvPr>
          <p:cNvSpPr>
            <a:spLocks noGrp="1"/>
          </p:cNvSpPr>
          <p:nvPr/>
        </p:nvSpPr>
        <p:spPr>
          <a:xfrm>
            <a:off x="6267450" y="3143250"/>
            <a:ext cx="419100" cy="41910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lang="es-ES_tradnl" sz="1125" b="1" noProof="0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C76C0A6-7043-40ED-B3BC-166C921B4407}"/>
              </a:ext>
            </a:extLst>
          </p:cNvPr>
          <p:cNvSpPr>
            <a:spLocks noGrp="1"/>
          </p:cNvSpPr>
          <p:nvPr/>
        </p:nvSpPr>
        <p:spPr>
          <a:xfrm>
            <a:off x="6877050" y="3086100"/>
            <a:ext cx="3714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lang="es-ES_tradnl" sz="1500" b="1" noProof="0" dirty="0" err="1">
                <a:solidFill>
                  <a:srgbClr val="0F172A"/>
                </a:solidFill>
              </a:rPr>
              <a:t>WebRTC</a:t>
            </a:r>
            <a:endParaRPr lang="es-ES_tradnl" sz="1500" b="1" noProof="0" dirty="0">
              <a:solidFill>
                <a:srgbClr val="0F172A"/>
              </a:solidFill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B3693F8-15B5-4DCE-83FC-A36485E45FC5}"/>
              </a:ext>
            </a:extLst>
          </p:cNvPr>
          <p:cNvSpPr>
            <a:spLocks noGrp="1"/>
          </p:cNvSpPr>
          <p:nvPr/>
        </p:nvSpPr>
        <p:spPr>
          <a:xfrm>
            <a:off x="6877050" y="3371850"/>
            <a:ext cx="3667125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Transmite audio/video de navegador a navegador.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ADB03F01-42A0-4699-94AB-A1B7931BB886}"/>
              </a:ext>
            </a:extLst>
          </p:cNvPr>
          <p:cNvSpPr>
            <a:spLocks noGrp="1"/>
          </p:cNvSpPr>
          <p:nvPr/>
        </p:nvSpPr>
        <p:spPr>
          <a:xfrm>
            <a:off x="6877050" y="3657600"/>
            <a:ext cx="3667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13" b="1">
                <a:solidFill>
                  <a:srgbClr val="2563EB"/>
                </a:solidFill>
              </a:defRPr>
            </a:pPr>
            <a:r>
              <a:rPr lang="es-ES_tradnl" sz="1013" b="1" noProof="0" dirty="0">
                <a:solidFill>
                  <a:srgbClr val="2563EB"/>
                </a:solidFill>
              </a:rPr>
              <a:t>Menor latencia que pasar video por el servidor.</a:t>
            </a:r>
          </a:p>
        </p:txBody>
      </p:sp>
      <p:sp>
        <p:nvSpPr>
          <p:cNvPr id="27" name="Rectángulo redondeado 26">
            <a:extLst>
              <a:ext uri="{FF2B5EF4-FFF2-40B4-BE49-F238E27FC236}">
                <a16:creationId xmlns:a16="http://schemas.microsoft.com/office/drawing/2014/main" id="{E7511131-33C3-4F5E-B0AF-FC13CA5EE7C2}"/>
              </a:ext>
            </a:extLst>
          </p:cNvPr>
          <p:cNvSpPr>
            <a:spLocks noGrp="1"/>
          </p:cNvSpPr>
          <p:nvPr/>
        </p:nvSpPr>
        <p:spPr>
          <a:xfrm>
            <a:off x="723900" y="4267200"/>
            <a:ext cx="4914900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C6F2359E-D266-423B-97E5-499891FF22C4}"/>
              </a:ext>
            </a:extLst>
          </p:cNvPr>
          <p:cNvSpPr>
            <a:spLocks noGrp="1"/>
          </p:cNvSpPr>
          <p:nvPr/>
        </p:nvSpPr>
        <p:spPr>
          <a:xfrm>
            <a:off x="933450" y="4495800"/>
            <a:ext cx="419100" cy="41910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lang="es-ES_tradnl" sz="1125" b="1" noProof="0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4306398-1AA4-4086-AD7B-B71A5889BF2E}"/>
              </a:ext>
            </a:extLst>
          </p:cNvPr>
          <p:cNvSpPr>
            <a:spLocks noGrp="1"/>
          </p:cNvSpPr>
          <p:nvPr/>
        </p:nvSpPr>
        <p:spPr>
          <a:xfrm>
            <a:off x="1543050" y="4438650"/>
            <a:ext cx="3714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lang="es-ES_tradnl" sz="1500" b="1" noProof="0" dirty="0" err="1">
                <a:solidFill>
                  <a:srgbClr val="0F172A"/>
                </a:solidFill>
              </a:rPr>
              <a:t>Leaflet</a:t>
            </a:r>
            <a:r>
              <a:rPr lang="es-ES_tradnl" sz="1500" b="1" noProof="0" dirty="0">
                <a:solidFill>
                  <a:srgbClr val="0F172A"/>
                </a:solidFill>
              </a:rPr>
              <a:t> + OSRM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CF11A08-6C66-4437-86B4-1107200BAA86}"/>
              </a:ext>
            </a:extLst>
          </p:cNvPr>
          <p:cNvSpPr>
            <a:spLocks noGrp="1"/>
          </p:cNvSpPr>
          <p:nvPr/>
        </p:nvSpPr>
        <p:spPr>
          <a:xfrm>
            <a:off x="1543050" y="4724400"/>
            <a:ext cx="3667125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Visualiza reportes y calcula rutas por calles.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6B67F11A-4C00-4923-9245-753427A06B9D}"/>
              </a:ext>
            </a:extLst>
          </p:cNvPr>
          <p:cNvSpPr>
            <a:spLocks noGrp="1"/>
          </p:cNvSpPr>
          <p:nvPr/>
        </p:nvSpPr>
        <p:spPr>
          <a:xfrm>
            <a:off x="1543050" y="5010150"/>
            <a:ext cx="3667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13" b="1">
                <a:solidFill>
                  <a:srgbClr val="2563EB"/>
                </a:solidFill>
              </a:defRPr>
            </a:pPr>
            <a:r>
              <a:rPr lang="es-ES_tradnl" sz="1013" b="1" noProof="0" dirty="0">
                <a:solidFill>
                  <a:srgbClr val="2563EB"/>
                </a:solidFill>
              </a:rPr>
              <a:t>Open </a:t>
            </a:r>
            <a:r>
              <a:rPr lang="es-ES_tradnl" sz="1013" b="1" noProof="0" dirty="0" err="1">
                <a:solidFill>
                  <a:srgbClr val="2563EB"/>
                </a:solidFill>
              </a:rPr>
              <a:t>source</a:t>
            </a:r>
            <a:r>
              <a:rPr lang="es-ES_tradnl" sz="1013" b="1" noProof="0" dirty="0">
                <a:solidFill>
                  <a:srgbClr val="2563EB"/>
                </a:solidFill>
              </a:rPr>
              <a:t>, liviano y flexible.</a:t>
            </a:r>
          </a:p>
        </p:txBody>
      </p:sp>
      <p:sp>
        <p:nvSpPr>
          <p:cNvPr id="32" name="Rectángulo redondeado 31">
            <a:extLst>
              <a:ext uri="{FF2B5EF4-FFF2-40B4-BE49-F238E27FC236}">
                <a16:creationId xmlns:a16="http://schemas.microsoft.com/office/drawing/2014/main" id="{6E24A007-807B-467D-9E8C-650AE71706EA}"/>
              </a:ext>
            </a:extLst>
          </p:cNvPr>
          <p:cNvSpPr>
            <a:spLocks noGrp="1"/>
          </p:cNvSpPr>
          <p:nvPr/>
        </p:nvSpPr>
        <p:spPr>
          <a:xfrm>
            <a:off x="6057900" y="4267200"/>
            <a:ext cx="4914900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FB212659-1AD0-4AA9-9035-E5F5ADADF04B}"/>
              </a:ext>
            </a:extLst>
          </p:cNvPr>
          <p:cNvSpPr>
            <a:spLocks noGrp="1"/>
          </p:cNvSpPr>
          <p:nvPr/>
        </p:nvSpPr>
        <p:spPr>
          <a:xfrm>
            <a:off x="6267450" y="4495800"/>
            <a:ext cx="419100" cy="41910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lang="es-ES_tradnl" sz="1125" b="1" noProof="0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9C2F46D5-503D-457E-89C8-F6F4DAEDCD64}"/>
              </a:ext>
            </a:extLst>
          </p:cNvPr>
          <p:cNvSpPr>
            <a:spLocks noGrp="1"/>
          </p:cNvSpPr>
          <p:nvPr/>
        </p:nvSpPr>
        <p:spPr>
          <a:xfrm>
            <a:off x="6877050" y="4438650"/>
            <a:ext cx="3714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lang="es-ES_tradnl" sz="1500" b="1" noProof="0" dirty="0">
                <a:solidFill>
                  <a:srgbClr val="0F172A"/>
                </a:solidFill>
              </a:rPr>
              <a:t>Worker </a:t>
            </a:r>
            <a:r>
              <a:rPr lang="es-ES_tradnl" sz="1500" b="1" noProof="0" dirty="0" err="1">
                <a:solidFill>
                  <a:srgbClr val="0F172A"/>
                </a:solidFill>
              </a:rPr>
              <a:t>Threads</a:t>
            </a:r>
            <a:endParaRPr lang="es-ES_tradnl" sz="1500" b="1" noProof="0" dirty="0">
              <a:solidFill>
                <a:srgbClr val="0F172A"/>
              </a:solidFill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B9698FB-B71E-4F33-A24F-5F424EA029D6}"/>
              </a:ext>
            </a:extLst>
          </p:cNvPr>
          <p:cNvSpPr>
            <a:spLocks noGrp="1"/>
          </p:cNvSpPr>
          <p:nvPr/>
        </p:nvSpPr>
        <p:spPr>
          <a:xfrm>
            <a:off x="6877050" y="4724400"/>
            <a:ext cx="3667125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Procesa gravedad en segundo plano.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21BFC554-2A13-4B3B-A7F2-8BFA1F847839}"/>
              </a:ext>
            </a:extLst>
          </p:cNvPr>
          <p:cNvSpPr>
            <a:spLocks noGrp="1"/>
          </p:cNvSpPr>
          <p:nvPr/>
        </p:nvSpPr>
        <p:spPr>
          <a:xfrm>
            <a:off x="6877050" y="5010150"/>
            <a:ext cx="3667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13" b="1">
                <a:solidFill>
                  <a:srgbClr val="2563EB"/>
                </a:solidFill>
              </a:defRPr>
            </a:pPr>
            <a:r>
              <a:rPr lang="es-ES_tradnl" sz="1013" b="1" noProof="0" dirty="0">
                <a:solidFill>
                  <a:srgbClr val="2563EB"/>
                </a:solidFill>
              </a:rPr>
              <a:t>Evita bloquear el hilo principal de Node.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C98511C-50BF-4541-B28F-16E9741E5106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lang="es-ES_tradnl" sz="750" b="1" noProof="0" dirty="0">
                <a:solidFill>
                  <a:srgbClr val="64748B"/>
                </a:solidFill>
              </a:rPr>
              <a:t>EMERGENCIAS TECH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C4DB368B-A00C-4347-ABD0-1CE7A9698E49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lang="es-ES_tradnl" sz="900" b="1" noProof="0" dirty="0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6170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ángulo 40">
            <a:extLst>
              <a:ext uri="{FF2B5EF4-FFF2-40B4-BE49-F238E27FC236}">
                <a16:creationId xmlns:a16="http://schemas.microsoft.com/office/drawing/2014/main" id="{60169997-9B7C-4B1D-8C95-19827A1499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A593440-F120-4471-95B8-EA8660515D92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0" b="1">
                <a:solidFill>
                  <a:srgbClr val="2563EB"/>
                </a:solidFill>
              </a:defRPr>
            </a:pPr>
            <a:r>
              <a:rPr lang="es-ES_tradnl" sz="900" b="1" noProof="0" dirty="0">
                <a:solidFill>
                  <a:srgbClr val="2563EB"/>
                </a:solidFill>
              </a:rPr>
              <a:t>FUNCIONALIDADES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1AA3870-534E-44B3-A5AC-4639075472BE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88582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lang="es-ES_tradnl" sz="2250" b="1" noProof="0" dirty="0">
                <a:solidFill>
                  <a:srgbClr val="0F172A"/>
                </a:solidFill>
              </a:rPr>
              <a:t>Módulos que convierten un reporte en operación coordinada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0C79B52-E303-4E43-955A-03C7EB6FF636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El usuario reporta; el operador prioriza; el sistema asigna, notifica y acompaña el caso.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2D736E3-85D6-4C5F-9C07-9C0D868E2E5A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lang="es-ES_tradnl" sz="750" b="1" noProof="0" dirty="0">
                <a:solidFill>
                  <a:srgbClr val="64748B"/>
                </a:solidFill>
              </a:rPr>
              <a:t>EMERGENCIAS TECH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ADE106E-ADB2-4187-ABA7-FA730119712C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lang="es-ES_tradnl" sz="900" b="1" noProof="0" dirty="0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3CBEE838-B65C-4D5B-8CEA-9253BB6C6162}"/>
              </a:ext>
            </a:extLst>
          </p:cNvPr>
          <p:cNvSpPr>
            <a:spLocks noGrp="1"/>
          </p:cNvSpPr>
          <p:nvPr/>
        </p:nvSpPr>
        <p:spPr>
          <a:xfrm>
            <a:off x="742950" y="1581150"/>
            <a:ext cx="2324100" cy="1428750"/>
          </a:xfrm>
          <a:prstGeom prst="roundRect">
            <a:avLst>
              <a:gd name="adj" fmla="val 8000"/>
            </a:avLst>
          </a:prstGeom>
          <a:solidFill>
            <a:srgbClr val="F0F7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9E21EA7-7BD7-407E-A449-A5EDB5F21A89}"/>
              </a:ext>
            </a:extLst>
          </p:cNvPr>
          <p:cNvSpPr>
            <a:spLocks noGrp="1"/>
          </p:cNvSpPr>
          <p:nvPr/>
        </p:nvSpPr>
        <p:spPr>
          <a:xfrm>
            <a:off x="952500" y="1790700"/>
            <a:ext cx="438150" cy="43815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lang="es-ES_tradnl" sz="1200" b="1" noProof="0" dirty="0">
                <a:solidFill>
                  <a:srgbClr val="FFFFFF"/>
                </a:solidFill>
              </a:rPr>
              <a:t>AU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1BBD35-0431-45FA-8125-9DB69E472F48}"/>
              </a:ext>
            </a:extLst>
          </p:cNvPr>
          <p:cNvSpPr>
            <a:spLocks noGrp="1"/>
          </p:cNvSpPr>
          <p:nvPr/>
        </p:nvSpPr>
        <p:spPr>
          <a:xfrm>
            <a:off x="1524000" y="1809750"/>
            <a:ext cx="12382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lang="es-ES_tradnl" sz="1500" b="1" noProof="0" dirty="0">
                <a:solidFill>
                  <a:srgbClr val="0F172A"/>
                </a:solidFill>
              </a:rPr>
              <a:t>Auth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D5797A1-2C48-4D24-A585-6F642429DEA8}"/>
              </a:ext>
            </a:extLst>
          </p:cNvPr>
          <p:cNvSpPr>
            <a:spLocks noGrp="1"/>
          </p:cNvSpPr>
          <p:nvPr/>
        </p:nvSpPr>
        <p:spPr>
          <a:xfrm>
            <a:off x="952500" y="2362200"/>
            <a:ext cx="1809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lang="es-ES_tradnl" sz="1125" b="0" noProof="0" dirty="0">
                <a:solidFill>
                  <a:srgbClr val="64748B"/>
                </a:solidFill>
              </a:rPr>
              <a:t>Registro, </a:t>
            </a:r>
            <a:r>
              <a:rPr lang="es-ES_tradnl" sz="1125" b="0" noProof="0" dirty="0" err="1">
                <a:solidFill>
                  <a:srgbClr val="64748B"/>
                </a:solidFill>
              </a:rPr>
              <a:t>login</a:t>
            </a:r>
            <a:r>
              <a:rPr lang="es-ES_tradnl" sz="1125" b="0" noProof="0" dirty="0">
                <a:solidFill>
                  <a:srgbClr val="64748B"/>
                </a:solidFill>
              </a:rPr>
              <a:t> local, Google y JWT.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212B4331-DD27-4FC8-B30F-27E61F2E0615}"/>
              </a:ext>
            </a:extLst>
          </p:cNvPr>
          <p:cNvSpPr>
            <a:spLocks noGrp="1"/>
          </p:cNvSpPr>
          <p:nvPr/>
        </p:nvSpPr>
        <p:spPr>
          <a:xfrm>
            <a:off x="3409950" y="1581150"/>
            <a:ext cx="23241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897952E-F2C2-47FE-9102-9CB731480F92}"/>
              </a:ext>
            </a:extLst>
          </p:cNvPr>
          <p:cNvSpPr>
            <a:spLocks noGrp="1"/>
          </p:cNvSpPr>
          <p:nvPr/>
        </p:nvSpPr>
        <p:spPr>
          <a:xfrm>
            <a:off x="3619500" y="1790700"/>
            <a:ext cx="438150" cy="43815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lang="es-ES_tradnl" sz="1200" b="1" noProof="0" dirty="0">
                <a:solidFill>
                  <a:srgbClr val="FFFFFF"/>
                </a:solidFill>
              </a:rPr>
              <a:t>RO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4429E6D-1172-4906-A897-9F59C8A5BE83}"/>
              </a:ext>
            </a:extLst>
          </p:cNvPr>
          <p:cNvSpPr>
            <a:spLocks noGrp="1"/>
          </p:cNvSpPr>
          <p:nvPr/>
        </p:nvSpPr>
        <p:spPr>
          <a:xfrm>
            <a:off x="4191000" y="1809750"/>
            <a:ext cx="12382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lang="es-ES_tradnl" sz="1500" b="1" noProof="0" dirty="0">
                <a:solidFill>
                  <a:srgbClr val="0F172A"/>
                </a:solidFill>
              </a:rPr>
              <a:t>Roles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D3E7311-B4B1-4D36-9F65-91BE321DC6F5}"/>
              </a:ext>
            </a:extLst>
          </p:cNvPr>
          <p:cNvSpPr>
            <a:spLocks noGrp="1"/>
          </p:cNvSpPr>
          <p:nvPr/>
        </p:nvSpPr>
        <p:spPr>
          <a:xfrm>
            <a:off x="3619500" y="2362200"/>
            <a:ext cx="1809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lang="es-ES_tradnl" sz="1125" b="0" noProof="0" dirty="0">
                <a:solidFill>
                  <a:srgbClr val="64748B"/>
                </a:solidFill>
              </a:rPr>
              <a:t>Usuario, operador, administrador y unidades.</a:t>
            </a:r>
          </a:p>
        </p:txBody>
      </p:sp>
      <p:sp>
        <p:nvSpPr>
          <p:cNvPr id="15" name="Rectángulo redondeado 14">
            <a:extLst>
              <a:ext uri="{FF2B5EF4-FFF2-40B4-BE49-F238E27FC236}">
                <a16:creationId xmlns:a16="http://schemas.microsoft.com/office/drawing/2014/main" id="{5EFE7897-9831-491C-BE2F-13E45E94E93A}"/>
              </a:ext>
            </a:extLst>
          </p:cNvPr>
          <p:cNvSpPr>
            <a:spLocks noGrp="1"/>
          </p:cNvSpPr>
          <p:nvPr/>
        </p:nvSpPr>
        <p:spPr>
          <a:xfrm>
            <a:off x="6076950" y="1581150"/>
            <a:ext cx="2324100" cy="1428750"/>
          </a:xfrm>
          <a:prstGeom prst="roundRect">
            <a:avLst>
              <a:gd name="adj" fmla="val 8000"/>
            </a:avLst>
          </a:prstGeom>
          <a:solidFill>
            <a:srgbClr val="F0F7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9161A62-4EEA-4F33-BBE7-A2ADFA28C8B9}"/>
              </a:ext>
            </a:extLst>
          </p:cNvPr>
          <p:cNvSpPr>
            <a:spLocks noGrp="1"/>
          </p:cNvSpPr>
          <p:nvPr/>
        </p:nvSpPr>
        <p:spPr>
          <a:xfrm>
            <a:off x="6286500" y="1790700"/>
            <a:ext cx="438150" cy="43815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lang="es-ES_tradnl" sz="1200" b="1" noProof="0" dirty="0">
                <a:solidFill>
                  <a:srgbClr val="FFFFFF"/>
                </a:solidFill>
              </a:rPr>
              <a:t>RE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6E76D21-F741-4073-AB29-83DB26B22FC1}"/>
              </a:ext>
            </a:extLst>
          </p:cNvPr>
          <p:cNvSpPr>
            <a:spLocks noGrp="1"/>
          </p:cNvSpPr>
          <p:nvPr/>
        </p:nvSpPr>
        <p:spPr>
          <a:xfrm>
            <a:off x="6858000" y="1809750"/>
            <a:ext cx="12382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lang="es-ES_tradnl" sz="1500" b="1" noProof="0" dirty="0">
                <a:solidFill>
                  <a:srgbClr val="0F172A"/>
                </a:solidFill>
              </a:rPr>
              <a:t>Reportes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6B66BAA-8A3F-444B-BF10-589D3DCDA7A5}"/>
              </a:ext>
            </a:extLst>
          </p:cNvPr>
          <p:cNvSpPr>
            <a:spLocks noGrp="1"/>
          </p:cNvSpPr>
          <p:nvPr/>
        </p:nvSpPr>
        <p:spPr>
          <a:xfrm>
            <a:off x="6286500" y="2362200"/>
            <a:ext cx="1809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lang="es-ES_tradnl" sz="1125" b="0" noProof="0" dirty="0">
                <a:solidFill>
                  <a:srgbClr val="64748B"/>
                </a:solidFill>
              </a:rPr>
              <a:t>Tipo, descripción, evidencia y ubicación.</a:t>
            </a:r>
          </a:p>
        </p:txBody>
      </p:sp>
      <p:sp>
        <p:nvSpPr>
          <p:cNvPr id="19" name="Rectángulo redondeado 18">
            <a:extLst>
              <a:ext uri="{FF2B5EF4-FFF2-40B4-BE49-F238E27FC236}">
                <a16:creationId xmlns:a16="http://schemas.microsoft.com/office/drawing/2014/main" id="{3F81B64F-1823-42EC-9759-013C8AE34369}"/>
              </a:ext>
            </a:extLst>
          </p:cNvPr>
          <p:cNvSpPr>
            <a:spLocks noGrp="1"/>
          </p:cNvSpPr>
          <p:nvPr/>
        </p:nvSpPr>
        <p:spPr>
          <a:xfrm>
            <a:off x="8743950" y="1581150"/>
            <a:ext cx="23241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9123B7E0-D0ED-4BE8-A54C-CF903F067E94}"/>
              </a:ext>
            </a:extLst>
          </p:cNvPr>
          <p:cNvSpPr>
            <a:spLocks noGrp="1"/>
          </p:cNvSpPr>
          <p:nvPr/>
        </p:nvSpPr>
        <p:spPr>
          <a:xfrm>
            <a:off x="8953500" y="1790700"/>
            <a:ext cx="438150" cy="43815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lang="es-ES_tradnl" sz="1200" b="1" noProof="0" dirty="0">
                <a:solidFill>
                  <a:srgbClr val="FFFFFF"/>
                </a:solidFill>
              </a:rPr>
              <a:t>MA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6271B9D-CDFE-48EA-BC9E-CCB5C6AC3684}"/>
              </a:ext>
            </a:extLst>
          </p:cNvPr>
          <p:cNvSpPr>
            <a:spLocks noGrp="1"/>
          </p:cNvSpPr>
          <p:nvPr/>
        </p:nvSpPr>
        <p:spPr>
          <a:xfrm>
            <a:off x="9525000" y="1809750"/>
            <a:ext cx="12382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lang="es-ES_tradnl" sz="1500" b="1" noProof="0" dirty="0">
                <a:solidFill>
                  <a:srgbClr val="0F172A"/>
                </a:solidFill>
              </a:rPr>
              <a:t>Mapa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3E2D697-DA07-4B7B-AD43-3257594C383D}"/>
              </a:ext>
            </a:extLst>
          </p:cNvPr>
          <p:cNvSpPr>
            <a:spLocks noGrp="1"/>
          </p:cNvSpPr>
          <p:nvPr/>
        </p:nvSpPr>
        <p:spPr>
          <a:xfrm>
            <a:off x="8953500" y="2362200"/>
            <a:ext cx="1809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lang="es-ES_tradnl" sz="1125" b="0" noProof="0" dirty="0">
                <a:solidFill>
                  <a:srgbClr val="64748B"/>
                </a:solidFill>
              </a:rPr>
              <a:t>Marcadores, rutas, unidad cercana y animación.</a:t>
            </a:r>
          </a:p>
        </p:txBody>
      </p:sp>
      <p:sp>
        <p:nvSpPr>
          <p:cNvPr id="23" name="Rectángulo redondeado 22">
            <a:extLst>
              <a:ext uri="{FF2B5EF4-FFF2-40B4-BE49-F238E27FC236}">
                <a16:creationId xmlns:a16="http://schemas.microsoft.com/office/drawing/2014/main" id="{5511F6E7-A978-4CA2-A535-1605F478737A}"/>
              </a:ext>
            </a:extLst>
          </p:cNvPr>
          <p:cNvSpPr>
            <a:spLocks noGrp="1"/>
          </p:cNvSpPr>
          <p:nvPr/>
        </p:nvSpPr>
        <p:spPr>
          <a:xfrm>
            <a:off x="742950" y="3409950"/>
            <a:ext cx="2324100" cy="1428750"/>
          </a:xfrm>
          <a:prstGeom prst="roundRect">
            <a:avLst>
              <a:gd name="adj" fmla="val 8000"/>
            </a:avLst>
          </a:prstGeom>
          <a:solidFill>
            <a:srgbClr val="F0F7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C18FEFF9-E36F-4EC9-ABC7-21433F7DC648}"/>
              </a:ext>
            </a:extLst>
          </p:cNvPr>
          <p:cNvSpPr>
            <a:spLocks noGrp="1"/>
          </p:cNvSpPr>
          <p:nvPr/>
        </p:nvSpPr>
        <p:spPr>
          <a:xfrm>
            <a:off x="952500" y="3619500"/>
            <a:ext cx="438150" cy="43815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lang="es-ES_tradnl" sz="1200" b="1" noProof="0" dirty="0">
                <a:solidFill>
                  <a:srgbClr val="FFFFFF"/>
                </a:solidFill>
              </a:rPr>
              <a:t>CH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6746D87B-1B11-42FF-9313-82DBB98C7D96}"/>
              </a:ext>
            </a:extLst>
          </p:cNvPr>
          <p:cNvSpPr>
            <a:spLocks noGrp="1"/>
          </p:cNvSpPr>
          <p:nvPr/>
        </p:nvSpPr>
        <p:spPr>
          <a:xfrm>
            <a:off x="1524000" y="3638550"/>
            <a:ext cx="12382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lang="es-ES_tradnl" sz="1500" b="1" noProof="0" dirty="0">
                <a:solidFill>
                  <a:srgbClr val="0F172A"/>
                </a:solidFill>
              </a:rPr>
              <a:t>Chat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C3292B5C-01E1-472C-BA50-48F8CA3CD65D}"/>
              </a:ext>
            </a:extLst>
          </p:cNvPr>
          <p:cNvSpPr>
            <a:spLocks noGrp="1"/>
          </p:cNvSpPr>
          <p:nvPr/>
        </p:nvSpPr>
        <p:spPr>
          <a:xfrm>
            <a:off x="952500" y="4191000"/>
            <a:ext cx="1809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lang="es-ES_tradnl" sz="1125" b="0" noProof="0" dirty="0">
                <a:solidFill>
                  <a:srgbClr val="64748B"/>
                </a:solidFill>
              </a:rPr>
              <a:t>Sala por emergencia, multimedia e historial.</a:t>
            </a:r>
          </a:p>
        </p:txBody>
      </p:sp>
      <p:sp>
        <p:nvSpPr>
          <p:cNvPr id="27" name="Rectángulo redondeado 26">
            <a:extLst>
              <a:ext uri="{FF2B5EF4-FFF2-40B4-BE49-F238E27FC236}">
                <a16:creationId xmlns:a16="http://schemas.microsoft.com/office/drawing/2014/main" id="{E0FB5AD7-905C-4C78-8B3A-32C9644E825D}"/>
              </a:ext>
            </a:extLst>
          </p:cNvPr>
          <p:cNvSpPr>
            <a:spLocks noGrp="1"/>
          </p:cNvSpPr>
          <p:nvPr/>
        </p:nvSpPr>
        <p:spPr>
          <a:xfrm>
            <a:off x="3409950" y="3409950"/>
            <a:ext cx="23241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F317A35D-3E40-4814-8FEB-1F35E15E66B0}"/>
              </a:ext>
            </a:extLst>
          </p:cNvPr>
          <p:cNvSpPr>
            <a:spLocks noGrp="1"/>
          </p:cNvSpPr>
          <p:nvPr/>
        </p:nvSpPr>
        <p:spPr>
          <a:xfrm>
            <a:off x="3619500" y="3619500"/>
            <a:ext cx="438150" cy="43815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lang="es-ES_tradnl" sz="1200" b="1" noProof="0" dirty="0">
                <a:solidFill>
                  <a:srgbClr val="FFFFFF"/>
                </a:solidFill>
              </a:rPr>
              <a:t>VI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49153F46-403A-4CC0-B3A6-C5B343842F10}"/>
              </a:ext>
            </a:extLst>
          </p:cNvPr>
          <p:cNvSpPr>
            <a:spLocks noGrp="1"/>
          </p:cNvSpPr>
          <p:nvPr/>
        </p:nvSpPr>
        <p:spPr>
          <a:xfrm>
            <a:off x="4191000" y="3638550"/>
            <a:ext cx="12382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lang="es-ES_tradnl" sz="1500" b="1" noProof="0" dirty="0">
                <a:solidFill>
                  <a:srgbClr val="0F172A"/>
                </a:solidFill>
              </a:rPr>
              <a:t>Video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AD7FC2B9-092D-4F84-9704-FAF1A882A55D}"/>
              </a:ext>
            </a:extLst>
          </p:cNvPr>
          <p:cNvSpPr>
            <a:spLocks noGrp="1"/>
          </p:cNvSpPr>
          <p:nvPr/>
        </p:nvSpPr>
        <p:spPr>
          <a:xfrm>
            <a:off x="3619500" y="4191000"/>
            <a:ext cx="1809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lang="es-ES_tradnl" sz="1125" b="0" noProof="0" dirty="0" err="1">
                <a:solidFill>
                  <a:srgbClr val="64748B"/>
                </a:solidFill>
              </a:rPr>
              <a:t>WebRTC</a:t>
            </a:r>
            <a:r>
              <a:rPr lang="es-ES_tradnl" sz="1125" b="0" noProof="0" dirty="0">
                <a:solidFill>
                  <a:srgbClr val="64748B"/>
                </a:solidFill>
              </a:rPr>
              <a:t> con señalización por </a:t>
            </a:r>
            <a:r>
              <a:rPr lang="es-ES_tradnl" sz="1125" b="0" noProof="0" dirty="0" err="1">
                <a:solidFill>
                  <a:srgbClr val="64748B"/>
                </a:solidFill>
              </a:rPr>
              <a:t>Socket.IO</a:t>
            </a:r>
            <a:r>
              <a:rPr lang="es-ES_tradnl" sz="1125" b="0" noProof="0" dirty="0">
                <a:solidFill>
                  <a:srgbClr val="64748B"/>
                </a:solidFill>
              </a:rPr>
              <a:t>.</a:t>
            </a:r>
          </a:p>
        </p:txBody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8FDD6A41-56A0-48A3-9962-A6BE7C18385E}"/>
              </a:ext>
            </a:extLst>
          </p:cNvPr>
          <p:cNvSpPr>
            <a:spLocks noGrp="1"/>
          </p:cNvSpPr>
          <p:nvPr/>
        </p:nvSpPr>
        <p:spPr>
          <a:xfrm>
            <a:off x="6076950" y="3409950"/>
            <a:ext cx="2324100" cy="1428750"/>
          </a:xfrm>
          <a:prstGeom prst="roundRect">
            <a:avLst>
              <a:gd name="adj" fmla="val 8000"/>
            </a:avLst>
          </a:prstGeom>
          <a:solidFill>
            <a:srgbClr val="F0F7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D7A32B5A-5DD3-468A-8D49-5487004BBF34}"/>
              </a:ext>
            </a:extLst>
          </p:cNvPr>
          <p:cNvSpPr>
            <a:spLocks noGrp="1"/>
          </p:cNvSpPr>
          <p:nvPr/>
        </p:nvSpPr>
        <p:spPr>
          <a:xfrm>
            <a:off x="6286500" y="3619500"/>
            <a:ext cx="438150" cy="438150"/>
          </a:xfrm>
          <a:prstGeom prst="ellipse">
            <a:avLst/>
          </a:prstGeom>
          <a:solidFill>
            <a:srgbClr val="102B55"/>
          </a:solidFill>
          <a:ln w="0">
            <a:noFill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lang="es-ES_tradnl" sz="1200" b="1" noProof="0" dirty="0">
                <a:solidFill>
                  <a:srgbClr val="FFFFFF"/>
                </a:solidFill>
              </a:rPr>
              <a:t>MO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812A860A-0068-49FE-BA45-0F2C0F3E7F04}"/>
              </a:ext>
            </a:extLst>
          </p:cNvPr>
          <p:cNvSpPr>
            <a:spLocks noGrp="1"/>
          </p:cNvSpPr>
          <p:nvPr/>
        </p:nvSpPr>
        <p:spPr>
          <a:xfrm>
            <a:off x="6858000" y="3638550"/>
            <a:ext cx="12382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lang="es-ES_tradnl" sz="1500" b="1" noProof="0" dirty="0">
                <a:solidFill>
                  <a:srgbClr val="0F172A"/>
                </a:solidFill>
              </a:rPr>
              <a:t>Monitor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808503FE-E8F6-4D73-BBDC-4CBA81DE4376}"/>
              </a:ext>
            </a:extLst>
          </p:cNvPr>
          <p:cNvSpPr>
            <a:spLocks noGrp="1"/>
          </p:cNvSpPr>
          <p:nvPr/>
        </p:nvSpPr>
        <p:spPr>
          <a:xfrm>
            <a:off x="6286500" y="4191000"/>
            <a:ext cx="1809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lang="es-ES_tradnl" sz="1125" b="0" noProof="0" dirty="0">
                <a:solidFill>
                  <a:srgbClr val="64748B"/>
                </a:solidFill>
              </a:rPr>
              <a:t>Estados, notificaciones y tablero operativo.</a:t>
            </a:r>
          </a:p>
        </p:txBody>
      </p:sp>
      <p:sp>
        <p:nvSpPr>
          <p:cNvPr id="35" name="Rectángulo redondeado 34">
            <a:extLst>
              <a:ext uri="{FF2B5EF4-FFF2-40B4-BE49-F238E27FC236}">
                <a16:creationId xmlns:a16="http://schemas.microsoft.com/office/drawing/2014/main" id="{83F96AED-A0E5-4B4A-909D-9F7E4CD365D8}"/>
              </a:ext>
            </a:extLst>
          </p:cNvPr>
          <p:cNvSpPr>
            <a:spLocks noGrp="1"/>
          </p:cNvSpPr>
          <p:nvPr/>
        </p:nvSpPr>
        <p:spPr>
          <a:xfrm>
            <a:off x="8743950" y="3409950"/>
            <a:ext cx="23241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0E0D3B56-1C90-4669-B079-B94C7ADECEFC}"/>
              </a:ext>
            </a:extLst>
          </p:cNvPr>
          <p:cNvSpPr>
            <a:spLocks noGrp="1"/>
          </p:cNvSpPr>
          <p:nvPr/>
        </p:nvSpPr>
        <p:spPr>
          <a:xfrm>
            <a:off x="8953500" y="3619500"/>
            <a:ext cx="438150" cy="43815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lang="es-ES_tradnl" sz="1200" b="1" noProof="0" dirty="0">
                <a:solidFill>
                  <a:srgbClr val="FFFFFF"/>
                </a:solidFill>
              </a:rPr>
              <a:t>KP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14971554-F882-42FD-8E84-6D22F38DE425}"/>
              </a:ext>
            </a:extLst>
          </p:cNvPr>
          <p:cNvSpPr>
            <a:spLocks noGrp="1"/>
          </p:cNvSpPr>
          <p:nvPr/>
        </p:nvSpPr>
        <p:spPr>
          <a:xfrm>
            <a:off x="9525000" y="3638550"/>
            <a:ext cx="12382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lang="es-ES_tradnl" sz="1500" b="1" noProof="0" dirty="0">
                <a:solidFill>
                  <a:srgbClr val="0F172A"/>
                </a:solidFill>
              </a:rPr>
              <a:t>KPI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37FA2D6E-200B-495C-AA27-69CBB0A77640}"/>
              </a:ext>
            </a:extLst>
          </p:cNvPr>
          <p:cNvSpPr>
            <a:spLocks noGrp="1"/>
          </p:cNvSpPr>
          <p:nvPr/>
        </p:nvSpPr>
        <p:spPr>
          <a:xfrm>
            <a:off x="8953500" y="4191000"/>
            <a:ext cx="1809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lang="es-ES_tradnl" sz="1125" b="0" noProof="0" dirty="0">
                <a:solidFill>
                  <a:srgbClr val="64748B"/>
                </a:solidFill>
              </a:rPr>
              <a:t>Analítica protegida para operador/</a:t>
            </a:r>
            <a:r>
              <a:rPr lang="es-ES_tradnl" sz="1125" b="0" noProof="0" dirty="0" err="1">
                <a:solidFill>
                  <a:srgbClr val="64748B"/>
                </a:solidFill>
              </a:rPr>
              <a:t>admin</a:t>
            </a:r>
            <a:r>
              <a:rPr lang="es-ES_tradnl" sz="1125" b="0" noProof="0" dirty="0">
                <a:solidFill>
                  <a:srgbClr val="64748B"/>
                </a:solidFill>
              </a:rPr>
              <a:t>.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8CC38861-D0E4-48B5-9F8A-5AAF4FBDF73B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lang="es-ES_tradnl" sz="750" b="1" noProof="0" dirty="0">
                <a:solidFill>
                  <a:srgbClr val="64748B"/>
                </a:solidFill>
              </a:rPr>
              <a:t>EMERGENCIAS TECH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6FC1218A-DE3B-49C8-B949-A96ED886A9A1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lang="es-ES_tradnl" sz="900" b="1" noProof="0" dirty="0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3384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23DAE623-36C8-411C-AA16-D3B225B286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4DC55AB-AF16-4617-A55A-BDBBEF3D41AC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0" b="1">
                <a:solidFill>
                  <a:srgbClr val="2563EB"/>
                </a:solidFill>
              </a:defRPr>
            </a:pPr>
            <a:r>
              <a:rPr lang="es-ES_tradnl" sz="900" b="1" noProof="0" dirty="0">
                <a:solidFill>
                  <a:srgbClr val="2563EB"/>
                </a:solidFill>
              </a:rPr>
              <a:t>FLUJO DE OPERACIÓN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BB131BE-FF4B-44E6-8966-FFFFAF0D19F5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88582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550" b="1">
                <a:solidFill>
                  <a:srgbClr val="0F172A"/>
                </a:solidFill>
              </a:defRPr>
            </a:pPr>
            <a:r>
              <a:rPr lang="es-ES_tradnl" sz="2550" b="1" noProof="0" dirty="0">
                <a:solidFill>
                  <a:srgbClr val="0F172A"/>
                </a:solidFill>
              </a:rPr>
              <a:t>Del ingreso del usuario al cierre del caso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580733C-E971-461D-B004-840AB1A54CF7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El flujo combina validaciones de seguridad, creación de reporte, asignación geográfica y sincronización en tiempo real.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CCA6178-1280-4F21-BF01-4611CFA0542C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lang="es-ES_tradnl" sz="750" b="1" noProof="0" dirty="0">
                <a:solidFill>
                  <a:srgbClr val="64748B"/>
                </a:solidFill>
              </a:rPr>
              <a:t>EMERGENCIAS TECH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55A6557-D55B-479B-B358-292D04726B5F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lang="es-ES_tradnl" sz="900" b="1" noProof="0" dirty="0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97B1F643-AA1C-4107-B0EB-BC98730FCF4D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2238375" cy="1257300"/>
          </a:xfrm>
          <a:prstGeom prst="roundRect">
            <a:avLst>
              <a:gd name="adj" fmla="val 7576"/>
            </a:avLst>
          </a:prstGeom>
          <a:solidFill>
            <a:srgbClr val="F0F7FF"/>
          </a:solidFill>
          <a:ln w="9525">
            <a:solidFill>
              <a:srgbClr val="CFE0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B4E89FE-B9E3-47B6-BEC2-ED564370BE91}"/>
              </a:ext>
            </a:extLst>
          </p:cNvPr>
          <p:cNvSpPr>
            <a:spLocks noGrp="1"/>
          </p:cNvSpPr>
          <p:nvPr/>
        </p:nvSpPr>
        <p:spPr>
          <a:xfrm>
            <a:off x="914400" y="1790700"/>
            <a:ext cx="400050" cy="40005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lang="es-ES_tradnl" sz="1050" b="1" noProof="0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DD091E9-8FF3-4C4E-AAF7-BC87E117989F}"/>
              </a:ext>
            </a:extLst>
          </p:cNvPr>
          <p:cNvSpPr>
            <a:spLocks noGrp="1"/>
          </p:cNvSpPr>
          <p:nvPr/>
        </p:nvSpPr>
        <p:spPr>
          <a:xfrm>
            <a:off x="1409700" y="1809750"/>
            <a:ext cx="13335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1">
                <a:solidFill>
                  <a:srgbClr val="0F172A"/>
                </a:solidFill>
              </a:defRPr>
            </a:pPr>
            <a:r>
              <a:rPr lang="es-ES_tradnl" sz="1425" b="1" noProof="0" dirty="0">
                <a:solidFill>
                  <a:srgbClr val="0F172A"/>
                </a:solidFill>
              </a:rPr>
              <a:t>Reporte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53FEBCC-594B-4E3E-ABCA-4CDAA5F06078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1857375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Ciudadano registra tipo, descripción y ubicación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62030634-E668-4ABD-9314-C37324DF198D}"/>
              </a:ext>
            </a:extLst>
          </p:cNvPr>
          <p:cNvSpPr>
            <a:spLocks noGrp="1"/>
          </p:cNvSpPr>
          <p:nvPr/>
        </p:nvSpPr>
        <p:spPr>
          <a:xfrm>
            <a:off x="3362325" y="1619250"/>
            <a:ext cx="2238375" cy="125730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CFE0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8BF1CF0-8AB0-4742-8D82-43E4F955E58D}"/>
              </a:ext>
            </a:extLst>
          </p:cNvPr>
          <p:cNvSpPr>
            <a:spLocks noGrp="1"/>
          </p:cNvSpPr>
          <p:nvPr/>
        </p:nvSpPr>
        <p:spPr>
          <a:xfrm>
            <a:off x="3533775" y="1790700"/>
            <a:ext cx="400050" cy="40005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lang="es-ES_tradnl" sz="1050" b="1" noProof="0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92E77D7-D138-4CAF-A27E-DD79A4011F68}"/>
              </a:ext>
            </a:extLst>
          </p:cNvPr>
          <p:cNvSpPr>
            <a:spLocks noGrp="1"/>
          </p:cNvSpPr>
          <p:nvPr/>
        </p:nvSpPr>
        <p:spPr>
          <a:xfrm>
            <a:off x="4029075" y="1809750"/>
            <a:ext cx="13335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1">
                <a:solidFill>
                  <a:srgbClr val="0F172A"/>
                </a:solidFill>
              </a:defRPr>
            </a:pPr>
            <a:r>
              <a:rPr lang="es-ES_tradnl" sz="1425" b="1" noProof="0" dirty="0">
                <a:solidFill>
                  <a:srgbClr val="0F172A"/>
                </a:solidFill>
              </a:rPr>
              <a:t>Asignación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532D699-4EC2-4D56-9063-47EE60B09F5B}"/>
              </a:ext>
            </a:extLst>
          </p:cNvPr>
          <p:cNvSpPr>
            <a:spLocks noGrp="1"/>
          </p:cNvSpPr>
          <p:nvPr/>
        </p:nvSpPr>
        <p:spPr>
          <a:xfrm>
            <a:off x="3533775" y="2266950"/>
            <a:ext cx="1857375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Se calcula unidad cercana según tipo de emergencia</a:t>
            </a:r>
          </a:p>
        </p:txBody>
      </p:sp>
      <p:cxnSp>
        <p:nvCxnSpPr>
          <p:cNvPr id="53" name="Conector recto de flecha 52"/>
          <p:cNvCxnSpPr>
            <a:stCxn id="7" idx="3"/>
            <a:endCxn id="11" idx="1"/>
          </p:cNvCxnSpPr>
          <p:nvPr/>
        </p:nvCxnSpPr>
        <p:spPr>
          <a:xfrm>
            <a:off x="2981325" y="2247900"/>
            <a:ext cx="381000" cy="0"/>
          </a:xfrm>
          <a:prstGeom prst="straightConnector1">
            <a:avLst/>
          </a:prstGeom>
          <a:ln w="19050">
            <a:solidFill>
              <a:srgbClr val="0EA5E9"/>
            </a:solidFill>
            <a:prstDash val="solid"/>
            <a:tailEnd type="arrow" w="med" len="med"/>
          </a:ln>
        </p:spPr>
      </p:cxn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CBB2FC46-7A8A-4F88-B8C3-345355F4B1E8}"/>
              </a:ext>
            </a:extLst>
          </p:cNvPr>
          <p:cNvSpPr>
            <a:spLocks noGrp="1"/>
          </p:cNvSpPr>
          <p:nvPr/>
        </p:nvSpPr>
        <p:spPr>
          <a:xfrm>
            <a:off x="5981700" y="1619250"/>
            <a:ext cx="2238375" cy="1257300"/>
          </a:xfrm>
          <a:prstGeom prst="roundRect">
            <a:avLst>
              <a:gd name="adj" fmla="val 7576"/>
            </a:avLst>
          </a:prstGeom>
          <a:solidFill>
            <a:srgbClr val="F0F7FF"/>
          </a:solidFill>
          <a:ln w="9525">
            <a:solidFill>
              <a:srgbClr val="CFE0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576CB379-1A4F-4EA1-8E87-4F5C2C1DEFFF}"/>
              </a:ext>
            </a:extLst>
          </p:cNvPr>
          <p:cNvSpPr>
            <a:spLocks noGrp="1"/>
          </p:cNvSpPr>
          <p:nvPr/>
        </p:nvSpPr>
        <p:spPr>
          <a:xfrm>
            <a:off x="6153150" y="1790700"/>
            <a:ext cx="400050" cy="40005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lang="es-ES_tradnl" sz="1050" b="1" noProof="0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49F2BE1-67B2-4535-A0E2-F52A21783A67}"/>
              </a:ext>
            </a:extLst>
          </p:cNvPr>
          <p:cNvSpPr>
            <a:spLocks noGrp="1"/>
          </p:cNvSpPr>
          <p:nvPr/>
        </p:nvSpPr>
        <p:spPr>
          <a:xfrm>
            <a:off x="6648450" y="1809750"/>
            <a:ext cx="13335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1">
                <a:solidFill>
                  <a:srgbClr val="0F172A"/>
                </a:solidFill>
              </a:defRPr>
            </a:pPr>
            <a:r>
              <a:rPr lang="es-ES_tradnl" sz="1425" b="1" noProof="0" dirty="0">
                <a:solidFill>
                  <a:srgbClr val="0F172A"/>
                </a:solidFill>
              </a:rPr>
              <a:t>Coordinación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F37D6E8-8956-43D3-95C1-E38339ECB97D}"/>
              </a:ext>
            </a:extLst>
          </p:cNvPr>
          <p:cNvSpPr>
            <a:spLocks noGrp="1"/>
          </p:cNvSpPr>
          <p:nvPr/>
        </p:nvSpPr>
        <p:spPr>
          <a:xfrm>
            <a:off x="6153150" y="2266950"/>
            <a:ext cx="1857375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Operador y unidad reciben eventos en tiempo real</a:t>
            </a:r>
          </a:p>
        </p:txBody>
      </p:sp>
      <p:cxnSp>
        <p:nvCxnSpPr>
          <p:cNvPr id="58" name="Conector recto de flecha 57"/>
          <p:cNvCxnSpPr>
            <a:stCxn id="11" idx="3"/>
            <a:endCxn id="16" idx="1"/>
          </p:cNvCxnSpPr>
          <p:nvPr/>
        </p:nvCxnSpPr>
        <p:spPr>
          <a:xfrm>
            <a:off x="5600700" y="2247900"/>
            <a:ext cx="381000" cy="0"/>
          </a:xfrm>
          <a:prstGeom prst="straightConnector1">
            <a:avLst/>
          </a:prstGeom>
          <a:ln w="19050">
            <a:solidFill>
              <a:srgbClr val="0EA5E9"/>
            </a:solidFill>
            <a:prstDash val="solid"/>
            <a:tailEnd type="arrow" w="med" len="med"/>
          </a:ln>
        </p:spPr>
      </p:cxnSp>
      <p:sp>
        <p:nvSpPr>
          <p:cNvPr id="21" name="Rectángulo redondeado 20">
            <a:extLst>
              <a:ext uri="{FF2B5EF4-FFF2-40B4-BE49-F238E27FC236}">
                <a16:creationId xmlns:a16="http://schemas.microsoft.com/office/drawing/2014/main" id="{D290148A-9823-497E-A62A-07BC54A8FB83}"/>
              </a:ext>
            </a:extLst>
          </p:cNvPr>
          <p:cNvSpPr>
            <a:spLocks noGrp="1"/>
          </p:cNvSpPr>
          <p:nvPr/>
        </p:nvSpPr>
        <p:spPr>
          <a:xfrm>
            <a:off x="8601075" y="1619250"/>
            <a:ext cx="2238375" cy="125730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CFE0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48A7D600-002B-41B7-9E23-64815A9286C2}"/>
              </a:ext>
            </a:extLst>
          </p:cNvPr>
          <p:cNvSpPr>
            <a:spLocks noGrp="1"/>
          </p:cNvSpPr>
          <p:nvPr/>
        </p:nvSpPr>
        <p:spPr>
          <a:xfrm>
            <a:off x="8772525" y="1790700"/>
            <a:ext cx="400050" cy="40005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lang="es-ES_tradnl" sz="1050" b="1" noProof="0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9D20900-BED5-48F1-9C1D-7E0D22CF4DE1}"/>
              </a:ext>
            </a:extLst>
          </p:cNvPr>
          <p:cNvSpPr>
            <a:spLocks noGrp="1"/>
          </p:cNvSpPr>
          <p:nvPr/>
        </p:nvSpPr>
        <p:spPr>
          <a:xfrm>
            <a:off x="9267825" y="1809750"/>
            <a:ext cx="13335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1">
                <a:solidFill>
                  <a:srgbClr val="0F172A"/>
                </a:solidFill>
              </a:defRPr>
            </a:pPr>
            <a:r>
              <a:rPr lang="es-ES_tradnl" sz="1425" b="1" noProof="0" dirty="0">
                <a:solidFill>
                  <a:srgbClr val="0F172A"/>
                </a:solidFill>
              </a:rPr>
              <a:t>Respuesta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B527D00-3E23-4B24-941F-0C64FC00CCA0}"/>
              </a:ext>
            </a:extLst>
          </p:cNvPr>
          <p:cNvSpPr>
            <a:spLocks noGrp="1"/>
          </p:cNvSpPr>
          <p:nvPr/>
        </p:nvSpPr>
        <p:spPr>
          <a:xfrm>
            <a:off x="8772525" y="2266950"/>
            <a:ext cx="1857375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Estado avanza: aceptado, en camino, resuelto</a:t>
            </a:r>
          </a:p>
        </p:txBody>
      </p:sp>
      <p:cxnSp>
        <p:nvCxnSpPr>
          <p:cNvPr id="63" name="Conector recto de flecha 62"/>
          <p:cNvCxnSpPr>
            <a:stCxn id="16" idx="3"/>
            <a:endCxn id="21" idx="1"/>
          </p:cNvCxnSpPr>
          <p:nvPr/>
        </p:nvCxnSpPr>
        <p:spPr>
          <a:xfrm>
            <a:off x="8220075" y="2247900"/>
            <a:ext cx="381000" cy="0"/>
          </a:xfrm>
          <a:prstGeom prst="straightConnector1">
            <a:avLst/>
          </a:prstGeom>
          <a:ln w="19050">
            <a:solidFill>
              <a:srgbClr val="0EA5E9"/>
            </a:solidFill>
            <a:prstDash val="solid"/>
            <a:tailEnd type="arrow" w="med" len="med"/>
          </a:ln>
        </p:spPr>
      </p:cxn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4C890887-B60B-443D-8FD4-7EABE906B9F0}"/>
              </a:ext>
            </a:extLst>
          </p:cNvPr>
          <p:cNvSpPr>
            <a:spLocks noGrp="1"/>
          </p:cNvSpPr>
          <p:nvPr/>
        </p:nvSpPr>
        <p:spPr>
          <a:xfrm>
            <a:off x="1641088" y="3829049"/>
            <a:ext cx="1714500" cy="666750"/>
          </a:xfrm>
          <a:prstGeom prst="roundRect">
            <a:avLst>
              <a:gd name="adj" fmla="val 14286"/>
            </a:avLst>
          </a:prstGeom>
          <a:solidFill>
            <a:srgbClr val="F0F7FF"/>
          </a:solidFill>
          <a:ln w="9525">
            <a:solidFill>
              <a:srgbClr val="D9E2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AE63A02E-193B-48BD-B360-28A71E8745CC}"/>
              </a:ext>
            </a:extLst>
          </p:cNvPr>
          <p:cNvSpPr>
            <a:spLocks noGrp="1"/>
          </p:cNvSpPr>
          <p:nvPr/>
        </p:nvSpPr>
        <p:spPr>
          <a:xfrm>
            <a:off x="1822063" y="3978429"/>
            <a:ext cx="12382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75" b="1">
                <a:solidFill>
                  <a:srgbClr val="0F172A"/>
                </a:solidFill>
              </a:defRPr>
            </a:pPr>
            <a:r>
              <a:rPr lang="es-ES_tradnl" sz="1275" b="1" noProof="0" dirty="0">
                <a:solidFill>
                  <a:srgbClr val="0F172A"/>
                </a:solidFill>
              </a:rPr>
              <a:t>Validar sesión</a:t>
            </a:r>
          </a:p>
        </p:txBody>
      </p:sp>
      <p:sp>
        <p:nvSpPr>
          <p:cNvPr id="28" name="Rombo 27">
            <a:extLst>
              <a:ext uri="{FF2B5EF4-FFF2-40B4-BE49-F238E27FC236}">
                <a16:creationId xmlns:a16="http://schemas.microsoft.com/office/drawing/2014/main" id="{B1F95533-8208-4031-92FB-13B86AB46B57}"/>
              </a:ext>
            </a:extLst>
          </p:cNvPr>
          <p:cNvSpPr>
            <a:spLocks noGrp="1"/>
          </p:cNvSpPr>
          <p:nvPr/>
        </p:nvSpPr>
        <p:spPr>
          <a:xfrm>
            <a:off x="3888988" y="3733799"/>
            <a:ext cx="1053790" cy="85725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txBody>
          <a:bodyPr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rPr lang="es-ES_tradnl" sz="1050" b="1" noProof="0" dirty="0">
                <a:solidFill>
                  <a:srgbClr val="0F172A"/>
                </a:solidFill>
              </a:rPr>
              <a:t>JWT</a:t>
            </a:r>
          </a:p>
          <a:p>
            <a:pPr algn="ctr">
              <a:defRPr sz="1050" b="1">
                <a:solidFill>
                  <a:srgbClr val="0F172A"/>
                </a:solidFill>
              </a:defRPr>
            </a:pPr>
            <a:r>
              <a:rPr lang="es-ES_tradnl" sz="1050" b="1" noProof="0" dirty="0">
                <a:solidFill>
                  <a:srgbClr val="0F172A"/>
                </a:solidFill>
              </a:rPr>
              <a:t>válido</a:t>
            </a:r>
          </a:p>
        </p:txBody>
      </p:sp>
      <p:sp>
        <p:nvSpPr>
          <p:cNvPr id="29" name="Rectángulo redondeado 28">
            <a:extLst>
              <a:ext uri="{FF2B5EF4-FFF2-40B4-BE49-F238E27FC236}">
                <a16:creationId xmlns:a16="http://schemas.microsoft.com/office/drawing/2014/main" id="{0C06A512-A497-4A2F-8463-51CE4DCA7E8F}"/>
              </a:ext>
            </a:extLst>
          </p:cNvPr>
          <p:cNvSpPr>
            <a:spLocks noGrp="1"/>
          </p:cNvSpPr>
          <p:nvPr/>
        </p:nvSpPr>
        <p:spPr>
          <a:xfrm>
            <a:off x="5412988" y="3829049"/>
            <a:ext cx="2000250" cy="666750"/>
          </a:xfrm>
          <a:prstGeom prst="roundRect">
            <a:avLst>
              <a:gd name="adj" fmla="val 14286"/>
            </a:avLst>
          </a:prstGeom>
          <a:solidFill>
            <a:srgbClr val="ECFDF5"/>
          </a:solidFill>
          <a:ln w="9525">
            <a:solidFill>
              <a:srgbClr val="D9E2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2CF09DD3-AFA6-47F1-A2B5-E43A0F88CE28}"/>
              </a:ext>
            </a:extLst>
          </p:cNvPr>
          <p:cNvSpPr>
            <a:spLocks noGrp="1"/>
          </p:cNvSpPr>
          <p:nvPr/>
        </p:nvSpPr>
        <p:spPr>
          <a:xfrm>
            <a:off x="5660638" y="3952874"/>
            <a:ext cx="14287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75" b="1">
                <a:solidFill>
                  <a:srgbClr val="0F172A"/>
                </a:solidFill>
              </a:defRPr>
            </a:pPr>
            <a:r>
              <a:rPr lang="es-ES_tradnl" sz="1275" b="1" noProof="0" dirty="0">
                <a:solidFill>
                  <a:srgbClr val="0F172A"/>
                </a:solidFill>
              </a:rPr>
              <a:t>Consumir API REST</a:t>
            </a:r>
          </a:p>
        </p:txBody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F0905F60-B1C4-4A0D-B778-92AF713B991E}"/>
              </a:ext>
            </a:extLst>
          </p:cNvPr>
          <p:cNvSpPr>
            <a:spLocks noGrp="1"/>
          </p:cNvSpPr>
          <p:nvPr/>
        </p:nvSpPr>
        <p:spPr>
          <a:xfrm>
            <a:off x="8003788" y="3829049"/>
            <a:ext cx="2000250" cy="666750"/>
          </a:xfrm>
          <a:prstGeom prst="roundRect">
            <a:avLst>
              <a:gd name="adj" fmla="val 14286"/>
            </a:avLst>
          </a:prstGeom>
          <a:solidFill>
            <a:srgbClr val="FFF7ED"/>
          </a:solidFill>
          <a:ln w="9525">
            <a:solidFill>
              <a:srgbClr val="D9E2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A8E63C0B-E34C-4C81-8CD7-3682E0E6438A}"/>
              </a:ext>
            </a:extLst>
          </p:cNvPr>
          <p:cNvSpPr>
            <a:spLocks noGrp="1"/>
          </p:cNvSpPr>
          <p:nvPr/>
        </p:nvSpPr>
        <p:spPr>
          <a:xfrm>
            <a:off x="8337163" y="3978429"/>
            <a:ext cx="1333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75" b="1">
                <a:solidFill>
                  <a:srgbClr val="0F172A"/>
                </a:solidFill>
              </a:defRPr>
            </a:pPr>
            <a:r>
              <a:rPr lang="es-ES_tradnl" sz="1275" b="1" noProof="0" dirty="0">
                <a:solidFill>
                  <a:srgbClr val="0F172A"/>
                </a:solidFill>
              </a:rPr>
              <a:t>Emitir eventos</a:t>
            </a:r>
          </a:p>
        </p:txBody>
      </p:sp>
      <p:cxnSp>
        <p:nvCxnSpPr>
          <p:cNvPr id="71" name="Conector recto de flecha 70"/>
          <p:cNvCxnSpPr>
            <a:cxnSpLocks/>
            <a:stCxn id="26" idx="3"/>
            <a:endCxn id="28" idx="1"/>
          </p:cNvCxnSpPr>
          <p:nvPr/>
        </p:nvCxnSpPr>
        <p:spPr>
          <a:xfrm>
            <a:off x="3355588" y="4162424"/>
            <a:ext cx="533400" cy="0"/>
          </a:xfrm>
          <a:prstGeom prst="straightConnector1">
            <a:avLst/>
          </a:prstGeom>
          <a:ln w="19050">
            <a:solidFill>
              <a:srgbClr val="0EA5E9"/>
            </a:solidFill>
            <a:prstDash val="solid"/>
            <a:tailEnd type="arrow" w="med" len="med"/>
          </a:ln>
        </p:spPr>
      </p:cxnSp>
      <p:cxnSp>
        <p:nvCxnSpPr>
          <p:cNvPr id="72" name="Conector recto de flecha 71"/>
          <p:cNvCxnSpPr>
            <a:cxnSpLocks/>
            <a:stCxn id="28" idx="3"/>
            <a:endCxn id="29" idx="1"/>
          </p:cNvCxnSpPr>
          <p:nvPr/>
        </p:nvCxnSpPr>
        <p:spPr>
          <a:xfrm>
            <a:off x="4942778" y="4162424"/>
            <a:ext cx="470210" cy="0"/>
          </a:xfrm>
          <a:prstGeom prst="straightConnector1">
            <a:avLst/>
          </a:prstGeom>
          <a:ln w="19050">
            <a:solidFill>
              <a:srgbClr val="0EA5E9"/>
            </a:solidFill>
            <a:prstDash val="solid"/>
            <a:tailEnd type="arrow" w="med" len="med"/>
          </a:ln>
        </p:spPr>
      </p:cxnSp>
      <p:cxnSp>
        <p:nvCxnSpPr>
          <p:cNvPr id="73" name="Conector recto de flecha 72"/>
          <p:cNvCxnSpPr>
            <a:stCxn id="29" idx="3"/>
            <a:endCxn id="31" idx="1"/>
          </p:cNvCxnSpPr>
          <p:nvPr/>
        </p:nvCxnSpPr>
        <p:spPr>
          <a:xfrm>
            <a:off x="7413238" y="4162424"/>
            <a:ext cx="590550" cy="0"/>
          </a:xfrm>
          <a:prstGeom prst="straightConnector1">
            <a:avLst/>
          </a:prstGeom>
          <a:ln w="19050">
            <a:solidFill>
              <a:srgbClr val="0EA5E9"/>
            </a:solidFill>
            <a:prstDash val="solid"/>
            <a:tailEnd type="arrow" w="med" len="med"/>
          </a:ln>
        </p:spPr>
      </p:cxnSp>
      <p:sp>
        <p:nvSpPr>
          <p:cNvPr id="36" name="Rectángulo 35">
            <a:extLst>
              <a:ext uri="{FF2B5EF4-FFF2-40B4-BE49-F238E27FC236}">
                <a16:creationId xmlns:a16="http://schemas.microsoft.com/office/drawing/2014/main" id="{C8A3CFD6-6E43-4B56-B5F6-AFE8D9B663F1}"/>
              </a:ext>
            </a:extLst>
          </p:cNvPr>
          <p:cNvSpPr>
            <a:spLocks noGrp="1"/>
          </p:cNvSpPr>
          <p:nvPr/>
        </p:nvSpPr>
        <p:spPr>
          <a:xfrm>
            <a:off x="1374388" y="5048249"/>
            <a:ext cx="962025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1">
                <a:solidFill>
                  <a:srgbClr val="07162F"/>
                </a:solidFill>
              </a:defRPr>
            </a:pPr>
            <a:r>
              <a:rPr lang="es-ES_tradnl" sz="1425" b="1" noProof="0" dirty="0">
                <a:solidFill>
                  <a:srgbClr val="07162F"/>
                </a:solidFill>
              </a:rPr>
              <a:t>Validaciones clave: datos obligatorios, tipo permitido, token válido, rol autorizado y transición de estado permitida.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18B80E6-13E0-40D6-AC60-BD4A35B3B0C0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lang="es-ES_tradnl" sz="750" b="1" noProof="0" dirty="0">
                <a:solidFill>
                  <a:srgbClr val="64748B"/>
                </a:solidFill>
              </a:rPr>
              <a:t>EMERGENCIAS TECH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BC7678C5-0F35-45CA-B449-CD7E53E778EA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lang="es-ES_tradnl" sz="900" b="1" noProof="0" dirty="0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1765A8D-AD01-61F4-EFF9-64BC523E0F34}"/>
              </a:ext>
            </a:extLst>
          </p:cNvPr>
          <p:cNvSpPr txBox="1"/>
          <p:nvPr/>
        </p:nvSpPr>
        <p:spPr>
          <a:xfrm>
            <a:off x="-189571" y="34457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928812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72828779-74F0-4E90-BD48-91784EBF73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1DC35819-FF18-4097-9A03-2F73578DC6ED}"/>
              </a:ext>
            </a:extLst>
          </p:cNvPr>
          <p:cNvSpPr>
            <a:spLocks noGrp="1"/>
          </p:cNvSpPr>
          <p:nvPr/>
        </p:nvSpPr>
        <p:spPr>
          <a:xfrm>
            <a:off x="7810500" y="342900"/>
            <a:ext cx="47625" cy="47625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11EB7E95-06A4-4E60-B44D-118FA44F42CD}"/>
              </a:ext>
            </a:extLst>
          </p:cNvPr>
          <p:cNvSpPr>
            <a:spLocks noGrp="1"/>
          </p:cNvSpPr>
          <p:nvPr/>
        </p:nvSpPr>
        <p:spPr>
          <a:xfrm>
            <a:off x="8134350" y="8763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02408EE4-0EB5-4649-B805-82793C2B7379}"/>
              </a:ext>
            </a:extLst>
          </p:cNvPr>
          <p:cNvSpPr>
            <a:spLocks noGrp="1"/>
          </p:cNvSpPr>
          <p:nvPr/>
        </p:nvSpPr>
        <p:spPr>
          <a:xfrm>
            <a:off x="8458200" y="14097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BC96CED3-CAB5-430A-BA60-AF0E3AA6BA07}"/>
              </a:ext>
            </a:extLst>
          </p:cNvPr>
          <p:cNvSpPr>
            <a:spLocks noGrp="1"/>
          </p:cNvSpPr>
          <p:nvPr/>
        </p:nvSpPr>
        <p:spPr>
          <a:xfrm>
            <a:off x="8782050" y="1943100"/>
            <a:ext cx="47625" cy="47625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80C6C4D5-DB0B-4066-BA22-D2DDBC0FEB07}"/>
              </a:ext>
            </a:extLst>
          </p:cNvPr>
          <p:cNvSpPr>
            <a:spLocks noGrp="1"/>
          </p:cNvSpPr>
          <p:nvPr/>
        </p:nvSpPr>
        <p:spPr>
          <a:xfrm>
            <a:off x="9105900" y="24765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C3A715C-BDAC-4AD5-B05C-B6B9B1286574}"/>
              </a:ext>
            </a:extLst>
          </p:cNvPr>
          <p:cNvSpPr>
            <a:spLocks noGrp="1"/>
          </p:cNvSpPr>
          <p:nvPr/>
        </p:nvSpPr>
        <p:spPr>
          <a:xfrm>
            <a:off x="9429750" y="3429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300F7F51-E4ED-4D15-8409-9B412E1DD5E5}"/>
              </a:ext>
            </a:extLst>
          </p:cNvPr>
          <p:cNvSpPr>
            <a:spLocks noGrp="1"/>
          </p:cNvSpPr>
          <p:nvPr/>
        </p:nvSpPr>
        <p:spPr>
          <a:xfrm>
            <a:off x="9753600" y="876300"/>
            <a:ext cx="47625" cy="47625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A4A565DA-6359-4BE3-8EB6-4FFC6C98E3F5}"/>
              </a:ext>
            </a:extLst>
          </p:cNvPr>
          <p:cNvSpPr>
            <a:spLocks noGrp="1"/>
          </p:cNvSpPr>
          <p:nvPr/>
        </p:nvSpPr>
        <p:spPr>
          <a:xfrm>
            <a:off x="10077450" y="14097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C51424EE-1721-4D7C-858B-54B61442335B}"/>
              </a:ext>
            </a:extLst>
          </p:cNvPr>
          <p:cNvSpPr>
            <a:spLocks noGrp="1"/>
          </p:cNvSpPr>
          <p:nvPr/>
        </p:nvSpPr>
        <p:spPr>
          <a:xfrm>
            <a:off x="10401300" y="19431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618E799-754E-46A5-B181-492A5AEF4829}"/>
              </a:ext>
            </a:extLst>
          </p:cNvPr>
          <p:cNvSpPr>
            <a:spLocks noGrp="1"/>
          </p:cNvSpPr>
          <p:nvPr/>
        </p:nvSpPr>
        <p:spPr>
          <a:xfrm>
            <a:off x="10725150" y="2476500"/>
            <a:ext cx="47625" cy="47625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BCF92BA-3881-4B86-A128-5E773E532B0F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0" b="1">
                <a:solidFill>
                  <a:srgbClr val="38BDF8"/>
                </a:solidFill>
              </a:defRPr>
            </a:pPr>
            <a:r>
              <a:rPr lang="es-ES_tradnl" sz="900" b="1" noProof="0" dirty="0">
                <a:solidFill>
                  <a:srgbClr val="38BDF8"/>
                </a:solidFill>
              </a:rPr>
              <a:t>FLUJO DE REPORTES Y USUARIOS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B78D75E-07F6-41DE-89B8-BF81105F0208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88582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lang="es-ES_tradnl" sz="2250" b="1" noProof="0" dirty="0">
                <a:solidFill>
                  <a:srgbClr val="FFFFFF"/>
                </a:solidFill>
              </a:rPr>
              <a:t>Interacción entre ciudadano, operador y unidad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B4AA81A-0476-458B-90D3-2CA3E2505B1A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C7D2FE"/>
                </a:solidFill>
              </a:defRPr>
            </a:pPr>
            <a:r>
              <a:rPr lang="es-ES_tradnl" sz="1088" b="0" noProof="0" dirty="0">
                <a:solidFill>
                  <a:srgbClr val="C7D2FE"/>
                </a:solidFill>
              </a:rPr>
              <a:t>Cada reporte crea un hilo operativo propio: sala de chat, ruta, asignación y estado.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9BF0228-26F4-4AE2-B492-5B239617A607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B6C7E6"/>
                </a:solidFill>
              </a:defRPr>
            </a:pPr>
            <a:r>
              <a:rPr lang="es-ES_tradnl" sz="750" b="1" noProof="0" dirty="0">
                <a:solidFill>
                  <a:srgbClr val="B6C7E6"/>
                </a:solidFill>
              </a:rPr>
              <a:t>EMERGENCIAS TECH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8F936CA-7903-4507-8C87-3159AA45FEA9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B6C7E6"/>
                </a:solidFill>
              </a:defRPr>
            </a:pPr>
            <a:r>
              <a:rPr lang="es-ES_tradnl" sz="900" b="1" noProof="0" dirty="0">
                <a:solidFill>
                  <a:srgbClr val="B6C7E6"/>
                </a:solidFill>
              </a:rPr>
              <a:t>09</a:t>
            </a:r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1C67BABB-A411-4B6A-BF42-AF5620F82E18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2238375" cy="3714750"/>
          </a:xfrm>
          <a:prstGeom prst="roundRect">
            <a:avLst>
              <a:gd name="adj" fmla="val 5106"/>
            </a:avLst>
          </a:prstGeom>
          <a:solidFill>
            <a:srgbClr val="0F2D54"/>
          </a:solidFill>
          <a:ln w="9525">
            <a:solidFill>
              <a:srgbClr val="38BDF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BEF27C37-31A3-42A5-A1D0-6326576C8529}"/>
              </a:ext>
            </a:extLst>
          </p:cNvPr>
          <p:cNvSpPr>
            <a:spLocks noGrp="1"/>
          </p:cNvSpPr>
          <p:nvPr/>
        </p:nvSpPr>
        <p:spPr>
          <a:xfrm>
            <a:off x="4953000" y="1714500"/>
            <a:ext cx="2238375" cy="3714750"/>
          </a:xfrm>
          <a:prstGeom prst="roundRect">
            <a:avLst>
              <a:gd name="adj" fmla="val 5106"/>
            </a:avLst>
          </a:prstGeom>
          <a:solidFill>
            <a:srgbClr val="0F2D54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19" name="Rectángulo redondeado 18">
            <a:extLst>
              <a:ext uri="{FF2B5EF4-FFF2-40B4-BE49-F238E27FC236}">
                <a16:creationId xmlns:a16="http://schemas.microsoft.com/office/drawing/2014/main" id="{17127C05-E041-4AF8-8D70-AA40F5E46AA8}"/>
              </a:ext>
            </a:extLst>
          </p:cNvPr>
          <p:cNvSpPr>
            <a:spLocks noGrp="1"/>
          </p:cNvSpPr>
          <p:nvPr/>
        </p:nvSpPr>
        <p:spPr>
          <a:xfrm>
            <a:off x="8953500" y="1714500"/>
            <a:ext cx="2238375" cy="3714750"/>
          </a:xfrm>
          <a:prstGeom prst="roundRect">
            <a:avLst>
              <a:gd name="adj" fmla="val 5106"/>
            </a:avLst>
          </a:prstGeom>
          <a:solidFill>
            <a:srgbClr val="0F2D54"/>
          </a:solidFill>
          <a:ln w="9525">
            <a:solidFill>
              <a:srgbClr val="22C55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F55CEF0-A7B6-418A-95DF-5E8FAB370A3F}"/>
              </a:ext>
            </a:extLst>
          </p:cNvPr>
          <p:cNvSpPr>
            <a:spLocks noGrp="1"/>
          </p:cNvSpPr>
          <p:nvPr/>
        </p:nvSpPr>
        <p:spPr>
          <a:xfrm>
            <a:off x="1143000" y="195262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s-ES_tradnl" sz="1800" b="1" noProof="0" dirty="0">
                <a:solidFill>
                  <a:srgbClr val="FFFFFF"/>
                </a:solidFill>
              </a:rPr>
              <a:t>Ciudadano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03ED4A5-9BB1-441D-BE4B-A34962884769}"/>
              </a:ext>
            </a:extLst>
          </p:cNvPr>
          <p:cNvSpPr>
            <a:spLocks noGrp="1"/>
          </p:cNvSpPr>
          <p:nvPr/>
        </p:nvSpPr>
        <p:spPr>
          <a:xfrm>
            <a:off x="5410200" y="1952625"/>
            <a:ext cx="138112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s-ES_tradnl" sz="1800" b="1" noProof="0" dirty="0">
                <a:solidFill>
                  <a:srgbClr val="FFFFFF"/>
                </a:solidFill>
              </a:rPr>
              <a:t>Operador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24C2DE7-4C86-4BE7-A5CF-FFC30B199E0B}"/>
              </a:ext>
            </a:extLst>
          </p:cNvPr>
          <p:cNvSpPr>
            <a:spLocks noGrp="1"/>
          </p:cNvSpPr>
          <p:nvPr/>
        </p:nvSpPr>
        <p:spPr>
          <a:xfrm>
            <a:off x="9429750" y="1952625"/>
            <a:ext cx="1285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s-ES_tradnl" sz="1800" b="1" noProof="0" dirty="0">
                <a:solidFill>
                  <a:srgbClr val="FFFFFF"/>
                </a:solidFill>
              </a:rPr>
              <a:t>Unidad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7B9E3B35-3ED6-467A-829C-A94448AC03A2}"/>
              </a:ext>
            </a:extLst>
          </p:cNvPr>
          <p:cNvSpPr>
            <a:spLocks noGrp="1"/>
          </p:cNvSpPr>
          <p:nvPr/>
        </p:nvSpPr>
        <p:spPr>
          <a:xfrm>
            <a:off x="1066800" y="2581275"/>
            <a:ext cx="228600" cy="22860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txBody>
          <a:bodyPr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rPr lang="es-ES_tradnl" sz="600" b="1" noProof="0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26C04C1-A8D3-4E97-BE73-8CDECA387A8B}"/>
              </a:ext>
            </a:extLst>
          </p:cNvPr>
          <p:cNvSpPr>
            <a:spLocks noGrp="1"/>
          </p:cNvSpPr>
          <p:nvPr/>
        </p:nvSpPr>
        <p:spPr>
          <a:xfrm>
            <a:off x="1409700" y="2571750"/>
            <a:ext cx="12763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D7E5FF"/>
                </a:solidFill>
              </a:defRPr>
            </a:pPr>
            <a:r>
              <a:rPr lang="es-ES_tradnl" sz="1050" b="0" noProof="0" dirty="0">
                <a:solidFill>
                  <a:srgbClr val="D7E5FF"/>
                </a:solidFill>
              </a:rPr>
              <a:t>Registra emergencia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8E2C616-1FC0-443E-87A3-E8A2F676E858}"/>
              </a:ext>
            </a:extLst>
          </p:cNvPr>
          <p:cNvSpPr>
            <a:spLocks noGrp="1"/>
          </p:cNvSpPr>
          <p:nvPr/>
        </p:nvSpPr>
        <p:spPr>
          <a:xfrm>
            <a:off x="1066800" y="2981325"/>
            <a:ext cx="228600" cy="22860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txBody>
          <a:bodyPr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rPr lang="es-ES_tradnl" sz="600" b="1" noProof="0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DAADACC-1E7D-4335-B008-0483D44FB8B0}"/>
              </a:ext>
            </a:extLst>
          </p:cNvPr>
          <p:cNvSpPr>
            <a:spLocks noGrp="1"/>
          </p:cNvSpPr>
          <p:nvPr/>
        </p:nvSpPr>
        <p:spPr>
          <a:xfrm>
            <a:off x="1409700" y="2971800"/>
            <a:ext cx="12763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D7E5FF"/>
                </a:solidFill>
              </a:defRPr>
            </a:pPr>
            <a:r>
              <a:rPr lang="es-ES_tradnl" sz="1050" b="0" noProof="0" dirty="0">
                <a:solidFill>
                  <a:srgbClr val="D7E5FF"/>
                </a:solidFill>
              </a:rPr>
              <a:t>Adjunta evidencia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3CC65AD7-913A-4F87-88B4-C9BD74782874}"/>
              </a:ext>
            </a:extLst>
          </p:cNvPr>
          <p:cNvSpPr>
            <a:spLocks noGrp="1"/>
          </p:cNvSpPr>
          <p:nvPr/>
        </p:nvSpPr>
        <p:spPr>
          <a:xfrm>
            <a:off x="1066800" y="3381375"/>
            <a:ext cx="228600" cy="22860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txBody>
          <a:bodyPr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rPr lang="es-ES_tradnl" sz="600" b="1" noProof="0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721CD560-A0E2-4E38-BF94-D699323C42CC}"/>
              </a:ext>
            </a:extLst>
          </p:cNvPr>
          <p:cNvSpPr>
            <a:spLocks noGrp="1"/>
          </p:cNvSpPr>
          <p:nvPr/>
        </p:nvSpPr>
        <p:spPr>
          <a:xfrm>
            <a:off x="1409700" y="3371850"/>
            <a:ext cx="12763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D7E5FF"/>
                </a:solidFill>
              </a:defRPr>
            </a:pPr>
            <a:r>
              <a:rPr lang="es-ES_tradnl" sz="1050" b="0" noProof="0" dirty="0">
                <a:solidFill>
                  <a:srgbClr val="D7E5FF"/>
                </a:solidFill>
              </a:rPr>
              <a:t>Ubica el incidente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BC838AC4-5DCF-41E0-86E4-1EF5DF4CD77D}"/>
              </a:ext>
            </a:extLst>
          </p:cNvPr>
          <p:cNvSpPr>
            <a:spLocks noGrp="1"/>
          </p:cNvSpPr>
          <p:nvPr/>
        </p:nvSpPr>
        <p:spPr>
          <a:xfrm>
            <a:off x="1066800" y="3781425"/>
            <a:ext cx="228600" cy="22860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txBody>
          <a:bodyPr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rPr lang="es-ES_tradnl" sz="600" b="1" noProof="0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5F90D46-D20C-479F-AE7C-1B418596FEAC}"/>
              </a:ext>
            </a:extLst>
          </p:cNvPr>
          <p:cNvSpPr>
            <a:spLocks noGrp="1"/>
          </p:cNvSpPr>
          <p:nvPr/>
        </p:nvSpPr>
        <p:spPr>
          <a:xfrm>
            <a:off x="1409700" y="3771900"/>
            <a:ext cx="12763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D7E5FF"/>
                </a:solidFill>
              </a:defRPr>
            </a:pPr>
            <a:r>
              <a:rPr lang="es-ES_tradnl" sz="1050" b="0" noProof="0" dirty="0">
                <a:solidFill>
                  <a:srgbClr val="D7E5FF"/>
                </a:solidFill>
              </a:rPr>
              <a:t>Chatea y hace seguimiento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ECF4C6A0-D6FE-4E67-A26B-8F6B5D74E1ED}"/>
              </a:ext>
            </a:extLst>
          </p:cNvPr>
          <p:cNvSpPr>
            <a:spLocks noGrp="1"/>
          </p:cNvSpPr>
          <p:nvPr/>
        </p:nvSpPr>
        <p:spPr>
          <a:xfrm>
            <a:off x="5257800" y="2581275"/>
            <a:ext cx="228600" cy="2286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rPr lang="es-ES_tradnl" sz="600" b="1" noProof="0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7EB569C6-4D32-49E6-8E24-5B1B5F69FEED}"/>
              </a:ext>
            </a:extLst>
          </p:cNvPr>
          <p:cNvSpPr>
            <a:spLocks noGrp="1"/>
          </p:cNvSpPr>
          <p:nvPr/>
        </p:nvSpPr>
        <p:spPr>
          <a:xfrm>
            <a:off x="5600700" y="2571750"/>
            <a:ext cx="12763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D7E5FF"/>
                </a:solidFill>
              </a:defRPr>
            </a:pPr>
            <a:r>
              <a:rPr lang="es-ES_tradnl" sz="1050" b="0" noProof="0" dirty="0">
                <a:solidFill>
                  <a:srgbClr val="D7E5FF"/>
                </a:solidFill>
              </a:rPr>
              <a:t>Recibe alerta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FC2B4576-3E76-40BB-9A3C-BAFD1A2775D5}"/>
              </a:ext>
            </a:extLst>
          </p:cNvPr>
          <p:cNvSpPr>
            <a:spLocks noGrp="1"/>
          </p:cNvSpPr>
          <p:nvPr/>
        </p:nvSpPr>
        <p:spPr>
          <a:xfrm>
            <a:off x="5257800" y="2981325"/>
            <a:ext cx="228600" cy="2286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rPr lang="es-ES_tradnl" sz="600" b="1" noProof="0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632F04E7-04D9-4AD0-B7F2-467D79EEC40D}"/>
              </a:ext>
            </a:extLst>
          </p:cNvPr>
          <p:cNvSpPr>
            <a:spLocks noGrp="1"/>
          </p:cNvSpPr>
          <p:nvPr/>
        </p:nvSpPr>
        <p:spPr>
          <a:xfrm>
            <a:off x="5600700" y="2971800"/>
            <a:ext cx="12763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D7E5FF"/>
                </a:solidFill>
              </a:defRPr>
            </a:pPr>
            <a:r>
              <a:rPr lang="es-ES_tradnl" sz="1050" b="0" noProof="0" dirty="0">
                <a:solidFill>
                  <a:srgbClr val="D7E5FF"/>
                </a:solidFill>
              </a:rPr>
              <a:t>Revisa gravedad</a:t>
            </a: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06BA3F53-DC1D-441A-B862-B3A1A8E1447E}"/>
              </a:ext>
            </a:extLst>
          </p:cNvPr>
          <p:cNvSpPr>
            <a:spLocks noGrp="1"/>
          </p:cNvSpPr>
          <p:nvPr/>
        </p:nvSpPr>
        <p:spPr>
          <a:xfrm>
            <a:off x="5257800" y="3381375"/>
            <a:ext cx="228600" cy="2286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rPr lang="es-ES_tradnl" sz="600" b="1" noProof="0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A46D465-3383-47F6-88DC-27A30FCD04DC}"/>
              </a:ext>
            </a:extLst>
          </p:cNvPr>
          <p:cNvSpPr>
            <a:spLocks noGrp="1"/>
          </p:cNvSpPr>
          <p:nvPr/>
        </p:nvSpPr>
        <p:spPr>
          <a:xfrm>
            <a:off x="5600700" y="3371850"/>
            <a:ext cx="12763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D7E5FF"/>
                </a:solidFill>
              </a:defRPr>
            </a:pPr>
            <a:r>
              <a:rPr lang="es-ES_tradnl" sz="1050" b="0" noProof="0" dirty="0">
                <a:solidFill>
                  <a:srgbClr val="D7E5FF"/>
                </a:solidFill>
              </a:rPr>
              <a:t>Acepta el caso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7558F24C-D599-4228-A97D-ACE470502B90}"/>
              </a:ext>
            </a:extLst>
          </p:cNvPr>
          <p:cNvSpPr>
            <a:spLocks noGrp="1"/>
          </p:cNvSpPr>
          <p:nvPr/>
        </p:nvSpPr>
        <p:spPr>
          <a:xfrm>
            <a:off x="5257800" y="3781425"/>
            <a:ext cx="228600" cy="2286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rPr lang="es-ES_tradnl" sz="600" b="1" noProof="0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81697A2A-D10E-4ABE-9DC6-6F9DF4E8975D}"/>
              </a:ext>
            </a:extLst>
          </p:cNvPr>
          <p:cNvSpPr>
            <a:spLocks noGrp="1"/>
          </p:cNvSpPr>
          <p:nvPr/>
        </p:nvSpPr>
        <p:spPr>
          <a:xfrm>
            <a:off x="5600700" y="3771900"/>
            <a:ext cx="12763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D7E5FF"/>
                </a:solidFill>
              </a:defRPr>
            </a:pPr>
            <a:r>
              <a:rPr lang="es-ES_tradnl" sz="1050" b="0" noProof="0" dirty="0">
                <a:solidFill>
                  <a:srgbClr val="D7E5FF"/>
                </a:solidFill>
              </a:rPr>
              <a:t>Monitorea el avance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9D884D27-CE81-4788-BD0F-7E6D93A5BB59}"/>
              </a:ext>
            </a:extLst>
          </p:cNvPr>
          <p:cNvSpPr>
            <a:spLocks noGrp="1"/>
          </p:cNvSpPr>
          <p:nvPr/>
        </p:nvSpPr>
        <p:spPr>
          <a:xfrm>
            <a:off x="9258300" y="2581275"/>
            <a:ext cx="228600" cy="22860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txBody>
          <a:bodyPr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rPr lang="es-ES_tradnl" sz="600" b="1" noProof="0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02FAB7CD-6395-461C-A2CF-2055578ED47C}"/>
              </a:ext>
            </a:extLst>
          </p:cNvPr>
          <p:cNvSpPr>
            <a:spLocks noGrp="1"/>
          </p:cNvSpPr>
          <p:nvPr/>
        </p:nvSpPr>
        <p:spPr>
          <a:xfrm>
            <a:off x="9601200" y="2571750"/>
            <a:ext cx="12763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D7E5FF"/>
                </a:solidFill>
              </a:defRPr>
            </a:pPr>
            <a:r>
              <a:rPr lang="es-ES_tradnl" sz="1050" b="0" noProof="0" dirty="0">
                <a:solidFill>
                  <a:srgbClr val="D7E5FF"/>
                </a:solidFill>
              </a:rPr>
              <a:t>Recibe asignación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E476F77B-9884-4EB7-8690-5A787A2BD48C}"/>
              </a:ext>
            </a:extLst>
          </p:cNvPr>
          <p:cNvSpPr>
            <a:spLocks noGrp="1"/>
          </p:cNvSpPr>
          <p:nvPr/>
        </p:nvSpPr>
        <p:spPr>
          <a:xfrm>
            <a:off x="9258300" y="2981325"/>
            <a:ext cx="228600" cy="22860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txBody>
          <a:bodyPr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rPr lang="es-ES_tradnl" sz="600" b="1" noProof="0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5B166BCE-C7B3-4FFD-BEC7-2A16F4F493C6}"/>
              </a:ext>
            </a:extLst>
          </p:cNvPr>
          <p:cNvSpPr>
            <a:spLocks noGrp="1"/>
          </p:cNvSpPr>
          <p:nvPr/>
        </p:nvSpPr>
        <p:spPr>
          <a:xfrm>
            <a:off x="9601200" y="2971800"/>
            <a:ext cx="12763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D7E5FF"/>
                </a:solidFill>
              </a:defRPr>
            </a:pPr>
            <a:r>
              <a:rPr lang="es-ES_tradnl" sz="1050" b="0" noProof="0" dirty="0">
                <a:solidFill>
                  <a:srgbClr val="D7E5FF"/>
                </a:solidFill>
              </a:rPr>
              <a:t>Visualiza ruta</a:t>
            </a:r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A4070C56-1317-4CCA-98FB-9D496524F666}"/>
              </a:ext>
            </a:extLst>
          </p:cNvPr>
          <p:cNvSpPr>
            <a:spLocks noGrp="1"/>
          </p:cNvSpPr>
          <p:nvPr/>
        </p:nvSpPr>
        <p:spPr>
          <a:xfrm>
            <a:off x="9258300" y="3381375"/>
            <a:ext cx="228600" cy="22860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txBody>
          <a:bodyPr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rPr lang="es-ES_tradnl" sz="600" b="1" noProof="0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618A7419-AA92-4258-9E98-09362A5BA080}"/>
              </a:ext>
            </a:extLst>
          </p:cNvPr>
          <p:cNvSpPr>
            <a:spLocks noGrp="1"/>
          </p:cNvSpPr>
          <p:nvPr/>
        </p:nvSpPr>
        <p:spPr>
          <a:xfrm>
            <a:off x="9601200" y="3371850"/>
            <a:ext cx="12763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D7E5FF"/>
                </a:solidFill>
              </a:defRPr>
            </a:pPr>
            <a:r>
              <a:rPr lang="es-ES_tradnl" sz="1050" b="0" noProof="0" dirty="0">
                <a:solidFill>
                  <a:srgbClr val="D7E5FF"/>
                </a:solidFill>
              </a:rPr>
              <a:t>Va en camino</a:t>
            </a:r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6435D2C9-AD4D-44C7-8A18-B0A1CB828482}"/>
              </a:ext>
            </a:extLst>
          </p:cNvPr>
          <p:cNvSpPr>
            <a:spLocks noGrp="1"/>
          </p:cNvSpPr>
          <p:nvPr/>
        </p:nvSpPr>
        <p:spPr>
          <a:xfrm>
            <a:off x="9258300" y="3781425"/>
            <a:ext cx="228600" cy="22860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txBody>
          <a:bodyPr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rPr lang="es-ES_tradnl" sz="600" b="1" noProof="0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6E5E2596-5359-4D39-B371-045E63672758}"/>
              </a:ext>
            </a:extLst>
          </p:cNvPr>
          <p:cNvSpPr>
            <a:spLocks noGrp="1"/>
          </p:cNvSpPr>
          <p:nvPr/>
        </p:nvSpPr>
        <p:spPr>
          <a:xfrm>
            <a:off x="9601200" y="3771900"/>
            <a:ext cx="12763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D7E5FF"/>
                </a:solidFill>
              </a:defRPr>
            </a:pPr>
            <a:r>
              <a:rPr lang="es-ES_tradnl" sz="1050" b="0" noProof="0" dirty="0">
                <a:solidFill>
                  <a:srgbClr val="D7E5FF"/>
                </a:solidFill>
              </a:rPr>
              <a:t>Cierra atención</a:t>
            </a:r>
          </a:p>
        </p:txBody>
      </p:sp>
      <p:cxnSp>
        <p:nvCxnSpPr>
          <p:cNvPr id="98" name="Conector recto de flecha 97"/>
          <p:cNvCxnSpPr>
            <a:stCxn id="17" idx="3"/>
            <a:endCxn id="18" idx="1"/>
          </p:cNvCxnSpPr>
          <p:nvPr/>
        </p:nvCxnSpPr>
        <p:spPr>
          <a:xfrm>
            <a:off x="3000375" y="3571875"/>
            <a:ext cx="1952625" cy="0"/>
          </a:xfrm>
          <a:prstGeom prst="straightConnector1">
            <a:avLst/>
          </a:prstGeom>
          <a:ln w="19050">
            <a:solidFill>
              <a:srgbClr val="38BDF8"/>
            </a:solidFill>
            <a:prstDash val="solid"/>
            <a:tailEnd type="arrow" w="med" len="med"/>
          </a:ln>
        </p:spPr>
      </p:cxnSp>
      <p:cxnSp>
        <p:nvCxnSpPr>
          <p:cNvPr id="99" name="Conector recto de flecha 98"/>
          <p:cNvCxnSpPr>
            <a:stCxn id="18" idx="3"/>
            <a:endCxn id="19" idx="1"/>
          </p:cNvCxnSpPr>
          <p:nvPr/>
        </p:nvCxnSpPr>
        <p:spPr>
          <a:xfrm>
            <a:off x="7191375" y="3571875"/>
            <a:ext cx="1762125" cy="0"/>
          </a:xfrm>
          <a:prstGeom prst="straightConnector1">
            <a:avLst/>
          </a:prstGeom>
          <a:ln w="19050">
            <a:solidFill>
              <a:srgbClr val="F59E0B"/>
            </a:solidFill>
            <a:prstDash val="solid"/>
            <a:tailEnd type="arrow" w="med" len="med"/>
          </a:ln>
        </p:spPr>
      </p:cxnSp>
      <p:sp>
        <p:nvSpPr>
          <p:cNvPr id="49" name="Rectángulo redondeado 48">
            <a:extLst>
              <a:ext uri="{FF2B5EF4-FFF2-40B4-BE49-F238E27FC236}">
                <a16:creationId xmlns:a16="http://schemas.microsoft.com/office/drawing/2014/main" id="{EF166D25-E103-4446-977A-2D95D7E1B8D1}"/>
              </a:ext>
            </a:extLst>
          </p:cNvPr>
          <p:cNvSpPr>
            <a:spLocks noGrp="1"/>
          </p:cNvSpPr>
          <p:nvPr/>
        </p:nvSpPr>
        <p:spPr>
          <a:xfrm>
            <a:off x="3981450" y="5638800"/>
            <a:ext cx="4095750" cy="285750"/>
          </a:xfrm>
          <a:prstGeom prst="roundRect">
            <a:avLst>
              <a:gd name="adj" fmla="val 50000"/>
            </a:avLst>
          </a:prstGeom>
          <a:solidFill>
            <a:srgbClr val="0D2A4D"/>
          </a:solidFill>
          <a:ln w="9525">
            <a:solidFill>
              <a:srgbClr val="38BDF8"/>
            </a:solidFill>
          </a:ln>
        </p:spPr>
        <p:txBody>
          <a:bodyPr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rPr lang="es-ES_tradnl" sz="900" b="1" noProof="0" dirty="0">
                <a:solidFill>
                  <a:srgbClr val="38BDF8"/>
                </a:solidFill>
              </a:rPr>
              <a:t>Sala: emergencia-{</a:t>
            </a:r>
            <a:r>
              <a:rPr lang="es-ES_tradnl" sz="900" b="1" noProof="0" dirty="0" err="1">
                <a:solidFill>
                  <a:srgbClr val="38BDF8"/>
                </a:solidFill>
              </a:rPr>
              <a:t>reporteId</a:t>
            </a:r>
            <a:r>
              <a:rPr lang="es-ES_tradnl" sz="900" b="1" noProof="0" dirty="0">
                <a:solidFill>
                  <a:srgbClr val="38BDF8"/>
                </a:solidFill>
              </a:rPr>
              <a:t>}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79653AFA-8D3C-4A76-89ED-099237768EC3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B6C7E6"/>
                </a:solidFill>
              </a:defRPr>
            </a:pPr>
            <a:r>
              <a:rPr lang="es-ES_tradnl" sz="750" b="1" noProof="0" dirty="0">
                <a:solidFill>
                  <a:srgbClr val="B6C7E6"/>
                </a:solidFill>
              </a:rPr>
              <a:t>EMERGENCIAS TECH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650F6E83-DACE-492A-8693-C08F2B1F8CCD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B6C7E6"/>
                </a:solidFill>
              </a:defRPr>
            </a:pPr>
            <a:r>
              <a:rPr lang="es-ES_tradnl" sz="900" b="1" noProof="0" dirty="0">
                <a:solidFill>
                  <a:srgbClr val="B6C7E6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23253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ángulo 38">
            <a:extLst>
              <a:ext uri="{FF2B5EF4-FFF2-40B4-BE49-F238E27FC236}">
                <a16:creationId xmlns:a16="http://schemas.microsoft.com/office/drawing/2014/main" id="{C70AA854-3C4F-439B-AE3E-FD2D4B9AFB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AFED5F9-2C6F-44C6-A328-AA147A18A128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0" b="1">
                <a:solidFill>
                  <a:srgbClr val="2563EB"/>
                </a:solidFill>
              </a:defRPr>
            </a:pPr>
            <a:r>
              <a:rPr lang="es-ES_tradnl" sz="900" b="1" noProof="0" dirty="0">
                <a:solidFill>
                  <a:srgbClr val="2563EB"/>
                </a:solidFill>
              </a:rPr>
              <a:t>DISEÑO DE SOFTWARE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5CDD69F-50CB-47DB-8A9A-B1DB5C4442CC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88582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lang="es-ES_tradnl" sz="2250" b="1" noProof="0" dirty="0">
                <a:solidFill>
                  <a:srgbClr val="0F172A"/>
                </a:solidFill>
              </a:rPr>
              <a:t>Patrones usados y patrones preparados para evolución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9455FC1-A4B1-4256-9C08-A4871E1D49EC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El proyecto ya aplica patrones prácticos; otros quedan como mejora cuando exista infraestructura productiva y servicios externos críticos.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A032930-859C-4BB4-9146-AAE882CA2A30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lang="es-ES_tradnl" sz="750" b="1" noProof="0" dirty="0">
                <a:solidFill>
                  <a:srgbClr val="64748B"/>
                </a:solidFill>
              </a:rPr>
              <a:t>EMERGENCIAS TECH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79838BE-4097-42C8-88CE-C5FD6C690AB8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lang="es-ES_tradnl" sz="900" b="1" noProof="0" dirty="0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32B50542-A404-471D-98CB-082E17FEDEA1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331470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EC1B7395-C031-4990-8EA0-3515E3E8DC32}"/>
              </a:ext>
            </a:extLst>
          </p:cNvPr>
          <p:cNvSpPr>
            <a:spLocks noGrp="1"/>
          </p:cNvSpPr>
          <p:nvPr/>
        </p:nvSpPr>
        <p:spPr>
          <a:xfrm>
            <a:off x="933450" y="1752600"/>
            <a:ext cx="400050" cy="40005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lang="es-ES_tradnl" sz="1050" b="1" noProof="0" dirty="0">
                <a:solidFill>
                  <a:srgbClr val="FFFFFF"/>
                </a:solidFill>
              </a:rPr>
              <a:t>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5710F84-D2FD-443A-B8C1-DEA34B768011}"/>
              </a:ext>
            </a:extLst>
          </p:cNvPr>
          <p:cNvSpPr>
            <a:spLocks noGrp="1"/>
          </p:cNvSpPr>
          <p:nvPr/>
        </p:nvSpPr>
        <p:spPr>
          <a:xfrm>
            <a:off x="1466850" y="175260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lang="es-ES_tradnl" sz="1500" b="1" noProof="0" dirty="0" err="1">
                <a:solidFill>
                  <a:srgbClr val="0F172A"/>
                </a:solidFill>
              </a:rPr>
              <a:t>Observer</a:t>
            </a:r>
            <a:endParaRPr lang="es-ES_tradnl" sz="1500" b="1" noProof="0" dirty="0">
              <a:solidFill>
                <a:srgbClr val="0F172A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5B0DC66-D875-451D-AC96-B1BABB614960}"/>
              </a:ext>
            </a:extLst>
          </p:cNvPr>
          <p:cNvSpPr>
            <a:spLocks noGrp="1"/>
          </p:cNvSpPr>
          <p:nvPr/>
        </p:nvSpPr>
        <p:spPr>
          <a:xfrm>
            <a:off x="933450" y="22098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Los clientes reaccionan a eventos emitidos por el </a:t>
            </a:r>
            <a:r>
              <a:rPr lang="es-ES_tradnl" sz="1088" b="0" noProof="0" dirty="0" err="1">
                <a:solidFill>
                  <a:srgbClr val="64748B"/>
                </a:solidFill>
              </a:rPr>
              <a:t>backend</a:t>
            </a:r>
            <a:r>
              <a:rPr lang="es-ES_tradnl" sz="1088" b="0" noProof="0" dirty="0">
                <a:solidFill>
                  <a:srgbClr val="64748B"/>
                </a:solidFill>
              </a:rPr>
              <a:t>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476FDA0-6107-4CC6-9B03-24E67CD57D00}"/>
              </a:ext>
            </a:extLst>
          </p:cNvPr>
          <p:cNvSpPr>
            <a:spLocks noGrp="1"/>
          </p:cNvSpPr>
          <p:nvPr/>
        </p:nvSpPr>
        <p:spPr>
          <a:xfrm>
            <a:off x="933450" y="2686050"/>
            <a:ext cx="2905125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13" b="1">
                <a:solidFill>
                  <a:srgbClr val="0F172A"/>
                </a:solidFill>
              </a:defRPr>
            </a:pPr>
            <a:r>
              <a:rPr lang="es-ES_tradnl" sz="1013" b="1" noProof="0" dirty="0" err="1">
                <a:solidFill>
                  <a:srgbClr val="0F172A"/>
                </a:solidFill>
              </a:rPr>
              <a:t>notificarNuevoReporte</a:t>
            </a:r>
            <a:r>
              <a:rPr lang="es-ES_tradnl" sz="1013" b="1" noProof="0" dirty="0">
                <a:solidFill>
                  <a:srgbClr val="0F172A"/>
                </a:solidFill>
              </a:rPr>
              <a:t>, </a:t>
            </a:r>
            <a:r>
              <a:rPr lang="es-ES_tradnl" sz="1013" b="1" noProof="0" dirty="0" err="1">
                <a:solidFill>
                  <a:srgbClr val="0F172A"/>
                </a:solidFill>
              </a:rPr>
              <a:t>estadoCambiado</a:t>
            </a:r>
            <a:r>
              <a:rPr lang="es-ES_tradnl" sz="1013" b="1" noProof="0" dirty="0">
                <a:solidFill>
                  <a:srgbClr val="0F172A"/>
                </a:solidFill>
              </a:rPr>
              <a:t>, </a:t>
            </a:r>
            <a:r>
              <a:rPr lang="es-ES_tradnl" sz="1013" b="1" noProof="0" dirty="0" err="1">
                <a:solidFill>
                  <a:srgbClr val="0F172A"/>
                </a:solidFill>
              </a:rPr>
              <a:t>unidadAsignada</a:t>
            </a:r>
            <a:endParaRPr lang="es-ES_tradnl" sz="1013" b="1" noProof="0" dirty="0">
              <a:solidFill>
                <a:srgbClr val="0F172A"/>
              </a:solidFill>
            </a:endParaRP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C074D611-659F-431A-8558-E6BC103949D2}"/>
              </a:ext>
            </a:extLst>
          </p:cNvPr>
          <p:cNvSpPr>
            <a:spLocks noGrp="1"/>
          </p:cNvSpPr>
          <p:nvPr/>
        </p:nvSpPr>
        <p:spPr>
          <a:xfrm>
            <a:off x="4438650" y="1562100"/>
            <a:ext cx="331470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D48D42B4-C333-46AB-A617-48C0CA6F8D86}"/>
              </a:ext>
            </a:extLst>
          </p:cNvPr>
          <p:cNvSpPr>
            <a:spLocks noGrp="1"/>
          </p:cNvSpPr>
          <p:nvPr/>
        </p:nvSpPr>
        <p:spPr>
          <a:xfrm>
            <a:off x="4629150" y="1752600"/>
            <a:ext cx="400050" cy="40005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lang="es-ES_tradnl" sz="1050" b="1" noProof="0" dirty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F6AF1B8-CB2A-4DEB-9ED4-AC44D5F607A7}"/>
              </a:ext>
            </a:extLst>
          </p:cNvPr>
          <p:cNvSpPr>
            <a:spLocks noGrp="1"/>
          </p:cNvSpPr>
          <p:nvPr/>
        </p:nvSpPr>
        <p:spPr>
          <a:xfrm>
            <a:off x="5162550" y="175260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lang="es-ES_tradnl" sz="1500" b="1" noProof="0" dirty="0">
                <a:solidFill>
                  <a:srgbClr val="0F172A"/>
                </a:solidFill>
              </a:rPr>
              <a:t>Proxy de protección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C7434DA-1B51-40C1-8C7F-5304EA1FCC05}"/>
              </a:ext>
            </a:extLst>
          </p:cNvPr>
          <p:cNvSpPr>
            <a:spLocks noGrp="1"/>
          </p:cNvSpPr>
          <p:nvPr/>
        </p:nvSpPr>
        <p:spPr>
          <a:xfrm>
            <a:off x="4629150" y="22098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Una capa intermedia controla acceso antes de llegar al recurso.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5E79118-3AC1-451D-81C6-9855427D7FF0}"/>
              </a:ext>
            </a:extLst>
          </p:cNvPr>
          <p:cNvSpPr>
            <a:spLocks noGrp="1"/>
          </p:cNvSpPr>
          <p:nvPr/>
        </p:nvSpPr>
        <p:spPr>
          <a:xfrm>
            <a:off x="4629150" y="2686050"/>
            <a:ext cx="2905125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13" b="1">
                <a:solidFill>
                  <a:srgbClr val="0F172A"/>
                </a:solidFill>
              </a:defRPr>
            </a:pPr>
            <a:r>
              <a:rPr lang="es-ES_tradnl" sz="1013" b="1" noProof="0" dirty="0">
                <a:solidFill>
                  <a:srgbClr val="0F172A"/>
                </a:solidFill>
              </a:rPr>
              <a:t>JWT + middlewares + </a:t>
            </a:r>
            <a:r>
              <a:rPr lang="es-ES_tradnl" sz="1013" b="1" noProof="0" dirty="0" err="1">
                <a:solidFill>
                  <a:srgbClr val="0F172A"/>
                </a:solidFill>
              </a:rPr>
              <a:t>RutaProtegida</a:t>
            </a:r>
            <a:r>
              <a:rPr lang="es-ES_tradnl" sz="1013" b="1" noProof="0" dirty="0">
                <a:solidFill>
                  <a:srgbClr val="0F172A"/>
                </a:solidFill>
              </a:rPr>
              <a:t> por rol</a:t>
            </a:r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9E306E6B-1AB6-4735-A37C-0ADD3ADC6785}"/>
              </a:ext>
            </a:extLst>
          </p:cNvPr>
          <p:cNvSpPr>
            <a:spLocks noGrp="1"/>
          </p:cNvSpPr>
          <p:nvPr/>
        </p:nvSpPr>
        <p:spPr>
          <a:xfrm>
            <a:off x="8134350" y="1562100"/>
            <a:ext cx="331470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6D982173-59B0-4063-A740-DBA7EAE78320}"/>
              </a:ext>
            </a:extLst>
          </p:cNvPr>
          <p:cNvSpPr>
            <a:spLocks noGrp="1"/>
          </p:cNvSpPr>
          <p:nvPr/>
        </p:nvSpPr>
        <p:spPr>
          <a:xfrm>
            <a:off x="8324850" y="1752600"/>
            <a:ext cx="400050" cy="40005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lang="es-ES_tradnl" sz="1050" b="1" noProof="0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B0F2CBD-BCDA-4DA4-B3D2-F0FB3F1018D7}"/>
              </a:ext>
            </a:extLst>
          </p:cNvPr>
          <p:cNvSpPr>
            <a:spLocks noGrp="1"/>
          </p:cNvSpPr>
          <p:nvPr/>
        </p:nvSpPr>
        <p:spPr>
          <a:xfrm>
            <a:off x="8858250" y="175260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lang="es-ES_tradnl" sz="1500" b="1" noProof="0" dirty="0" err="1">
                <a:solidFill>
                  <a:srgbClr val="0F172A"/>
                </a:solidFill>
              </a:rPr>
              <a:t>Adapter</a:t>
            </a:r>
            <a:r>
              <a:rPr lang="es-ES_tradnl" sz="1500" b="1" noProof="0" dirty="0">
                <a:solidFill>
                  <a:srgbClr val="0F172A"/>
                </a:solidFill>
              </a:rPr>
              <a:t> parcial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58A0EE7-06B3-4E9D-BEDD-502A46D93154}"/>
              </a:ext>
            </a:extLst>
          </p:cNvPr>
          <p:cNvSpPr>
            <a:spLocks noGrp="1"/>
          </p:cNvSpPr>
          <p:nvPr/>
        </p:nvSpPr>
        <p:spPr>
          <a:xfrm>
            <a:off x="8324850" y="22098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Convierte respuestas externas al modelo interno del sistema.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C7E8039-BFB6-44F3-A23B-16369369E821}"/>
              </a:ext>
            </a:extLst>
          </p:cNvPr>
          <p:cNvSpPr>
            <a:spLocks noGrp="1"/>
          </p:cNvSpPr>
          <p:nvPr/>
        </p:nvSpPr>
        <p:spPr>
          <a:xfrm>
            <a:off x="8324850" y="2686050"/>
            <a:ext cx="2905125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13" b="1">
                <a:solidFill>
                  <a:srgbClr val="0F172A"/>
                </a:solidFill>
              </a:defRPr>
            </a:pPr>
            <a:r>
              <a:rPr lang="es-ES_tradnl" sz="1013" b="1" noProof="0" dirty="0">
                <a:solidFill>
                  <a:srgbClr val="0F172A"/>
                </a:solidFill>
              </a:rPr>
              <a:t>Google </a:t>
            </a:r>
            <a:r>
              <a:rPr lang="es-ES_tradnl" sz="1013" b="1" noProof="0" dirty="0" err="1">
                <a:solidFill>
                  <a:srgbClr val="0F172A"/>
                </a:solidFill>
              </a:rPr>
              <a:t>credential</a:t>
            </a:r>
            <a:r>
              <a:rPr lang="es-ES_tradnl" sz="1013" b="1" noProof="0" dirty="0">
                <a:solidFill>
                  <a:srgbClr val="0F172A"/>
                </a:solidFill>
              </a:rPr>
              <a:t> -&gt; usuario/JWT; OSRM -&gt; </a:t>
            </a:r>
            <a:r>
              <a:rPr lang="es-ES_tradnl" sz="1013" b="1" noProof="0" dirty="0" err="1">
                <a:solidFill>
                  <a:srgbClr val="0F172A"/>
                </a:solidFill>
              </a:rPr>
              <a:t>polyline</a:t>
            </a:r>
            <a:endParaRPr lang="es-ES_tradnl" sz="1013" b="1" noProof="0" dirty="0">
              <a:solidFill>
                <a:srgbClr val="0F172A"/>
              </a:solidFill>
            </a:endParaRPr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934CCD6F-8D78-4152-A8C3-32F78A1C8894}"/>
              </a:ext>
            </a:extLst>
          </p:cNvPr>
          <p:cNvSpPr>
            <a:spLocks noGrp="1"/>
          </p:cNvSpPr>
          <p:nvPr/>
        </p:nvSpPr>
        <p:spPr>
          <a:xfrm>
            <a:off x="742950" y="3638550"/>
            <a:ext cx="331470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EC55109C-D1E7-4759-9ADB-54C2732D8F3D}"/>
              </a:ext>
            </a:extLst>
          </p:cNvPr>
          <p:cNvSpPr>
            <a:spLocks noGrp="1"/>
          </p:cNvSpPr>
          <p:nvPr/>
        </p:nvSpPr>
        <p:spPr>
          <a:xfrm>
            <a:off x="933450" y="3829050"/>
            <a:ext cx="400050" cy="40005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lang="es-ES_tradnl" sz="1050" b="1" noProof="0" dirty="0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DEED4AF-F42A-4A4B-9157-856BCC993928}"/>
              </a:ext>
            </a:extLst>
          </p:cNvPr>
          <p:cNvSpPr>
            <a:spLocks noGrp="1"/>
          </p:cNvSpPr>
          <p:nvPr/>
        </p:nvSpPr>
        <p:spPr>
          <a:xfrm>
            <a:off x="1466850" y="382905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lang="es-ES_tradnl" sz="1500" b="1" noProof="0" dirty="0">
                <a:solidFill>
                  <a:srgbClr val="0F172A"/>
                </a:solidFill>
              </a:rPr>
              <a:t>Factory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B88A14C-3F93-4758-BD4D-11EF4A55C90E}"/>
              </a:ext>
            </a:extLst>
          </p:cNvPr>
          <p:cNvSpPr>
            <a:spLocks noGrp="1"/>
          </p:cNvSpPr>
          <p:nvPr/>
        </p:nvSpPr>
        <p:spPr>
          <a:xfrm>
            <a:off x="933450" y="428625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Crea middlewares de autorización según roles permitidos.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BDF3595-5D0D-4619-B4DF-4D391362C906}"/>
              </a:ext>
            </a:extLst>
          </p:cNvPr>
          <p:cNvSpPr>
            <a:spLocks noGrp="1"/>
          </p:cNvSpPr>
          <p:nvPr/>
        </p:nvSpPr>
        <p:spPr>
          <a:xfrm>
            <a:off x="933450" y="4762500"/>
            <a:ext cx="2905125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13" b="1">
                <a:solidFill>
                  <a:srgbClr val="0F172A"/>
                </a:solidFill>
              </a:defRPr>
            </a:pPr>
            <a:r>
              <a:rPr lang="es-ES_tradnl" sz="1013" b="1" noProof="0" dirty="0">
                <a:solidFill>
                  <a:srgbClr val="0F172A"/>
                </a:solidFill>
              </a:rPr>
              <a:t>autorizar(...</a:t>
            </a:r>
            <a:r>
              <a:rPr lang="es-ES_tradnl" sz="1013" b="1" noProof="0" dirty="0" err="1">
                <a:solidFill>
                  <a:srgbClr val="0F172A"/>
                </a:solidFill>
              </a:rPr>
              <a:t>rolesPermitidos</a:t>
            </a:r>
            <a:r>
              <a:rPr lang="es-ES_tradnl" sz="1013" b="1" noProof="0" dirty="0">
                <a:solidFill>
                  <a:srgbClr val="0F172A"/>
                </a:solidFill>
              </a:rPr>
              <a:t>)</a:t>
            </a:r>
          </a:p>
        </p:txBody>
      </p:sp>
      <p:sp>
        <p:nvSpPr>
          <p:cNvPr id="27" name="Rectángulo redondeado 26">
            <a:extLst>
              <a:ext uri="{FF2B5EF4-FFF2-40B4-BE49-F238E27FC236}">
                <a16:creationId xmlns:a16="http://schemas.microsoft.com/office/drawing/2014/main" id="{1E10E326-8162-44C1-A77D-012DB573242B}"/>
              </a:ext>
            </a:extLst>
          </p:cNvPr>
          <p:cNvSpPr>
            <a:spLocks noGrp="1"/>
          </p:cNvSpPr>
          <p:nvPr/>
        </p:nvSpPr>
        <p:spPr>
          <a:xfrm>
            <a:off x="4438650" y="3638550"/>
            <a:ext cx="331470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625DE887-5D4E-4ABC-8D05-C01CE2B4A257}"/>
              </a:ext>
            </a:extLst>
          </p:cNvPr>
          <p:cNvSpPr>
            <a:spLocks noGrp="1"/>
          </p:cNvSpPr>
          <p:nvPr/>
        </p:nvSpPr>
        <p:spPr>
          <a:xfrm>
            <a:off x="4629150" y="3829050"/>
            <a:ext cx="400050" cy="40005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lang="es-ES_tradnl" sz="1050" b="1" noProof="0" dirty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FD98CD31-1279-408B-B0BC-3EB7E5226AF3}"/>
              </a:ext>
            </a:extLst>
          </p:cNvPr>
          <p:cNvSpPr>
            <a:spLocks noGrp="1"/>
          </p:cNvSpPr>
          <p:nvPr/>
        </p:nvSpPr>
        <p:spPr>
          <a:xfrm>
            <a:off x="5162550" y="382905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lang="es-ES_tradnl" sz="1500" b="1" noProof="0" dirty="0" err="1">
                <a:solidFill>
                  <a:srgbClr val="0F172A"/>
                </a:solidFill>
              </a:rPr>
              <a:t>Repository</a:t>
            </a:r>
            <a:r>
              <a:rPr lang="es-ES_tradnl" sz="1500" b="1" noProof="0" dirty="0">
                <a:solidFill>
                  <a:srgbClr val="0F172A"/>
                </a:solidFill>
              </a:rPr>
              <a:t> en memoria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3C546678-A383-4312-8DA2-7F3E0C92DD07}"/>
              </a:ext>
            </a:extLst>
          </p:cNvPr>
          <p:cNvSpPr>
            <a:spLocks noGrp="1"/>
          </p:cNvSpPr>
          <p:nvPr/>
        </p:nvSpPr>
        <p:spPr>
          <a:xfrm>
            <a:off x="4629150" y="428625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Aísla almacenamiento actual de usuarios/reportes.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E9176EE-874B-4C67-A043-9278C88CB651}"/>
              </a:ext>
            </a:extLst>
          </p:cNvPr>
          <p:cNvSpPr>
            <a:spLocks noGrp="1"/>
          </p:cNvSpPr>
          <p:nvPr/>
        </p:nvSpPr>
        <p:spPr>
          <a:xfrm>
            <a:off x="4629150" y="4762500"/>
            <a:ext cx="2905125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13" b="1">
                <a:solidFill>
                  <a:srgbClr val="0F172A"/>
                </a:solidFill>
              </a:defRPr>
            </a:pPr>
            <a:r>
              <a:rPr lang="es-ES_tradnl" sz="1013" b="1" noProof="0" dirty="0" err="1">
                <a:solidFill>
                  <a:srgbClr val="0F172A"/>
                </a:solidFill>
              </a:rPr>
              <a:t>usuarios.almacenamiento</a:t>
            </a:r>
            <a:r>
              <a:rPr lang="es-ES_tradnl" sz="1013" b="1" noProof="0" dirty="0">
                <a:solidFill>
                  <a:srgbClr val="0F172A"/>
                </a:solidFill>
              </a:rPr>
              <a:t> / </a:t>
            </a:r>
            <a:r>
              <a:rPr lang="es-ES_tradnl" sz="1013" b="1" noProof="0" dirty="0" err="1">
                <a:solidFill>
                  <a:srgbClr val="0F172A"/>
                </a:solidFill>
              </a:rPr>
              <a:t>reportes.almacenamiento</a:t>
            </a:r>
            <a:endParaRPr lang="es-ES_tradnl" sz="1013" b="1" noProof="0" dirty="0">
              <a:solidFill>
                <a:srgbClr val="0F172A"/>
              </a:solidFill>
            </a:endParaRPr>
          </a:p>
        </p:txBody>
      </p:sp>
      <p:sp>
        <p:nvSpPr>
          <p:cNvPr id="32" name="Rectángulo redondeado 31">
            <a:extLst>
              <a:ext uri="{FF2B5EF4-FFF2-40B4-BE49-F238E27FC236}">
                <a16:creationId xmlns:a16="http://schemas.microsoft.com/office/drawing/2014/main" id="{CF9B277E-0AEB-4728-A2EF-CB9EC0EF9F90}"/>
              </a:ext>
            </a:extLst>
          </p:cNvPr>
          <p:cNvSpPr>
            <a:spLocks noGrp="1"/>
          </p:cNvSpPr>
          <p:nvPr/>
        </p:nvSpPr>
        <p:spPr>
          <a:xfrm>
            <a:off x="8134350" y="3638550"/>
            <a:ext cx="331470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309F5F3C-4ABD-47F7-8D64-51911CD21767}"/>
              </a:ext>
            </a:extLst>
          </p:cNvPr>
          <p:cNvSpPr>
            <a:spLocks noGrp="1"/>
          </p:cNvSpPr>
          <p:nvPr/>
        </p:nvSpPr>
        <p:spPr>
          <a:xfrm>
            <a:off x="8324850" y="3829050"/>
            <a:ext cx="400050" cy="40005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lang="es-ES_tradnl" sz="1050" b="1" noProof="0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782FCB11-A74E-43BA-B772-BF38D9390C1F}"/>
              </a:ext>
            </a:extLst>
          </p:cNvPr>
          <p:cNvSpPr>
            <a:spLocks noGrp="1"/>
          </p:cNvSpPr>
          <p:nvPr/>
        </p:nvSpPr>
        <p:spPr>
          <a:xfrm>
            <a:off x="8858250" y="382905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lang="es-ES_tradnl" sz="1500" b="1" noProof="0" dirty="0" err="1">
                <a:solidFill>
                  <a:srgbClr val="0F172A"/>
                </a:solidFill>
              </a:rPr>
              <a:t>Circuit</a:t>
            </a:r>
            <a:r>
              <a:rPr lang="es-ES_tradnl" sz="1500" b="1" noProof="0" dirty="0">
                <a:solidFill>
                  <a:srgbClr val="0F172A"/>
                </a:solidFill>
              </a:rPr>
              <a:t> Breaker futuro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0C8AED94-3D84-4748-B387-E4701FD9D3BC}"/>
              </a:ext>
            </a:extLst>
          </p:cNvPr>
          <p:cNvSpPr>
            <a:spLocks noGrp="1"/>
          </p:cNvSpPr>
          <p:nvPr/>
        </p:nvSpPr>
        <p:spPr>
          <a:xfrm>
            <a:off x="8324850" y="428625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Cortaría llamadas repetidas a servicios externos caídos.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BC6F80C5-EBB7-4DBC-A1F7-5F6F71FAB99E}"/>
              </a:ext>
            </a:extLst>
          </p:cNvPr>
          <p:cNvSpPr>
            <a:spLocks noGrp="1"/>
          </p:cNvSpPr>
          <p:nvPr/>
        </p:nvSpPr>
        <p:spPr>
          <a:xfrm>
            <a:off x="8324850" y="4762500"/>
            <a:ext cx="2905125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13" b="1">
                <a:solidFill>
                  <a:srgbClr val="0F172A"/>
                </a:solidFill>
              </a:defRPr>
            </a:pPr>
            <a:r>
              <a:rPr lang="es-ES_tradnl" sz="1013" b="1" noProof="0" dirty="0">
                <a:solidFill>
                  <a:srgbClr val="0F172A"/>
                </a:solidFill>
              </a:rPr>
              <a:t>OSRM/Google: hoy hay </a:t>
            </a:r>
            <a:r>
              <a:rPr lang="es-ES_tradnl" sz="1013" b="1" noProof="0" dirty="0" err="1">
                <a:solidFill>
                  <a:srgbClr val="0F172A"/>
                </a:solidFill>
              </a:rPr>
              <a:t>fallback</a:t>
            </a:r>
            <a:r>
              <a:rPr lang="es-ES_tradnl" sz="1013" b="1" noProof="0" dirty="0">
                <a:solidFill>
                  <a:srgbClr val="0F172A"/>
                </a:solidFill>
              </a:rPr>
              <a:t>, no breaker completo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62660385-BF9B-438D-8009-CEC64F70C2D8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lang="es-ES_tradnl" sz="750" b="1" noProof="0" dirty="0">
                <a:solidFill>
                  <a:srgbClr val="64748B"/>
                </a:solidFill>
              </a:rPr>
              <a:t>EMERGENCIAS TECH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CAAB727F-539E-48C5-BB59-2257189F17D0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lang="es-ES_tradnl" sz="900" b="1" noProof="0" dirty="0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33654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9463787B-08FF-4684-B444-C5FAC24255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3113964-F571-43B8-8D38-100A5D34B1EE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0" b="1">
                <a:solidFill>
                  <a:srgbClr val="2563EB"/>
                </a:solidFill>
              </a:defRPr>
            </a:pPr>
            <a:r>
              <a:rPr lang="es-ES_tradnl" sz="900" b="1" noProof="0" dirty="0">
                <a:solidFill>
                  <a:srgbClr val="2563EB"/>
                </a:solidFill>
              </a:rPr>
              <a:t>PRINCIPIOS SOLID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E01C1A9-5C23-4AE7-8C88-96822B9561D8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88582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lang="es-ES_tradnl" sz="2100" b="1" noProof="0" dirty="0">
                <a:solidFill>
                  <a:srgbClr val="0F172A"/>
                </a:solidFill>
              </a:rPr>
              <a:t>Aplicación práctica: fuerte en modularidad, parcial en abstracciones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716882C-F8C5-41E6-A94E-DFBF389C54DF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endParaRPr lang="es-ES_tradnl" sz="1088" b="0" noProof="0" dirty="0">
              <a:solidFill>
                <a:srgbClr val="64748B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E5E2EE1-9BDC-4D2F-9121-0AFC1A5490E0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lang="es-ES_tradnl" sz="750" b="1" noProof="0" dirty="0">
                <a:solidFill>
                  <a:srgbClr val="64748B"/>
                </a:solidFill>
              </a:rPr>
              <a:t>EMERGENCIAS TECH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9102B19-27E0-4014-B00C-6DCB05CC7E99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lang="es-ES_tradnl" sz="900" b="1" noProof="0" dirty="0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25308EE2-AD20-4E73-BC54-8DA3BE1472A5}"/>
              </a:ext>
            </a:extLst>
          </p:cNvPr>
          <p:cNvSpPr>
            <a:spLocks noGrp="1"/>
          </p:cNvSpPr>
          <p:nvPr/>
        </p:nvSpPr>
        <p:spPr>
          <a:xfrm>
            <a:off x="857250" y="1524000"/>
            <a:ext cx="495300" cy="49530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es-ES_tradnl" sz="1350" b="1" noProof="0" dirty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CEDFB08-6B0E-4135-B266-E03C29DDD03C}"/>
              </a:ext>
            </a:extLst>
          </p:cNvPr>
          <p:cNvSpPr>
            <a:spLocks noGrp="1"/>
          </p:cNvSpPr>
          <p:nvPr/>
        </p:nvSpPr>
        <p:spPr>
          <a:xfrm>
            <a:off x="1543050" y="1562100"/>
            <a:ext cx="28575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75" b="1">
                <a:solidFill>
                  <a:srgbClr val="0F172A"/>
                </a:solidFill>
              </a:defRPr>
            </a:pPr>
            <a:r>
              <a:rPr lang="es-ES_tradnl" sz="1575" b="1" noProof="0" dirty="0">
                <a:solidFill>
                  <a:srgbClr val="0F172A"/>
                </a:solidFill>
              </a:rPr>
              <a:t>Responsabilidad única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96042DC-4667-4E6C-9D10-985EC6B40847}"/>
              </a:ext>
            </a:extLst>
          </p:cNvPr>
          <p:cNvSpPr>
            <a:spLocks noGrp="1"/>
          </p:cNvSpPr>
          <p:nvPr/>
        </p:nvSpPr>
        <p:spPr>
          <a:xfrm>
            <a:off x="1543050" y="1885950"/>
            <a:ext cx="74295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lang="es-ES_tradnl" sz="1200" b="0" noProof="0" dirty="0">
                <a:solidFill>
                  <a:srgbClr val="64748B"/>
                </a:solidFill>
              </a:rPr>
              <a:t>Controladores, servicios, rutas, middlewares y sockets separados.</a:t>
            </a:r>
          </a:p>
        </p:txBody>
      </p:sp>
      <p:sp>
        <p:nvSpPr>
          <p:cNvPr id="10" name="Conector recto 9">
            <a:extLst>
              <a:ext uri="{FF2B5EF4-FFF2-40B4-BE49-F238E27FC236}">
                <a16:creationId xmlns:a16="http://schemas.microsoft.com/office/drawing/2014/main" id="{7500307E-A801-44F0-8FAB-FEDDD7DB66A5}"/>
              </a:ext>
            </a:extLst>
          </p:cNvPr>
          <p:cNvSpPr>
            <a:spLocks noGrp="1"/>
          </p:cNvSpPr>
          <p:nvPr/>
        </p:nvSpPr>
        <p:spPr>
          <a:xfrm>
            <a:off x="1543050" y="2247900"/>
            <a:ext cx="8477250" cy="0"/>
          </a:xfrm>
          <a:prstGeom prst="line">
            <a:avLst/>
          </a:prstGeom>
          <a:ln w="9525">
            <a:solidFill>
              <a:srgbClr val="D9E5F4"/>
            </a:solidFill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E38495AA-A8F9-498B-868A-F8015CA983FC}"/>
              </a:ext>
            </a:extLst>
          </p:cNvPr>
          <p:cNvSpPr>
            <a:spLocks noGrp="1"/>
          </p:cNvSpPr>
          <p:nvPr/>
        </p:nvSpPr>
        <p:spPr>
          <a:xfrm>
            <a:off x="857250" y="2362200"/>
            <a:ext cx="495300" cy="49530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es-ES_tradnl" sz="1350" b="1" noProof="0" dirty="0">
                <a:solidFill>
                  <a:srgbClr val="FFFFFF"/>
                </a:solidFill>
              </a:rPr>
              <a:t>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2062F2C-F15C-425A-9821-6F9433ACC85A}"/>
              </a:ext>
            </a:extLst>
          </p:cNvPr>
          <p:cNvSpPr>
            <a:spLocks noGrp="1"/>
          </p:cNvSpPr>
          <p:nvPr/>
        </p:nvSpPr>
        <p:spPr>
          <a:xfrm>
            <a:off x="1543050" y="2400300"/>
            <a:ext cx="28575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75" b="1">
                <a:solidFill>
                  <a:srgbClr val="0F172A"/>
                </a:solidFill>
              </a:defRPr>
            </a:pPr>
            <a:r>
              <a:rPr lang="es-ES_tradnl" sz="1575" b="1" noProof="0" dirty="0">
                <a:solidFill>
                  <a:srgbClr val="0F172A"/>
                </a:solidFill>
              </a:rPr>
              <a:t>Abierto/cerrado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6C2AB61-0799-4DE0-9132-EB1E7F2F0406}"/>
              </a:ext>
            </a:extLst>
          </p:cNvPr>
          <p:cNvSpPr>
            <a:spLocks noGrp="1"/>
          </p:cNvSpPr>
          <p:nvPr/>
        </p:nvSpPr>
        <p:spPr>
          <a:xfrm>
            <a:off x="1543050" y="2724150"/>
            <a:ext cx="74295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lang="es-ES_tradnl" sz="1200" b="0" noProof="0" dirty="0">
                <a:solidFill>
                  <a:srgbClr val="64748B"/>
                </a:solidFill>
              </a:rPr>
              <a:t>CSV de gravedad permite ampliar reglas sin reescribir el </a:t>
            </a:r>
            <a:r>
              <a:rPr lang="es-ES_tradnl" sz="1200" b="0" noProof="0" dirty="0" err="1">
                <a:solidFill>
                  <a:srgbClr val="64748B"/>
                </a:solidFill>
              </a:rPr>
              <a:t>worker</a:t>
            </a:r>
            <a:r>
              <a:rPr lang="es-ES_tradnl" sz="1200" b="0" noProof="0" dirty="0">
                <a:solidFill>
                  <a:srgbClr val="64748B"/>
                </a:solidFill>
              </a:rPr>
              <a:t>.</a:t>
            </a:r>
          </a:p>
        </p:txBody>
      </p:sp>
      <p:sp>
        <p:nvSpPr>
          <p:cNvPr id="14" name="Conector recto 13">
            <a:extLst>
              <a:ext uri="{FF2B5EF4-FFF2-40B4-BE49-F238E27FC236}">
                <a16:creationId xmlns:a16="http://schemas.microsoft.com/office/drawing/2014/main" id="{B25837DF-78AA-48EE-ABB4-3B7FBC5C51A1}"/>
              </a:ext>
            </a:extLst>
          </p:cNvPr>
          <p:cNvSpPr>
            <a:spLocks noGrp="1"/>
          </p:cNvSpPr>
          <p:nvPr/>
        </p:nvSpPr>
        <p:spPr>
          <a:xfrm>
            <a:off x="1543050" y="3086100"/>
            <a:ext cx="8477250" cy="0"/>
          </a:xfrm>
          <a:prstGeom prst="line">
            <a:avLst/>
          </a:prstGeom>
          <a:ln w="9525">
            <a:solidFill>
              <a:srgbClr val="D9E5F4"/>
            </a:solidFill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26AECF06-C1A4-45A3-A319-A94E26267017}"/>
              </a:ext>
            </a:extLst>
          </p:cNvPr>
          <p:cNvSpPr>
            <a:spLocks noGrp="1"/>
          </p:cNvSpPr>
          <p:nvPr/>
        </p:nvSpPr>
        <p:spPr>
          <a:xfrm>
            <a:off x="857250" y="3200400"/>
            <a:ext cx="495300" cy="4953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es-ES_tradnl" sz="1350" b="1" noProof="0" dirty="0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8064D67-C2FF-4DFB-A9EE-3F8F74C2A65F}"/>
              </a:ext>
            </a:extLst>
          </p:cNvPr>
          <p:cNvSpPr>
            <a:spLocks noGrp="1"/>
          </p:cNvSpPr>
          <p:nvPr/>
        </p:nvSpPr>
        <p:spPr>
          <a:xfrm>
            <a:off x="1543050" y="3238500"/>
            <a:ext cx="28575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75" b="1">
                <a:solidFill>
                  <a:srgbClr val="0F172A"/>
                </a:solidFill>
              </a:defRPr>
            </a:pPr>
            <a:r>
              <a:rPr lang="es-ES_tradnl" sz="1575" b="1" noProof="0" dirty="0">
                <a:solidFill>
                  <a:srgbClr val="0F172A"/>
                </a:solidFill>
              </a:rPr>
              <a:t>Sustitución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35D8225-1C56-4D9A-962A-2C2666BCC5B2}"/>
              </a:ext>
            </a:extLst>
          </p:cNvPr>
          <p:cNvSpPr>
            <a:spLocks noGrp="1"/>
          </p:cNvSpPr>
          <p:nvPr/>
        </p:nvSpPr>
        <p:spPr>
          <a:xfrm>
            <a:off x="1543050" y="3562350"/>
            <a:ext cx="74295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lang="es-ES_tradnl" sz="1200" b="0" noProof="0" dirty="0">
                <a:solidFill>
                  <a:srgbClr val="64748B"/>
                </a:solidFill>
              </a:rPr>
              <a:t>Aplica poco: no hay jerarquías de herencia fuertes.</a:t>
            </a:r>
          </a:p>
        </p:txBody>
      </p:sp>
      <p:sp>
        <p:nvSpPr>
          <p:cNvPr id="18" name="Conector recto 17">
            <a:extLst>
              <a:ext uri="{FF2B5EF4-FFF2-40B4-BE49-F238E27FC236}">
                <a16:creationId xmlns:a16="http://schemas.microsoft.com/office/drawing/2014/main" id="{9E852C35-C799-484A-AB4E-87AB14D4C423}"/>
              </a:ext>
            </a:extLst>
          </p:cNvPr>
          <p:cNvSpPr>
            <a:spLocks noGrp="1"/>
          </p:cNvSpPr>
          <p:nvPr/>
        </p:nvSpPr>
        <p:spPr>
          <a:xfrm>
            <a:off x="1543050" y="3924300"/>
            <a:ext cx="8477250" cy="0"/>
          </a:xfrm>
          <a:prstGeom prst="line">
            <a:avLst/>
          </a:prstGeom>
          <a:ln w="9525">
            <a:solidFill>
              <a:srgbClr val="D9E5F4"/>
            </a:solidFill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7F75B0D5-CBC3-4011-BD4A-6EC0A797A53D}"/>
              </a:ext>
            </a:extLst>
          </p:cNvPr>
          <p:cNvSpPr>
            <a:spLocks noGrp="1"/>
          </p:cNvSpPr>
          <p:nvPr/>
        </p:nvSpPr>
        <p:spPr>
          <a:xfrm>
            <a:off x="857250" y="4038600"/>
            <a:ext cx="495300" cy="49530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es-ES_tradnl" sz="1350" b="1" noProof="0" dirty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0E47B1A-D4A4-4CFD-B89D-2339713B3C23}"/>
              </a:ext>
            </a:extLst>
          </p:cNvPr>
          <p:cNvSpPr>
            <a:spLocks noGrp="1"/>
          </p:cNvSpPr>
          <p:nvPr/>
        </p:nvSpPr>
        <p:spPr>
          <a:xfrm>
            <a:off x="1543050" y="4076700"/>
            <a:ext cx="28575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75" b="1">
                <a:solidFill>
                  <a:srgbClr val="0F172A"/>
                </a:solidFill>
              </a:defRPr>
            </a:pPr>
            <a:r>
              <a:rPr lang="es-ES_tradnl" sz="1575" b="1" noProof="0" dirty="0">
                <a:solidFill>
                  <a:srgbClr val="0F172A"/>
                </a:solidFill>
              </a:rPr>
              <a:t>Segregación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5CE7DC88-66A4-405C-9F8E-BAD9994F77C5}"/>
              </a:ext>
            </a:extLst>
          </p:cNvPr>
          <p:cNvSpPr>
            <a:spLocks noGrp="1"/>
          </p:cNvSpPr>
          <p:nvPr/>
        </p:nvSpPr>
        <p:spPr>
          <a:xfrm>
            <a:off x="1543050" y="4400550"/>
            <a:ext cx="74295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lang="es-ES_tradnl" sz="1200" b="0" noProof="0" dirty="0">
                <a:solidFill>
                  <a:srgbClr val="64748B"/>
                </a:solidFill>
              </a:rPr>
              <a:t>Módulos pequeños: </a:t>
            </a:r>
            <a:r>
              <a:rPr lang="es-ES_tradnl" sz="1200" b="0" noProof="0" dirty="0" err="1">
                <a:solidFill>
                  <a:srgbClr val="64748B"/>
                </a:solidFill>
              </a:rPr>
              <a:t>auth</a:t>
            </a:r>
            <a:r>
              <a:rPr lang="es-ES_tradnl" sz="1200" b="0" noProof="0" dirty="0">
                <a:solidFill>
                  <a:srgbClr val="64748B"/>
                </a:solidFill>
              </a:rPr>
              <a:t>, usuarios, reportes, analítica, predicciones.</a:t>
            </a:r>
          </a:p>
        </p:txBody>
      </p:sp>
      <p:sp>
        <p:nvSpPr>
          <p:cNvPr id="22" name="Conector recto 21">
            <a:extLst>
              <a:ext uri="{FF2B5EF4-FFF2-40B4-BE49-F238E27FC236}">
                <a16:creationId xmlns:a16="http://schemas.microsoft.com/office/drawing/2014/main" id="{6B6A60C5-EE54-44EB-8AFC-4DFEE87DF78C}"/>
              </a:ext>
            </a:extLst>
          </p:cNvPr>
          <p:cNvSpPr>
            <a:spLocks noGrp="1"/>
          </p:cNvSpPr>
          <p:nvPr/>
        </p:nvSpPr>
        <p:spPr>
          <a:xfrm>
            <a:off x="1543050" y="4762500"/>
            <a:ext cx="8477250" cy="0"/>
          </a:xfrm>
          <a:prstGeom prst="line">
            <a:avLst/>
          </a:prstGeom>
          <a:ln w="9525">
            <a:solidFill>
              <a:srgbClr val="D9E5F4"/>
            </a:solidFill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D11AAC66-69FE-4907-B98E-1113F8535666}"/>
              </a:ext>
            </a:extLst>
          </p:cNvPr>
          <p:cNvSpPr>
            <a:spLocks noGrp="1"/>
          </p:cNvSpPr>
          <p:nvPr/>
        </p:nvSpPr>
        <p:spPr>
          <a:xfrm>
            <a:off x="857250" y="4876800"/>
            <a:ext cx="495300" cy="49530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es-ES_tradnl" sz="1350" b="1" noProof="0" dirty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1FB283E-A63C-4FC0-A6A3-9A8B2941EAD2}"/>
              </a:ext>
            </a:extLst>
          </p:cNvPr>
          <p:cNvSpPr>
            <a:spLocks noGrp="1"/>
          </p:cNvSpPr>
          <p:nvPr/>
        </p:nvSpPr>
        <p:spPr>
          <a:xfrm>
            <a:off x="1543050" y="4914900"/>
            <a:ext cx="28575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75" b="1">
                <a:solidFill>
                  <a:srgbClr val="0F172A"/>
                </a:solidFill>
              </a:defRPr>
            </a:pPr>
            <a:r>
              <a:rPr lang="es-ES_tradnl" sz="1575" b="1" noProof="0" dirty="0">
                <a:solidFill>
                  <a:srgbClr val="0F172A"/>
                </a:solidFill>
              </a:rPr>
              <a:t>Inversión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683CD64-5268-426F-919E-F7831F8FFE83}"/>
              </a:ext>
            </a:extLst>
          </p:cNvPr>
          <p:cNvSpPr>
            <a:spLocks noGrp="1"/>
          </p:cNvSpPr>
          <p:nvPr/>
        </p:nvSpPr>
        <p:spPr>
          <a:xfrm>
            <a:off x="1543050" y="5238750"/>
            <a:ext cx="74295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lang="es-ES_tradnl" sz="1200" b="0" noProof="0" dirty="0">
                <a:solidFill>
                  <a:srgbClr val="64748B"/>
                </a:solidFill>
              </a:rPr>
              <a:t>Parcial: notificación recibe </a:t>
            </a:r>
            <a:r>
              <a:rPr lang="es-ES_tradnl" sz="1200" b="0" noProof="0" dirty="0" err="1">
                <a:solidFill>
                  <a:srgbClr val="64748B"/>
                </a:solidFill>
              </a:rPr>
              <a:t>Socket.IO</a:t>
            </a:r>
            <a:r>
              <a:rPr lang="es-ES_tradnl" sz="1200" b="0" noProof="0" dirty="0">
                <a:solidFill>
                  <a:srgbClr val="64748B"/>
                </a:solidFill>
              </a:rPr>
              <a:t>; faltan interfaces formales.</a:t>
            </a: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8EB72507-DD65-4E45-AD8B-097AAC60C7E0}"/>
              </a:ext>
            </a:extLst>
          </p:cNvPr>
          <p:cNvSpPr>
            <a:spLocks noGrp="1"/>
          </p:cNvSpPr>
          <p:nvPr/>
        </p:nvSpPr>
        <p:spPr>
          <a:xfrm>
            <a:off x="9334500" y="1809750"/>
            <a:ext cx="1714500" cy="2857500"/>
          </a:xfrm>
          <a:prstGeom prst="roundRect">
            <a:avLst>
              <a:gd name="adj" fmla="val 7778"/>
            </a:avLst>
          </a:prstGeom>
          <a:solidFill>
            <a:srgbClr val="0B2345"/>
          </a:solidFill>
          <a:ln w="9525">
            <a:solidFill>
              <a:srgbClr val="0B234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428C470-E2EC-459D-B7D5-8C612F2FF790}"/>
              </a:ext>
            </a:extLst>
          </p:cNvPr>
          <p:cNvSpPr>
            <a:spLocks noGrp="1"/>
          </p:cNvSpPr>
          <p:nvPr/>
        </p:nvSpPr>
        <p:spPr>
          <a:xfrm>
            <a:off x="9696450" y="20764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lang="es-ES_tradnl" sz="1650" b="1" noProof="0" dirty="0">
                <a:solidFill>
                  <a:srgbClr val="FFFFFF"/>
                </a:solidFill>
              </a:rPr>
              <a:t>Beneficio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249D12BD-D1A8-49A8-9172-9EF1D0C4E243}"/>
              </a:ext>
            </a:extLst>
          </p:cNvPr>
          <p:cNvSpPr>
            <a:spLocks noGrp="1"/>
          </p:cNvSpPr>
          <p:nvPr/>
        </p:nvSpPr>
        <p:spPr>
          <a:xfrm>
            <a:off x="9467850" y="2628900"/>
            <a:ext cx="1428750" cy="1238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75" b="0">
                <a:solidFill>
                  <a:srgbClr val="D7E5FF"/>
                </a:solidFill>
              </a:defRPr>
            </a:pPr>
            <a:r>
              <a:rPr lang="es-ES_tradnl" sz="1275" b="0" noProof="0" dirty="0">
                <a:solidFill>
                  <a:srgbClr val="D7E5FF"/>
                </a:solidFill>
              </a:rPr>
              <a:t>Mantenibilidad</a:t>
            </a:r>
          </a:p>
          <a:p>
            <a:pPr algn="ctr">
              <a:defRPr sz="1275" b="0">
                <a:solidFill>
                  <a:srgbClr val="D7E5FF"/>
                </a:solidFill>
              </a:defRPr>
            </a:pPr>
            <a:r>
              <a:rPr lang="es-ES_tradnl" sz="1275" b="0" noProof="0" dirty="0">
                <a:solidFill>
                  <a:srgbClr val="D7E5FF"/>
                </a:solidFill>
              </a:rPr>
              <a:t>Escalabilidad</a:t>
            </a:r>
          </a:p>
          <a:p>
            <a:pPr algn="ctr">
              <a:defRPr sz="1275" b="0">
                <a:solidFill>
                  <a:srgbClr val="D7E5FF"/>
                </a:solidFill>
              </a:defRPr>
            </a:pPr>
            <a:r>
              <a:rPr lang="es-ES_tradnl" sz="1275" b="0" noProof="0" dirty="0">
                <a:solidFill>
                  <a:srgbClr val="D7E5FF"/>
                </a:solidFill>
              </a:rPr>
              <a:t>Menos acoplamiento</a:t>
            </a:r>
          </a:p>
          <a:p>
            <a:pPr algn="ctr">
              <a:defRPr sz="1275" b="0">
                <a:solidFill>
                  <a:srgbClr val="D7E5FF"/>
                </a:solidFill>
              </a:defRPr>
            </a:pPr>
            <a:r>
              <a:rPr lang="es-ES_tradnl" sz="1275" b="0" noProof="0" dirty="0">
                <a:solidFill>
                  <a:srgbClr val="D7E5FF"/>
                </a:solidFill>
              </a:rPr>
              <a:t>Más claridad para defender el código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4F3ED5A-1EE4-4FB8-9202-C9A8C2B94A1F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lang="es-ES_tradnl" sz="750" b="1" noProof="0" dirty="0">
                <a:solidFill>
                  <a:srgbClr val="64748B"/>
                </a:solidFill>
              </a:rPr>
              <a:t>EMERGENCIAS TECH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AFAD36D3-60CF-4F37-872B-658C20927BF2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lang="es-ES_tradnl" sz="900" b="1" noProof="0" dirty="0">
                <a:solidFill>
                  <a:srgbClr val="64748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21073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ángulo 42">
            <a:extLst>
              <a:ext uri="{FF2B5EF4-FFF2-40B4-BE49-F238E27FC236}">
                <a16:creationId xmlns:a16="http://schemas.microsoft.com/office/drawing/2014/main" id="{A93E9950-2085-4E27-8B9A-EBEC092F3C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9C1CC17A-DFF5-4750-BD3A-CDA8BDABFE3C}"/>
              </a:ext>
            </a:extLst>
          </p:cNvPr>
          <p:cNvSpPr>
            <a:spLocks noGrp="1"/>
          </p:cNvSpPr>
          <p:nvPr/>
        </p:nvSpPr>
        <p:spPr>
          <a:xfrm>
            <a:off x="7810500" y="342900"/>
            <a:ext cx="47625" cy="47625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8833E77F-30BC-49F8-8397-8F1AE6A59372}"/>
              </a:ext>
            </a:extLst>
          </p:cNvPr>
          <p:cNvSpPr>
            <a:spLocks noGrp="1"/>
          </p:cNvSpPr>
          <p:nvPr/>
        </p:nvSpPr>
        <p:spPr>
          <a:xfrm>
            <a:off x="8134350" y="8763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711A8F6-821F-4263-B3D6-668D75D7849B}"/>
              </a:ext>
            </a:extLst>
          </p:cNvPr>
          <p:cNvSpPr>
            <a:spLocks noGrp="1"/>
          </p:cNvSpPr>
          <p:nvPr/>
        </p:nvSpPr>
        <p:spPr>
          <a:xfrm>
            <a:off x="8458200" y="14097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7E390322-CB95-4BC0-86D8-5617FAB2B303}"/>
              </a:ext>
            </a:extLst>
          </p:cNvPr>
          <p:cNvSpPr>
            <a:spLocks noGrp="1"/>
          </p:cNvSpPr>
          <p:nvPr/>
        </p:nvSpPr>
        <p:spPr>
          <a:xfrm>
            <a:off x="8782050" y="1943100"/>
            <a:ext cx="47625" cy="47625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28FAD7A-672D-4938-9667-C9760DC6AC58}"/>
              </a:ext>
            </a:extLst>
          </p:cNvPr>
          <p:cNvSpPr>
            <a:spLocks noGrp="1"/>
          </p:cNvSpPr>
          <p:nvPr/>
        </p:nvSpPr>
        <p:spPr>
          <a:xfrm>
            <a:off x="9105900" y="24765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AB94FE1-AC2B-4797-AE84-F400E28A988E}"/>
              </a:ext>
            </a:extLst>
          </p:cNvPr>
          <p:cNvSpPr>
            <a:spLocks noGrp="1"/>
          </p:cNvSpPr>
          <p:nvPr/>
        </p:nvSpPr>
        <p:spPr>
          <a:xfrm>
            <a:off x="9429750" y="3429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D72C2742-A78D-4535-A32F-795564518C4F}"/>
              </a:ext>
            </a:extLst>
          </p:cNvPr>
          <p:cNvSpPr>
            <a:spLocks noGrp="1"/>
          </p:cNvSpPr>
          <p:nvPr/>
        </p:nvSpPr>
        <p:spPr>
          <a:xfrm>
            <a:off x="9753600" y="876300"/>
            <a:ext cx="47625" cy="47625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FCED6981-F988-4CBE-BD92-F68D54243039}"/>
              </a:ext>
            </a:extLst>
          </p:cNvPr>
          <p:cNvSpPr>
            <a:spLocks noGrp="1"/>
          </p:cNvSpPr>
          <p:nvPr/>
        </p:nvSpPr>
        <p:spPr>
          <a:xfrm>
            <a:off x="10077450" y="14097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ACC9B05-65F6-4F79-9D26-F62A1BF7A146}"/>
              </a:ext>
            </a:extLst>
          </p:cNvPr>
          <p:cNvSpPr>
            <a:spLocks noGrp="1"/>
          </p:cNvSpPr>
          <p:nvPr/>
        </p:nvSpPr>
        <p:spPr>
          <a:xfrm>
            <a:off x="10401300" y="19431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23431BE6-BDEA-4560-95F5-B4AD6FCFDFEA}"/>
              </a:ext>
            </a:extLst>
          </p:cNvPr>
          <p:cNvSpPr>
            <a:spLocks noGrp="1"/>
          </p:cNvSpPr>
          <p:nvPr/>
        </p:nvSpPr>
        <p:spPr>
          <a:xfrm>
            <a:off x="10725150" y="2476500"/>
            <a:ext cx="47625" cy="47625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6DECE71-E8B4-44DE-8F86-2F6797B2F32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0" b="1">
                <a:solidFill>
                  <a:srgbClr val="38BDF8"/>
                </a:solidFill>
              </a:defRPr>
            </a:pPr>
            <a:r>
              <a:rPr lang="es-ES_tradnl" sz="900" b="1" noProof="0" dirty="0">
                <a:solidFill>
                  <a:srgbClr val="38BDF8"/>
                </a:solidFill>
              </a:rPr>
              <a:t>SEGURIDAD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9E6BB0A-11D9-4979-A96E-45717FD812BD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88582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lang="es-ES_tradnl" sz="2250" b="1" noProof="0" dirty="0">
                <a:solidFill>
                  <a:srgbClr val="FFFFFF"/>
                </a:solidFill>
              </a:rPr>
              <a:t>JWT, roles y buenas prácticas para proteger operaciones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B35901F-0E09-4463-871C-A8E3C52B10CD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C7D2FE"/>
                </a:solidFill>
              </a:defRPr>
            </a:pPr>
            <a:r>
              <a:rPr lang="es-ES_tradnl" sz="1088" b="0" noProof="0" dirty="0">
                <a:solidFill>
                  <a:srgbClr val="C7D2FE"/>
                </a:solidFill>
              </a:rPr>
              <a:t>La seguridad se concentra en autenticación, autorización, validación y manejo controlado de errores.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54B8DD8-61B4-44C5-9C5B-E372C4109209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B6C7E6"/>
                </a:solidFill>
              </a:defRPr>
            </a:pPr>
            <a:r>
              <a:rPr lang="es-ES_tradnl" sz="750" b="1" noProof="0" dirty="0">
                <a:solidFill>
                  <a:srgbClr val="B6C7E6"/>
                </a:solidFill>
              </a:rPr>
              <a:t>EMERGENCIAS TECH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BFEDFCB-24FB-4E50-8777-07F0ED2CD3A2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B6C7E6"/>
                </a:solidFill>
              </a:defRPr>
            </a:pPr>
            <a:r>
              <a:rPr lang="es-ES_tradnl" sz="900" b="1" noProof="0" dirty="0">
                <a:solidFill>
                  <a:srgbClr val="B6C7E6"/>
                </a:solidFill>
              </a:rPr>
              <a:t>12</a:t>
            </a:r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54B8F022-6D39-40CA-926E-67A0E5E60223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3048000" cy="1295400"/>
          </a:xfrm>
          <a:prstGeom prst="roundRect">
            <a:avLst>
              <a:gd name="adj" fmla="val 8824"/>
            </a:avLst>
          </a:prstGeom>
          <a:solidFill>
            <a:srgbClr val="0F2D54"/>
          </a:solidFill>
          <a:ln w="9525">
            <a:solidFill>
              <a:srgbClr val="385C9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E2E81A7B-5A9F-4776-B8BB-2CD14146F433}"/>
              </a:ext>
            </a:extLst>
          </p:cNvPr>
          <p:cNvSpPr>
            <a:spLocks noGrp="1"/>
          </p:cNvSpPr>
          <p:nvPr/>
        </p:nvSpPr>
        <p:spPr>
          <a:xfrm>
            <a:off x="971550" y="1847850"/>
            <a:ext cx="400050" cy="40005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lang="es-ES_tradnl" sz="1050" b="1" noProof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F007547-2739-481B-9513-0E9DF761E57D}"/>
              </a:ext>
            </a:extLst>
          </p:cNvPr>
          <p:cNvSpPr>
            <a:spLocks noGrp="1"/>
          </p:cNvSpPr>
          <p:nvPr/>
        </p:nvSpPr>
        <p:spPr>
          <a:xfrm>
            <a:off x="1543050" y="1847850"/>
            <a:ext cx="1905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75" b="1">
                <a:solidFill>
                  <a:srgbClr val="FFFFFF"/>
                </a:solidFill>
              </a:defRPr>
            </a:pPr>
            <a:r>
              <a:rPr lang="es-ES_tradnl" sz="1575" b="1" noProof="0" dirty="0">
                <a:solidFill>
                  <a:srgbClr val="FFFFFF"/>
                </a:solidFill>
              </a:rPr>
              <a:t>Autenticación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A9C5589-57C4-481B-AEDF-2AC412763823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D7E5FF"/>
                </a:solidFill>
              </a:defRPr>
            </a:pPr>
            <a:r>
              <a:rPr lang="es-ES_tradnl" sz="1088" b="0" noProof="0" dirty="0">
                <a:solidFill>
                  <a:srgbClr val="D7E5FF"/>
                </a:solidFill>
              </a:rPr>
              <a:t>JWT en </a:t>
            </a:r>
            <a:r>
              <a:rPr lang="es-ES_tradnl" sz="1088" b="0" noProof="0" dirty="0" err="1">
                <a:solidFill>
                  <a:srgbClr val="D7E5FF"/>
                </a:solidFill>
              </a:rPr>
              <a:t>Authorization</a:t>
            </a:r>
            <a:r>
              <a:rPr lang="es-ES_tradnl" sz="1088" b="0" noProof="0" dirty="0">
                <a:solidFill>
                  <a:srgbClr val="D7E5FF"/>
                </a:solidFill>
              </a:rPr>
              <a:t> Bearer; </a:t>
            </a:r>
            <a:r>
              <a:rPr lang="es-ES_tradnl" sz="1088" b="0" noProof="0" dirty="0" err="1">
                <a:solidFill>
                  <a:srgbClr val="D7E5FF"/>
                </a:solidFill>
              </a:rPr>
              <a:t>login</a:t>
            </a:r>
            <a:r>
              <a:rPr lang="es-ES_tradnl" sz="1088" b="0" noProof="0" dirty="0">
                <a:solidFill>
                  <a:srgbClr val="D7E5FF"/>
                </a:solidFill>
              </a:rPr>
              <a:t> local y Google.</a:t>
            </a:r>
          </a:p>
        </p:txBody>
      </p:sp>
      <p:sp>
        <p:nvSpPr>
          <p:cNvPr id="21" name="Rectángulo redondeado 20">
            <a:extLst>
              <a:ext uri="{FF2B5EF4-FFF2-40B4-BE49-F238E27FC236}">
                <a16:creationId xmlns:a16="http://schemas.microsoft.com/office/drawing/2014/main" id="{159A9795-CE48-4196-972A-B7B36EA28BD7}"/>
              </a:ext>
            </a:extLst>
          </p:cNvPr>
          <p:cNvSpPr>
            <a:spLocks noGrp="1"/>
          </p:cNvSpPr>
          <p:nvPr/>
        </p:nvSpPr>
        <p:spPr>
          <a:xfrm>
            <a:off x="4333875" y="1619250"/>
            <a:ext cx="3048000" cy="1295400"/>
          </a:xfrm>
          <a:prstGeom prst="roundRect">
            <a:avLst>
              <a:gd name="adj" fmla="val 8824"/>
            </a:avLst>
          </a:prstGeom>
          <a:solidFill>
            <a:srgbClr val="0F2D54"/>
          </a:solidFill>
          <a:ln w="9525">
            <a:solidFill>
              <a:srgbClr val="38BDF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11253DC7-ED14-4C24-AEC9-8E3EC24AEB46}"/>
              </a:ext>
            </a:extLst>
          </p:cNvPr>
          <p:cNvSpPr>
            <a:spLocks noGrp="1"/>
          </p:cNvSpPr>
          <p:nvPr/>
        </p:nvSpPr>
        <p:spPr>
          <a:xfrm>
            <a:off x="4543425" y="1847850"/>
            <a:ext cx="400050" cy="40005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lang="es-ES_tradnl" sz="1050" b="1" noProof="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D45A9D1-1A0A-4533-877C-8E9BF75A47DA}"/>
              </a:ext>
            </a:extLst>
          </p:cNvPr>
          <p:cNvSpPr>
            <a:spLocks noGrp="1"/>
          </p:cNvSpPr>
          <p:nvPr/>
        </p:nvSpPr>
        <p:spPr>
          <a:xfrm>
            <a:off x="5114925" y="1847850"/>
            <a:ext cx="1905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75" b="1">
                <a:solidFill>
                  <a:srgbClr val="FFFFFF"/>
                </a:solidFill>
              </a:defRPr>
            </a:pPr>
            <a:r>
              <a:rPr lang="es-ES_tradnl" sz="1575" b="1" noProof="0" dirty="0">
                <a:solidFill>
                  <a:srgbClr val="FFFFFF"/>
                </a:solidFill>
              </a:rPr>
              <a:t>Autorización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A8CF3AF9-1FFE-42E9-8431-960A706CBF6C}"/>
              </a:ext>
            </a:extLst>
          </p:cNvPr>
          <p:cNvSpPr>
            <a:spLocks noGrp="1"/>
          </p:cNvSpPr>
          <p:nvPr/>
        </p:nvSpPr>
        <p:spPr>
          <a:xfrm>
            <a:off x="4543425" y="23622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D7E5FF"/>
                </a:solidFill>
              </a:defRPr>
            </a:pPr>
            <a:r>
              <a:rPr lang="es-ES_tradnl" sz="1088" b="0" noProof="0" dirty="0">
                <a:solidFill>
                  <a:srgbClr val="D7E5FF"/>
                </a:solidFill>
              </a:rPr>
              <a:t>Roles: usuario, operador, administrador y unidad.</a:t>
            </a:r>
          </a:p>
        </p:txBody>
      </p:sp>
      <p:sp>
        <p:nvSpPr>
          <p:cNvPr id="25" name="Rectángulo redondeado 24">
            <a:extLst>
              <a:ext uri="{FF2B5EF4-FFF2-40B4-BE49-F238E27FC236}">
                <a16:creationId xmlns:a16="http://schemas.microsoft.com/office/drawing/2014/main" id="{142192AF-6B02-4FA3-BDAE-8B2EC6B5AF69}"/>
              </a:ext>
            </a:extLst>
          </p:cNvPr>
          <p:cNvSpPr>
            <a:spLocks noGrp="1"/>
          </p:cNvSpPr>
          <p:nvPr/>
        </p:nvSpPr>
        <p:spPr>
          <a:xfrm>
            <a:off x="7905750" y="1619250"/>
            <a:ext cx="3048000" cy="1295400"/>
          </a:xfrm>
          <a:prstGeom prst="roundRect">
            <a:avLst>
              <a:gd name="adj" fmla="val 8824"/>
            </a:avLst>
          </a:prstGeom>
          <a:solidFill>
            <a:srgbClr val="0F2D54"/>
          </a:solidFill>
          <a:ln w="9525">
            <a:solidFill>
              <a:srgbClr val="385C9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C1026B33-6666-4881-AFA4-FA972EF5D43B}"/>
              </a:ext>
            </a:extLst>
          </p:cNvPr>
          <p:cNvSpPr>
            <a:spLocks noGrp="1"/>
          </p:cNvSpPr>
          <p:nvPr/>
        </p:nvSpPr>
        <p:spPr>
          <a:xfrm>
            <a:off x="8115300" y="1847850"/>
            <a:ext cx="400050" cy="40005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lang="es-ES_tradnl" sz="1050" b="1" noProof="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999524FC-6562-4169-B020-31946584B9F0}"/>
              </a:ext>
            </a:extLst>
          </p:cNvPr>
          <p:cNvSpPr>
            <a:spLocks noGrp="1"/>
          </p:cNvSpPr>
          <p:nvPr/>
        </p:nvSpPr>
        <p:spPr>
          <a:xfrm>
            <a:off x="8686800" y="1847850"/>
            <a:ext cx="1905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75" b="1">
                <a:solidFill>
                  <a:srgbClr val="FFFFFF"/>
                </a:solidFill>
              </a:defRPr>
            </a:pPr>
            <a:r>
              <a:rPr lang="es-ES_tradnl" sz="1575" b="1" noProof="0" dirty="0">
                <a:solidFill>
                  <a:srgbClr val="FFFFFF"/>
                </a:solidFill>
              </a:rPr>
              <a:t>Contraseñas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D85EEF7-E178-42C4-BFE9-44A4088A3462}"/>
              </a:ext>
            </a:extLst>
          </p:cNvPr>
          <p:cNvSpPr>
            <a:spLocks noGrp="1"/>
          </p:cNvSpPr>
          <p:nvPr/>
        </p:nvSpPr>
        <p:spPr>
          <a:xfrm>
            <a:off x="8115300" y="23622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D7E5FF"/>
                </a:solidFill>
              </a:defRPr>
            </a:pPr>
            <a:r>
              <a:rPr lang="es-ES_tradnl" sz="1088" b="0" noProof="0" dirty="0">
                <a:solidFill>
                  <a:srgbClr val="D7E5FF"/>
                </a:solidFill>
              </a:rPr>
              <a:t>Hash con </a:t>
            </a:r>
            <a:r>
              <a:rPr lang="es-ES_tradnl" sz="1088" b="0" noProof="0" dirty="0" err="1">
                <a:solidFill>
                  <a:srgbClr val="D7E5FF"/>
                </a:solidFill>
              </a:rPr>
              <a:t>bcryptjs</a:t>
            </a:r>
            <a:r>
              <a:rPr lang="es-ES_tradnl" sz="1088" b="0" noProof="0" dirty="0">
                <a:solidFill>
                  <a:srgbClr val="D7E5FF"/>
                </a:solidFill>
              </a:rPr>
              <a:t>; no se guardan en texto plano.</a:t>
            </a:r>
          </a:p>
        </p:txBody>
      </p:sp>
      <p:sp>
        <p:nvSpPr>
          <p:cNvPr id="29" name="Rectángulo redondeado 28">
            <a:extLst>
              <a:ext uri="{FF2B5EF4-FFF2-40B4-BE49-F238E27FC236}">
                <a16:creationId xmlns:a16="http://schemas.microsoft.com/office/drawing/2014/main" id="{9FE3900E-F4E7-4E2A-99F7-E79B354F1EF2}"/>
              </a:ext>
            </a:extLst>
          </p:cNvPr>
          <p:cNvSpPr>
            <a:spLocks noGrp="1"/>
          </p:cNvSpPr>
          <p:nvPr/>
        </p:nvSpPr>
        <p:spPr>
          <a:xfrm>
            <a:off x="762000" y="3429000"/>
            <a:ext cx="3048000" cy="1295400"/>
          </a:xfrm>
          <a:prstGeom prst="roundRect">
            <a:avLst>
              <a:gd name="adj" fmla="val 8824"/>
            </a:avLst>
          </a:prstGeom>
          <a:solidFill>
            <a:srgbClr val="0F2D54"/>
          </a:solidFill>
          <a:ln w="9525">
            <a:solidFill>
              <a:srgbClr val="38BDF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4810AF31-5F92-45A3-8F80-F3BAE85A1095}"/>
              </a:ext>
            </a:extLst>
          </p:cNvPr>
          <p:cNvSpPr>
            <a:spLocks noGrp="1"/>
          </p:cNvSpPr>
          <p:nvPr/>
        </p:nvSpPr>
        <p:spPr>
          <a:xfrm>
            <a:off x="971550" y="3657600"/>
            <a:ext cx="400050" cy="40005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lang="es-ES_tradnl" sz="1050" b="1" noProof="0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5FFE785B-1C66-429D-93E2-3C8678CF898A}"/>
              </a:ext>
            </a:extLst>
          </p:cNvPr>
          <p:cNvSpPr>
            <a:spLocks noGrp="1"/>
          </p:cNvSpPr>
          <p:nvPr/>
        </p:nvSpPr>
        <p:spPr>
          <a:xfrm>
            <a:off x="1543050" y="3657600"/>
            <a:ext cx="1905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75" b="1">
                <a:solidFill>
                  <a:srgbClr val="FFFFFF"/>
                </a:solidFill>
              </a:defRPr>
            </a:pPr>
            <a:r>
              <a:rPr lang="es-ES_tradnl" sz="1575" b="1" noProof="0" dirty="0">
                <a:solidFill>
                  <a:srgbClr val="FFFFFF"/>
                </a:solidFill>
              </a:rPr>
              <a:t>Validación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4357376-F213-4B54-B82B-92A52B95EE08}"/>
              </a:ext>
            </a:extLst>
          </p:cNvPr>
          <p:cNvSpPr>
            <a:spLocks noGrp="1"/>
          </p:cNvSpPr>
          <p:nvPr/>
        </p:nvSpPr>
        <p:spPr>
          <a:xfrm>
            <a:off x="971550" y="417195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D7E5FF"/>
                </a:solidFill>
              </a:defRPr>
            </a:pPr>
            <a:r>
              <a:rPr lang="es-ES_tradnl" sz="1088" b="0" noProof="0" dirty="0">
                <a:solidFill>
                  <a:srgbClr val="D7E5FF"/>
                </a:solidFill>
              </a:rPr>
              <a:t>Campos obligatorios, tipos permitidos y transición de estado.</a:t>
            </a:r>
          </a:p>
        </p:txBody>
      </p:sp>
      <p:sp>
        <p:nvSpPr>
          <p:cNvPr id="33" name="Rectángulo redondeado 32">
            <a:extLst>
              <a:ext uri="{FF2B5EF4-FFF2-40B4-BE49-F238E27FC236}">
                <a16:creationId xmlns:a16="http://schemas.microsoft.com/office/drawing/2014/main" id="{21912991-D16F-47E3-9123-7305C32F1684}"/>
              </a:ext>
            </a:extLst>
          </p:cNvPr>
          <p:cNvSpPr>
            <a:spLocks noGrp="1"/>
          </p:cNvSpPr>
          <p:nvPr/>
        </p:nvSpPr>
        <p:spPr>
          <a:xfrm>
            <a:off x="4333875" y="3429000"/>
            <a:ext cx="3048000" cy="1295400"/>
          </a:xfrm>
          <a:prstGeom prst="roundRect">
            <a:avLst>
              <a:gd name="adj" fmla="val 8824"/>
            </a:avLst>
          </a:prstGeom>
          <a:solidFill>
            <a:srgbClr val="0F2D54"/>
          </a:solidFill>
          <a:ln w="9525">
            <a:solidFill>
              <a:srgbClr val="385C9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A48283CC-1895-497F-807E-E59CF8C2A9F4}"/>
              </a:ext>
            </a:extLst>
          </p:cNvPr>
          <p:cNvSpPr>
            <a:spLocks noGrp="1"/>
          </p:cNvSpPr>
          <p:nvPr/>
        </p:nvSpPr>
        <p:spPr>
          <a:xfrm>
            <a:off x="4543425" y="3657600"/>
            <a:ext cx="400050" cy="40005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lang="es-ES_tradnl" sz="1050" b="1" noProof="0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9D9939B8-EC4A-4BC8-BD04-30563279F8D9}"/>
              </a:ext>
            </a:extLst>
          </p:cNvPr>
          <p:cNvSpPr>
            <a:spLocks noGrp="1"/>
          </p:cNvSpPr>
          <p:nvPr/>
        </p:nvSpPr>
        <p:spPr>
          <a:xfrm>
            <a:off x="5114925" y="3657600"/>
            <a:ext cx="1905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75" b="1">
                <a:solidFill>
                  <a:srgbClr val="FFFFFF"/>
                </a:solidFill>
              </a:defRPr>
            </a:pPr>
            <a:r>
              <a:rPr lang="es-ES_tradnl" sz="1575" b="1" noProof="0" dirty="0">
                <a:solidFill>
                  <a:srgbClr val="FFFFFF"/>
                </a:solidFill>
              </a:rPr>
              <a:t>Errores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B87CF1EF-7740-4678-B4C8-866C2AE7EFB2}"/>
              </a:ext>
            </a:extLst>
          </p:cNvPr>
          <p:cNvSpPr>
            <a:spLocks noGrp="1"/>
          </p:cNvSpPr>
          <p:nvPr/>
        </p:nvSpPr>
        <p:spPr>
          <a:xfrm>
            <a:off x="4543425" y="417195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D7E5FF"/>
                </a:solidFill>
              </a:defRPr>
            </a:pPr>
            <a:r>
              <a:rPr lang="es-ES_tradnl" sz="1088" b="0" noProof="0" dirty="0">
                <a:solidFill>
                  <a:srgbClr val="D7E5FF"/>
                </a:solidFill>
              </a:rPr>
              <a:t>Middlewares y excepciones de dominio controladas.</a:t>
            </a:r>
          </a:p>
        </p:txBody>
      </p:sp>
      <p:sp>
        <p:nvSpPr>
          <p:cNvPr id="37" name="Rectángulo redondeado 36">
            <a:extLst>
              <a:ext uri="{FF2B5EF4-FFF2-40B4-BE49-F238E27FC236}">
                <a16:creationId xmlns:a16="http://schemas.microsoft.com/office/drawing/2014/main" id="{1C55634C-DB99-4BE2-B225-09C5BE83A89A}"/>
              </a:ext>
            </a:extLst>
          </p:cNvPr>
          <p:cNvSpPr>
            <a:spLocks noGrp="1"/>
          </p:cNvSpPr>
          <p:nvPr/>
        </p:nvSpPr>
        <p:spPr>
          <a:xfrm>
            <a:off x="7905750" y="3429000"/>
            <a:ext cx="3048000" cy="1295400"/>
          </a:xfrm>
          <a:prstGeom prst="roundRect">
            <a:avLst>
              <a:gd name="adj" fmla="val 8824"/>
            </a:avLst>
          </a:prstGeom>
          <a:solidFill>
            <a:srgbClr val="0F2D54"/>
          </a:solidFill>
          <a:ln w="9525">
            <a:solidFill>
              <a:srgbClr val="38BDF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41611F9F-9F33-4C09-9B79-4B11DAF1800D}"/>
              </a:ext>
            </a:extLst>
          </p:cNvPr>
          <p:cNvSpPr>
            <a:spLocks noGrp="1"/>
          </p:cNvSpPr>
          <p:nvPr/>
        </p:nvSpPr>
        <p:spPr>
          <a:xfrm>
            <a:off x="8115300" y="3657600"/>
            <a:ext cx="400050" cy="40005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lang="es-ES_tradnl" sz="1050" b="1" noProof="0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EC36A9FD-B30F-4D86-B4FF-D5D59ADAC3F6}"/>
              </a:ext>
            </a:extLst>
          </p:cNvPr>
          <p:cNvSpPr>
            <a:spLocks noGrp="1"/>
          </p:cNvSpPr>
          <p:nvPr/>
        </p:nvSpPr>
        <p:spPr>
          <a:xfrm>
            <a:off x="8686800" y="3657600"/>
            <a:ext cx="1905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75" b="1">
                <a:solidFill>
                  <a:srgbClr val="FFFFFF"/>
                </a:solidFill>
              </a:defRPr>
            </a:pPr>
            <a:r>
              <a:rPr lang="es-ES_tradnl" sz="1575" b="1" noProof="0" dirty="0">
                <a:solidFill>
                  <a:srgbClr val="FFFFFF"/>
                </a:solidFill>
              </a:rPr>
              <a:t>Socket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BCC3363C-DF4D-4AED-8DFE-0231010AB040}"/>
              </a:ext>
            </a:extLst>
          </p:cNvPr>
          <p:cNvSpPr>
            <a:spLocks noGrp="1"/>
          </p:cNvSpPr>
          <p:nvPr/>
        </p:nvSpPr>
        <p:spPr>
          <a:xfrm>
            <a:off x="8115300" y="417195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D7E5FF"/>
                </a:solidFill>
              </a:defRPr>
            </a:pPr>
            <a:r>
              <a:rPr lang="es-ES_tradnl" sz="1088" b="0" noProof="0" dirty="0">
                <a:solidFill>
                  <a:srgbClr val="D7E5FF"/>
                </a:solidFill>
              </a:rPr>
              <a:t>Token en </a:t>
            </a:r>
            <a:r>
              <a:rPr lang="es-ES_tradnl" sz="1088" b="0" noProof="0" dirty="0" err="1">
                <a:solidFill>
                  <a:srgbClr val="D7E5FF"/>
                </a:solidFill>
              </a:rPr>
              <a:t>handshake</a:t>
            </a:r>
            <a:r>
              <a:rPr lang="es-ES_tradnl" sz="1088" b="0" noProof="0" dirty="0">
                <a:solidFill>
                  <a:srgbClr val="D7E5FF"/>
                </a:solidFill>
              </a:rPr>
              <a:t> cuando existe sesión; salas aisladas.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C657DF17-8353-4741-BDB3-4D535F9D9AE1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B6C7E6"/>
                </a:solidFill>
              </a:defRPr>
            </a:pPr>
            <a:r>
              <a:rPr lang="es-ES_tradnl" sz="750" b="1" noProof="0" dirty="0">
                <a:solidFill>
                  <a:srgbClr val="B6C7E6"/>
                </a:solidFill>
              </a:rPr>
              <a:t>EMERGENCIAS TECH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09CA2567-AA6E-4910-B996-6E749AA61998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B6C7E6"/>
                </a:solidFill>
              </a:defRPr>
            </a:pPr>
            <a:r>
              <a:rPr lang="es-ES_tradnl" sz="900" b="1" noProof="0" dirty="0">
                <a:solidFill>
                  <a:srgbClr val="B6C7E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2253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B6E0455-701B-4E99-ACF7-C867BF5180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0CBDCEB-23C8-4125-A674-4B96D10C8962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0" b="1">
                <a:solidFill>
                  <a:srgbClr val="2563EB"/>
                </a:solidFill>
              </a:defRPr>
            </a:pPr>
            <a:r>
              <a:rPr lang="es-ES_tradnl" sz="900" b="1" noProof="0" dirty="0">
                <a:solidFill>
                  <a:srgbClr val="2563EB"/>
                </a:solidFill>
              </a:rPr>
              <a:t>LÓGICA DE PREDICCIÓN ACTUAL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46FD395-B5DB-4BC0-8252-6AC6E9DA32B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88582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lang="es-ES_tradnl" sz="2250" b="1" noProof="0" dirty="0">
                <a:solidFill>
                  <a:srgbClr val="0F172A"/>
                </a:solidFill>
              </a:rPr>
              <a:t>Reglas, ponderaciones y cálculo determinístico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70314AD-81E4-43A7-89B1-4B34901D4CBC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Actualmente la predicción/clasificación no es IA entrenada; usa reglas editables, sumatorias y ponderaciones para priorizar gravedad.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8770C80-3545-4DB6-91E7-600CDDF2AE71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lang="es-ES_tradnl" sz="750" b="1" noProof="0" dirty="0">
                <a:solidFill>
                  <a:srgbClr val="64748B"/>
                </a:solidFill>
              </a:rPr>
              <a:t>EMERGENCIAS TECH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ED06309-FA2D-4B35-B860-32E8F7C642BD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lang="es-ES_tradnl" sz="900" b="1" noProof="0" dirty="0">
                <a:solidFill>
                  <a:srgbClr val="64748B"/>
                </a:solidFill>
              </a:rPr>
              <a:t>13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8C5D1816-6ED2-43DD-A3F5-3A0F3877659B}"/>
              </a:ext>
            </a:extLst>
          </p:cNvPr>
          <p:cNvSpPr>
            <a:spLocks noGrp="1"/>
          </p:cNvSpPr>
          <p:nvPr/>
        </p:nvSpPr>
        <p:spPr>
          <a:xfrm>
            <a:off x="742950" y="1524000"/>
            <a:ext cx="4953000" cy="3143250"/>
          </a:xfrm>
          <a:prstGeom prst="roundRect">
            <a:avLst>
              <a:gd name="adj" fmla="val 4242"/>
            </a:avLst>
          </a:prstGeom>
          <a:solidFill>
            <a:srgbClr val="0B2345"/>
          </a:solidFill>
          <a:ln w="9525">
            <a:solidFill>
              <a:srgbClr val="0B234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939930F-A126-4A21-AC1D-FF0DFB0664FB}"/>
              </a:ext>
            </a:extLst>
          </p:cNvPr>
          <p:cNvSpPr>
            <a:spLocks noGrp="1"/>
          </p:cNvSpPr>
          <p:nvPr/>
        </p:nvSpPr>
        <p:spPr>
          <a:xfrm>
            <a:off x="1123950" y="1809750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950" b="1">
                <a:solidFill>
                  <a:srgbClr val="FFFFFF"/>
                </a:solidFill>
              </a:defRPr>
            </a:pPr>
            <a:r>
              <a:rPr lang="es-ES_tradnl" sz="1950" b="1" noProof="0" dirty="0">
                <a:solidFill>
                  <a:srgbClr val="FFFFFF"/>
                </a:solidFill>
              </a:rPr>
              <a:t>Fórmula simplificada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E404FCD-B869-47E7-BD0E-0B7DADBD5285}"/>
              </a:ext>
            </a:extLst>
          </p:cNvPr>
          <p:cNvSpPr>
            <a:spLocks noGrp="1"/>
          </p:cNvSpPr>
          <p:nvPr/>
        </p:nvSpPr>
        <p:spPr>
          <a:xfrm>
            <a:off x="1123950" y="2400300"/>
            <a:ext cx="4000500" cy="1695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38" b="1">
                <a:solidFill>
                  <a:srgbClr val="E8F2FF"/>
                </a:solidFill>
              </a:defRPr>
            </a:pPr>
            <a:r>
              <a:rPr lang="es-ES_tradnl" sz="1538" b="1" noProof="0" dirty="0">
                <a:solidFill>
                  <a:srgbClr val="E8F2FF"/>
                </a:solidFill>
              </a:rPr>
              <a:t>puntaje = base(tipo) + </a:t>
            </a:r>
            <a:r>
              <a:rPr lang="es-ES_tradnl" sz="1538" b="1" noProof="0" dirty="0" err="1">
                <a:solidFill>
                  <a:srgbClr val="E8F2FF"/>
                </a:solidFill>
              </a:rPr>
              <a:t>Σ</a:t>
            </a:r>
            <a:r>
              <a:rPr lang="es-ES_tradnl" sz="1538" b="1" noProof="0" dirty="0">
                <a:solidFill>
                  <a:srgbClr val="E8F2FF"/>
                </a:solidFill>
              </a:rPr>
              <a:t>(</a:t>
            </a:r>
            <a:r>
              <a:rPr lang="es-ES_tradnl" sz="1538" b="1" noProof="0" dirty="0" err="1">
                <a:solidFill>
                  <a:srgbClr val="E8F2FF"/>
                </a:solidFill>
              </a:rPr>
              <a:t>peso_palabra</a:t>
            </a:r>
            <a:r>
              <a:rPr lang="es-ES_tradnl" sz="1538" b="1" noProof="0" dirty="0">
                <a:solidFill>
                  <a:srgbClr val="E8F2FF"/>
                </a:solidFill>
              </a:rPr>
              <a:t>)</a:t>
            </a:r>
          </a:p>
          <a:p>
            <a:endParaRPr lang="es-ES_tradnl" sz="1538" b="1" noProof="0" dirty="0">
              <a:solidFill>
                <a:srgbClr val="E8F2FF"/>
              </a:solidFill>
            </a:endParaRPr>
          </a:p>
          <a:p>
            <a:pPr algn="l">
              <a:defRPr sz="1538" b="1">
                <a:solidFill>
                  <a:srgbClr val="E8F2FF"/>
                </a:solidFill>
              </a:defRPr>
            </a:pPr>
            <a:r>
              <a:rPr lang="es-ES_tradnl" sz="1538" b="1" noProof="0" dirty="0">
                <a:solidFill>
                  <a:srgbClr val="E8F2FF"/>
                </a:solidFill>
              </a:rPr>
              <a:t>gravedad = </a:t>
            </a:r>
            <a:r>
              <a:rPr lang="es-ES_tradnl" sz="1538" b="1" noProof="0" dirty="0" err="1">
                <a:solidFill>
                  <a:srgbClr val="E8F2FF"/>
                </a:solidFill>
              </a:rPr>
              <a:t>max</a:t>
            </a:r>
            <a:r>
              <a:rPr lang="es-ES_tradnl" sz="1538" b="1" noProof="0" dirty="0">
                <a:solidFill>
                  <a:srgbClr val="E8F2FF"/>
                </a:solidFill>
              </a:rPr>
              <a:t>(nivel detectado)</a:t>
            </a:r>
          </a:p>
          <a:p>
            <a:endParaRPr lang="es-ES_tradnl" sz="1538" b="1" noProof="0" dirty="0">
              <a:solidFill>
                <a:srgbClr val="E8F2FF"/>
              </a:solidFill>
            </a:endParaRPr>
          </a:p>
          <a:p>
            <a:pPr algn="l">
              <a:defRPr sz="1538" b="1">
                <a:solidFill>
                  <a:srgbClr val="E8F2FF"/>
                </a:solidFill>
              </a:defRPr>
            </a:pPr>
            <a:r>
              <a:rPr lang="es-ES_tradnl" sz="1538" b="1" noProof="0" dirty="0">
                <a:solidFill>
                  <a:srgbClr val="E8F2FF"/>
                </a:solidFill>
              </a:rPr>
              <a:t>ruta = </a:t>
            </a:r>
            <a:r>
              <a:rPr lang="es-ES_tradnl" sz="1538" b="1" noProof="0" dirty="0" err="1">
                <a:solidFill>
                  <a:srgbClr val="E8F2FF"/>
                </a:solidFill>
              </a:rPr>
              <a:t>distancia_haversine</a:t>
            </a:r>
            <a:r>
              <a:rPr lang="es-ES_tradnl" sz="1538" b="1" noProof="0" dirty="0">
                <a:solidFill>
                  <a:srgbClr val="E8F2FF"/>
                </a:solidFill>
              </a:rPr>
              <a:t> + </a:t>
            </a:r>
            <a:r>
              <a:rPr lang="es-ES_tradnl" sz="1538" b="1" noProof="0" dirty="0" err="1">
                <a:solidFill>
                  <a:srgbClr val="E8F2FF"/>
                </a:solidFill>
              </a:rPr>
              <a:t>costo_grafo</a:t>
            </a:r>
            <a:endParaRPr lang="es-ES_tradnl" sz="1538" b="1" noProof="0" dirty="0">
              <a:solidFill>
                <a:srgbClr val="E8F2FF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E0E1834-4266-4E04-8DAE-7489DE41A251}"/>
              </a:ext>
            </a:extLst>
          </p:cNvPr>
          <p:cNvSpPr>
            <a:spLocks noGrp="1"/>
          </p:cNvSpPr>
          <p:nvPr/>
        </p:nvSpPr>
        <p:spPr>
          <a:xfrm>
            <a:off x="1123950" y="4210050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200" b="1">
                <a:solidFill>
                  <a:srgbClr val="38BDF8"/>
                </a:solidFill>
              </a:defRPr>
            </a:pPr>
            <a:r>
              <a:rPr lang="es-ES_tradnl" sz="1200" b="1" noProof="0" dirty="0">
                <a:solidFill>
                  <a:srgbClr val="38BDF8"/>
                </a:solidFill>
              </a:rPr>
              <a:t>Los CSV por gravedad permiten editar vocabulario sin tocar código.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="6477000" y="1762125"/>
          <a:ext cx="4095750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6" name="Tabla 25"/>
          <p:cNvGraphicFramePr/>
          <p:nvPr>
            <p:extLst>
              <p:ext uri="{D42A27DB-BD31-4B8C-83A1-F6EECF244321}">
                <p14:modId xmlns:p14="http://schemas.microsoft.com/office/powerpoint/2010/main" val="106478722"/>
              </p:ext>
            </p:extLst>
          </p:nvPr>
        </p:nvGraphicFramePr>
        <p:xfrm>
          <a:off x="6229350" y="4476750"/>
          <a:ext cx="4762500" cy="1219200"/>
        </p:xfrm>
        <a:graphic>
          <a:graphicData uri="http://schemas.openxmlformats.org/drawingml/2006/table">
            <a:tbl>
              <a:tblPr firstRow="1" bandRow="1"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s-ES_tradnl" sz="975" b="1" noProof="0" dirty="0">
                          <a:solidFill>
                            <a:srgbClr val="FFFFFF"/>
                          </a:solidFill>
                        </a:rPr>
                        <a:t>Ventaja</a:t>
                      </a:r>
                    </a:p>
                  </a:txBody>
                  <a:tcPr>
                    <a:solidFill>
                      <a:srgbClr val="0B23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975" b="1" noProof="0" dirty="0">
                          <a:solidFill>
                            <a:srgbClr val="FFFFFF"/>
                          </a:solidFill>
                        </a:rPr>
                        <a:t>Limitación</a:t>
                      </a:r>
                    </a:p>
                  </a:txBody>
                  <a:tcPr>
                    <a:solidFill>
                      <a:srgbClr val="0B23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Rápido de implementar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No aprende patrones nuevos por sí solo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Rápido y liviano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Depende de reglas y vocabulario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Editable por 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Menor precisión ante casos ambiguos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Rectángulo 12">
            <a:extLst>
              <a:ext uri="{FF2B5EF4-FFF2-40B4-BE49-F238E27FC236}">
                <a16:creationId xmlns:a16="http://schemas.microsoft.com/office/drawing/2014/main" id="{0E7C48BC-B9FC-47B6-AB48-586A6C4FD07C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lang="es-ES_tradnl" sz="750" b="1" noProof="0" dirty="0">
                <a:solidFill>
                  <a:srgbClr val="64748B"/>
                </a:solidFill>
              </a:rPr>
              <a:t>EMERGENCIAS TECH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AB8AFC8-1545-41C5-9D83-F8E761E8040E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lang="es-ES_tradnl" sz="900" b="1" noProof="0" dirty="0">
                <a:solidFill>
                  <a:srgbClr val="64748B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63782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0208B92-471F-4F0A-98CF-69D0613809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6A16D4D-0E7E-4173-9F5E-6D700F73E860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0" b="1">
                <a:solidFill>
                  <a:srgbClr val="2563EB"/>
                </a:solidFill>
              </a:defRPr>
            </a:pPr>
            <a:r>
              <a:rPr lang="es-ES_tradnl" sz="900" b="1" noProof="0" dirty="0">
                <a:solidFill>
                  <a:srgbClr val="2563EB"/>
                </a:solidFill>
              </a:rPr>
              <a:t>RESULTADOS ESPERADOS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9FE92DD-4DD4-4883-9DA3-13ED5E75F764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88582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lang="es-ES_tradnl" sz="2250" b="1" noProof="0" dirty="0">
                <a:solidFill>
                  <a:srgbClr val="0F172A"/>
                </a:solidFill>
              </a:rPr>
              <a:t>Impacto para ciudadanos, operadores y organizaciones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5DBB591-F504-45CE-BD2A-679113291B64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La solución busca reducir fricción operativa, mejorar trazabilidad y abrir espacio para análisis de datos.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6CBD1DF-75F0-4E77-8057-67C3DF5308BC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lang="es-ES_tradnl" sz="750" b="1" noProof="0" dirty="0">
                <a:solidFill>
                  <a:srgbClr val="64748B"/>
                </a:solidFill>
              </a:rPr>
              <a:t>EMERGENCIAS TECH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A005CD8-B726-4A0A-A1C8-3BB8401FD828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lang="es-ES_tradnl" sz="900" b="1" noProof="0" dirty="0">
                <a:solidFill>
                  <a:srgbClr val="64748B"/>
                </a:solidFill>
              </a:rPr>
              <a:t>14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="723900" y="1638300"/>
          <a:ext cx="3429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C55A3891-D6BB-4678-BA52-A3C45912061A}"/>
              </a:ext>
            </a:extLst>
          </p:cNvPr>
          <p:cNvSpPr>
            <a:spLocks noGrp="1"/>
          </p:cNvSpPr>
          <p:nvPr/>
        </p:nvSpPr>
        <p:spPr>
          <a:xfrm>
            <a:off x="4762500" y="1714500"/>
            <a:ext cx="26670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938F8C0-FD8A-4F12-A8B7-DDF30EF94123}"/>
              </a:ext>
            </a:extLst>
          </p:cNvPr>
          <p:cNvSpPr>
            <a:spLocks noGrp="1"/>
          </p:cNvSpPr>
          <p:nvPr/>
        </p:nvSpPr>
        <p:spPr>
          <a:xfrm>
            <a:off x="4972050" y="19050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650" b="1">
                <a:solidFill>
                  <a:srgbClr val="2563EB"/>
                </a:solidFill>
              </a:defRPr>
            </a:pPr>
            <a:r>
              <a:rPr lang="es-ES_tradnl" sz="1650" b="1" noProof="0" dirty="0">
                <a:solidFill>
                  <a:srgbClr val="2563EB"/>
                </a:solidFill>
              </a:rPr>
              <a:t>Usuarios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88DF666-BE0D-4725-AA0E-785696C21CE2}"/>
              </a:ext>
            </a:extLst>
          </p:cNvPr>
          <p:cNvSpPr>
            <a:spLocks noGrp="1"/>
          </p:cNvSpPr>
          <p:nvPr/>
        </p:nvSpPr>
        <p:spPr>
          <a:xfrm>
            <a:off x="4972050" y="2266950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Reportan sin intermediarios, adjuntan evidencia y dan seguimiento.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5E57E220-2463-4ED5-BF2F-1D4E777E4D1F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26670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E0BE8AA-903A-454A-86CC-E805278D824B}"/>
              </a:ext>
            </a:extLst>
          </p:cNvPr>
          <p:cNvSpPr>
            <a:spLocks noGrp="1"/>
          </p:cNvSpPr>
          <p:nvPr/>
        </p:nvSpPr>
        <p:spPr>
          <a:xfrm>
            <a:off x="7972425" y="19050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650" b="1">
                <a:solidFill>
                  <a:srgbClr val="0EA5E9"/>
                </a:solidFill>
              </a:defRPr>
            </a:pPr>
            <a:r>
              <a:rPr lang="es-ES_tradnl" sz="1650" b="1" noProof="0" dirty="0">
                <a:solidFill>
                  <a:srgbClr val="0EA5E9"/>
                </a:solidFill>
              </a:rPr>
              <a:t>Operadores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366518A-0CAC-46E9-8D1E-355D1400A045}"/>
              </a:ext>
            </a:extLst>
          </p:cNvPr>
          <p:cNvSpPr>
            <a:spLocks noGrp="1"/>
          </p:cNvSpPr>
          <p:nvPr/>
        </p:nvSpPr>
        <p:spPr>
          <a:xfrm>
            <a:off x="7972425" y="2266950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Tienen mapa, prioridad, estado y comunicación en una sola vista.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8EC536D9-D3BE-4AC6-B359-1AEE1E96101A}"/>
              </a:ext>
            </a:extLst>
          </p:cNvPr>
          <p:cNvSpPr>
            <a:spLocks noGrp="1"/>
          </p:cNvSpPr>
          <p:nvPr/>
        </p:nvSpPr>
        <p:spPr>
          <a:xfrm>
            <a:off x="4762500" y="3200400"/>
            <a:ext cx="26670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B6F8164-9D8E-42BC-848C-AB855DABE082}"/>
              </a:ext>
            </a:extLst>
          </p:cNvPr>
          <p:cNvSpPr>
            <a:spLocks noGrp="1"/>
          </p:cNvSpPr>
          <p:nvPr/>
        </p:nvSpPr>
        <p:spPr>
          <a:xfrm>
            <a:off x="4972050" y="33909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650" b="1">
                <a:solidFill>
                  <a:srgbClr val="22C55E"/>
                </a:solidFill>
              </a:defRPr>
            </a:pPr>
            <a:r>
              <a:rPr lang="es-ES_tradnl" sz="1650" b="1" noProof="0" dirty="0">
                <a:solidFill>
                  <a:srgbClr val="22C55E"/>
                </a:solidFill>
              </a:rPr>
              <a:t>Organizaciones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7921C7D-B2E4-4E3A-B7A0-700E087836AB}"/>
              </a:ext>
            </a:extLst>
          </p:cNvPr>
          <p:cNvSpPr>
            <a:spLocks noGrp="1"/>
          </p:cNvSpPr>
          <p:nvPr/>
        </p:nvSpPr>
        <p:spPr>
          <a:xfrm>
            <a:off x="4972050" y="3752850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Asignan mejor recursos y mantienen historial operativo.</a:t>
            </a:r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0175A8DB-F4B8-43FE-B6D9-7660A3C985E2}"/>
              </a:ext>
            </a:extLst>
          </p:cNvPr>
          <p:cNvSpPr>
            <a:spLocks noGrp="1"/>
          </p:cNvSpPr>
          <p:nvPr/>
        </p:nvSpPr>
        <p:spPr>
          <a:xfrm>
            <a:off x="7762875" y="3200400"/>
            <a:ext cx="26670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00DCBEA-6CEC-40E7-8604-B3CA995CB538}"/>
              </a:ext>
            </a:extLst>
          </p:cNvPr>
          <p:cNvSpPr>
            <a:spLocks noGrp="1"/>
          </p:cNvSpPr>
          <p:nvPr/>
        </p:nvSpPr>
        <p:spPr>
          <a:xfrm>
            <a:off x="7972425" y="33909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650" b="1">
                <a:solidFill>
                  <a:srgbClr val="F59E0B"/>
                </a:solidFill>
              </a:defRPr>
            </a:pPr>
            <a:r>
              <a:rPr lang="es-ES_tradnl" sz="1650" b="1" noProof="0" dirty="0">
                <a:solidFill>
                  <a:srgbClr val="F59E0B"/>
                </a:solidFill>
              </a:rPr>
              <a:t>Comunidad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5FC53DB-1C82-49E4-8EF0-9A133F6EBFC1}"/>
              </a:ext>
            </a:extLst>
          </p:cNvPr>
          <p:cNvSpPr>
            <a:spLocks noGrp="1"/>
          </p:cNvSpPr>
          <p:nvPr/>
        </p:nvSpPr>
        <p:spPr>
          <a:xfrm>
            <a:off x="7972425" y="3752850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Respuesta más coordinada y menor incertidumbre.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D67C000-782D-4723-B463-EDB922472C1C}"/>
              </a:ext>
            </a:extLst>
          </p:cNvPr>
          <p:cNvSpPr>
            <a:spLocks noGrp="1"/>
          </p:cNvSpPr>
          <p:nvPr/>
        </p:nvSpPr>
        <p:spPr>
          <a:xfrm>
            <a:off x="952500" y="5334000"/>
            <a:ext cx="95250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350" b="1">
                <a:solidFill>
                  <a:srgbClr val="07162F"/>
                </a:solidFill>
              </a:defRPr>
            </a:pPr>
            <a:r>
              <a:rPr lang="es-ES_tradnl" sz="1350" b="1" noProof="0" dirty="0">
                <a:solidFill>
                  <a:srgbClr val="07162F"/>
                </a:solidFill>
              </a:rPr>
              <a:t>Indicadores sugeridos: tiempo hasta aceptación, tiempo en camino, cantidad de reportes resueltos, reportes por zona, incidentes por tipo y uso de chat/video.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26CEE5A-8F57-4BCE-8E4C-A94360777126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lang="es-ES_tradnl" sz="750" b="1" noProof="0" dirty="0">
                <a:solidFill>
                  <a:srgbClr val="64748B"/>
                </a:solidFill>
              </a:rPr>
              <a:t>EMERGENCIAS TECH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6963E68-9019-4B47-90C3-7746DBB05D93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lang="es-ES_tradnl" sz="900" b="1" noProof="0" dirty="0">
                <a:solidFill>
                  <a:srgbClr val="64748B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5570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25">
            <a:extLst>
              <a:ext uri="{FF2B5EF4-FFF2-40B4-BE49-F238E27FC236}">
                <a16:creationId xmlns:a16="http://schemas.microsoft.com/office/drawing/2014/main" id="{F211C7FF-08EB-458E-9150-403665DB1A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D5834C81-D6D8-438C-89B0-447161857C4F}"/>
              </a:ext>
            </a:extLst>
          </p:cNvPr>
          <p:cNvSpPr>
            <a:spLocks noGrp="1"/>
          </p:cNvSpPr>
          <p:nvPr/>
        </p:nvSpPr>
        <p:spPr>
          <a:xfrm>
            <a:off x="7810500" y="342900"/>
            <a:ext cx="47625" cy="47625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A6CA4653-CCDE-4CEB-868F-0AE867D1A800}"/>
              </a:ext>
            </a:extLst>
          </p:cNvPr>
          <p:cNvSpPr>
            <a:spLocks noGrp="1"/>
          </p:cNvSpPr>
          <p:nvPr/>
        </p:nvSpPr>
        <p:spPr>
          <a:xfrm>
            <a:off x="8134350" y="8763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5E30DEE2-F7C1-430D-A153-6332FEB9CA32}"/>
              </a:ext>
            </a:extLst>
          </p:cNvPr>
          <p:cNvSpPr>
            <a:spLocks noGrp="1"/>
          </p:cNvSpPr>
          <p:nvPr/>
        </p:nvSpPr>
        <p:spPr>
          <a:xfrm>
            <a:off x="8458200" y="14097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2DAE8C71-BCC6-4A42-AEF9-5D3E7ACD8BE1}"/>
              </a:ext>
            </a:extLst>
          </p:cNvPr>
          <p:cNvSpPr>
            <a:spLocks noGrp="1"/>
          </p:cNvSpPr>
          <p:nvPr/>
        </p:nvSpPr>
        <p:spPr>
          <a:xfrm>
            <a:off x="8782050" y="1943100"/>
            <a:ext cx="47625" cy="47625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F56F440-4800-48FF-8152-098FDAA9F46D}"/>
              </a:ext>
            </a:extLst>
          </p:cNvPr>
          <p:cNvSpPr>
            <a:spLocks noGrp="1"/>
          </p:cNvSpPr>
          <p:nvPr/>
        </p:nvSpPr>
        <p:spPr>
          <a:xfrm>
            <a:off x="9105900" y="24765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958092EF-DCD8-42A8-A73C-6BBAB7F4020B}"/>
              </a:ext>
            </a:extLst>
          </p:cNvPr>
          <p:cNvSpPr>
            <a:spLocks noGrp="1"/>
          </p:cNvSpPr>
          <p:nvPr/>
        </p:nvSpPr>
        <p:spPr>
          <a:xfrm>
            <a:off x="9429750" y="3429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5BB7F4C9-4E4C-4395-88E4-DC3B2361F59F}"/>
              </a:ext>
            </a:extLst>
          </p:cNvPr>
          <p:cNvSpPr>
            <a:spLocks noGrp="1"/>
          </p:cNvSpPr>
          <p:nvPr/>
        </p:nvSpPr>
        <p:spPr>
          <a:xfrm>
            <a:off x="9753600" y="876300"/>
            <a:ext cx="47625" cy="47625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F5CD5CD-034B-453C-834A-E948A1481023}"/>
              </a:ext>
            </a:extLst>
          </p:cNvPr>
          <p:cNvSpPr>
            <a:spLocks noGrp="1"/>
          </p:cNvSpPr>
          <p:nvPr/>
        </p:nvSpPr>
        <p:spPr>
          <a:xfrm>
            <a:off x="10077450" y="14097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1C916091-6D28-460C-A543-860F4CEAF1EB}"/>
              </a:ext>
            </a:extLst>
          </p:cNvPr>
          <p:cNvSpPr>
            <a:spLocks noGrp="1"/>
          </p:cNvSpPr>
          <p:nvPr/>
        </p:nvSpPr>
        <p:spPr>
          <a:xfrm>
            <a:off x="10401300" y="19431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3170F81E-09F5-48A8-992D-BC8A53661C36}"/>
              </a:ext>
            </a:extLst>
          </p:cNvPr>
          <p:cNvSpPr>
            <a:spLocks noGrp="1"/>
          </p:cNvSpPr>
          <p:nvPr/>
        </p:nvSpPr>
        <p:spPr>
          <a:xfrm>
            <a:off x="10725150" y="2476500"/>
            <a:ext cx="47625" cy="47625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374C9A8-2EED-4E4E-B4C2-37F997736D4A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0" b="1">
                <a:solidFill>
                  <a:srgbClr val="38BDF8"/>
                </a:solidFill>
              </a:defRPr>
            </a:pPr>
            <a:r>
              <a:rPr lang="es-ES_tradnl" sz="900" b="1" noProof="0" dirty="0">
                <a:solidFill>
                  <a:srgbClr val="38BDF8"/>
                </a:solidFill>
              </a:rPr>
              <a:t>TRABAJO FUTURO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AC13715-75C5-43EE-9A0C-760AC3BB5D2A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88582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lang="es-ES_tradnl" sz="2250" b="1" noProof="0" dirty="0">
                <a:solidFill>
                  <a:srgbClr val="FFFFFF"/>
                </a:solidFill>
              </a:rPr>
              <a:t>Evolución hacia inteligencia artificial aplicada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FA52886-E052-40C2-B366-797B4CDC0E6A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C7D2FE"/>
                </a:solidFill>
              </a:defRPr>
            </a:pPr>
            <a:r>
              <a:rPr lang="es-ES_tradnl" sz="1088" b="0" noProof="0" dirty="0">
                <a:solidFill>
                  <a:srgbClr val="C7D2FE"/>
                </a:solidFill>
              </a:rPr>
              <a:t>La IA se integraría sobre datos históricos para predecir gravedad, zonas de riesgo y asignación óptima.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D26ACF4-4473-403E-88E3-8C7F994C785A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B6C7E6"/>
                </a:solidFill>
              </a:defRPr>
            </a:pPr>
            <a:r>
              <a:rPr lang="es-ES_tradnl" sz="750" b="1" noProof="0" dirty="0">
                <a:solidFill>
                  <a:srgbClr val="B6C7E6"/>
                </a:solidFill>
              </a:rPr>
              <a:t>EMERGENCIAS TECH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1455434-E1A4-4790-93C0-7E75632F6B47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B6C7E6"/>
                </a:solidFill>
              </a:defRPr>
            </a:pPr>
            <a:r>
              <a:rPr lang="es-ES_tradnl" sz="900" b="1" noProof="0" dirty="0">
                <a:solidFill>
                  <a:srgbClr val="B6C7E6"/>
                </a:solidFill>
              </a:rPr>
              <a:t>15</a:t>
            </a:r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71448C7E-8DA9-4C23-B386-5B56FE06377F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2476500" cy="1428750"/>
          </a:xfrm>
          <a:prstGeom prst="roundRect">
            <a:avLst>
              <a:gd name="adj" fmla="val 8000"/>
            </a:avLst>
          </a:prstGeom>
          <a:solidFill>
            <a:srgbClr val="0F2D54"/>
          </a:solidFill>
          <a:ln w="9525">
            <a:solidFill>
              <a:srgbClr val="38BDF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0BAB2D72-F553-4B54-A643-98B7FCE63467}"/>
              </a:ext>
            </a:extLst>
          </p:cNvPr>
          <p:cNvSpPr>
            <a:spLocks noGrp="1"/>
          </p:cNvSpPr>
          <p:nvPr/>
        </p:nvSpPr>
        <p:spPr>
          <a:xfrm>
            <a:off x="4000500" y="1714500"/>
            <a:ext cx="2476500" cy="2190750"/>
          </a:xfrm>
          <a:prstGeom prst="roundRect">
            <a:avLst>
              <a:gd name="adj" fmla="val 5217"/>
            </a:avLst>
          </a:prstGeom>
          <a:solidFill>
            <a:srgbClr val="0F2D54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19" name="Rectángulo redondeado 18">
            <a:extLst>
              <a:ext uri="{FF2B5EF4-FFF2-40B4-BE49-F238E27FC236}">
                <a16:creationId xmlns:a16="http://schemas.microsoft.com/office/drawing/2014/main" id="{B17DF617-EE8B-4FE7-AEFE-A607B1BD3F39}"/>
              </a:ext>
            </a:extLst>
          </p:cNvPr>
          <p:cNvSpPr>
            <a:spLocks noGrp="1"/>
          </p:cNvSpPr>
          <p:nvPr/>
        </p:nvSpPr>
        <p:spPr>
          <a:xfrm>
            <a:off x="7239000" y="2114550"/>
            <a:ext cx="2476500" cy="1428750"/>
          </a:xfrm>
          <a:prstGeom prst="roundRect">
            <a:avLst>
              <a:gd name="adj" fmla="val 8000"/>
            </a:avLst>
          </a:prstGeom>
          <a:solidFill>
            <a:srgbClr val="0F2D54"/>
          </a:solidFill>
          <a:ln w="9525">
            <a:solidFill>
              <a:srgbClr val="22C55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2BFF69E-D03F-4BE2-B5C5-BD5990491F1C}"/>
              </a:ext>
            </a:extLst>
          </p:cNvPr>
          <p:cNvSpPr>
            <a:spLocks noGrp="1"/>
          </p:cNvSpPr>
          <p:nvPr/>
        </p:nvSpPr>
        <p:spPr>
          <a:xfrm>
            <a:off x="1200150" y="2343150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s-ES_tradnl" sz="1725" b="1" noProof="0" dirty="0">
                <a:solidFill>
                  <a:srgbClr val="FFFFFF"/>
                </a:solidFill>
              </a:rPr>
              <a:t>Sistema actual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2D83A09-453D-41D4-B23C-22E05B62E81A}"/>
              </a:ext>
            </a:extLst>
          </p:cNvPr>
          <p:cNvSpPr>
            <a:spLocks noGrp="1"/>
          </p:cNvSpPr>
          <p:nvPr/>
        </p:nvSpPr>
        <p:spPr>
          <a:xfrm>
            <a:off x="1104900" y="2819400"/>
            <a:ext cx="180975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125" b="0">
                <a:solidFill>
                  <a:srgbClr val="D7E5FF"/>
                </a:solidFill>
              </a:defRPr>
            </a:pPr>
            <a:r>
              <a:rPr lang="es-ES_tradnl" sz="1125" b="0" noProof="0" dirty="0">
                <a:solidFill>
                  <a:srgbClr val="D7E5FF"/>
                </a:solidFill>
              </a:rPr>
              <a:t>Reglas + CSV + rutas + eventos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7604843A-E57C-4EAC-964F-3B93BF2D9EB4}"/>
              </a:ext>
            </a:extLst>
          </p:cNvPr>
          <p:cNvSpPr>
            <a:spLocks noGrp="1"/>
          </p:cNvSpPr>
          <p:nvPr/>
        </p:nvSpPr>
        <p:spPr>
          <a:xfrm>
            <a:off x="4381500" y="19812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s-ES_tradnl" sz="1725" b="1" noProof="0" dirty="0">
                <a:solidFill>
                  <a:srgbClr val="FFFFFF"/>
                </a:solidFill>
              </a:rPr>
              <a:t>Datos históricos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5917561-AB19-4500-BD22-C874CD494B0B}"/>
              </a:ext>
            </a:extLst>
          </p:cNvPr>
          <p:cNvSpPr>
            <a:spLocks noGrp="1"/>
          </p:cNvSpPr>
          <p:nvPr/>
        </p:nvSpPr>
        <p:spPr>
          <a:xfrm>
            <a:off x="4333875" y="2552700"/>
            <a:ext cx="18097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125" b="0">
                <a:solidFill>
                  <a:srgbClr val="D7E5FF"/>
                </a:solidFill>
              </a:defRPr>
            </a:pPr>
            <a:r>
              <a:rPr lang="es-ES_tradnl" sz="1125" b="0" noProof="0" dirty="0">
                <a:solidFill>
                  <a:srgbClr val="D7E5FF"/>
                </a:solidFill>
              </a:rPr>
              <a:t>Reportes, fechas, zonas, tipos, gravedad, tiempos de respuesta y patrones geográficos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B4E9DDA-CF53-4B85-ADF9-D69DE2A3E40F}"/>
              </a:ext>
            </a:extLst>
          </p:cNvPr>
          <p:cNvSpPr>
            <a:spLocks noGrp="1"/>
          </p:cNvSpPr>
          <p:nvPr/>
        </p:nvSpPr>
        <p:spPr>
          <a:xfrm>
            <a:off x="7734300" y="23431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s-ES_tradnl" sz="1725" b="1" noProof="0" dirty="0">
                <a:solidFill>
                  <a:srgbClr val="FFFFFF"/>
                </a:solidFill>
              </a:rPr>
              <a:t>Modelos IA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74D8D45-A122-48CF-9451-9CC54ABDAB5A}"/>
              </a:ext>
            </a:extLst>
          </p:cNvPr>
          <p:cNvSpPr>
            <a:spLocks noGrp="1"/>
          </p:cNvSpPr>
          <p:nvPr/>
        </p:nvSpPr>
        <p:spPr>
          <a:xfrm>
            <a:off x="7620000" y="2819400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125" b="0">
                <a:solidFill>
                  <a:srgbClr val="D7E5FF"/>
                </a:solidFill>
              </a:defRPr>
            </a:pPr>
            <a:r>
              <a:rPr lang="es-ES_tradnl" sz="1125" b="0" noProof="0" dirty="0">
                <a:solidFill>
                  <a:srgbClr val="D7E5FF"/>
                </a:solidFill>
              </a:rPr>
              <a:t>Clasificación, predicción, recomendación y detección de patrones</a:t>
            </a:r>
          </a:p>
        </p:txBody>
      </p:sp>
      <p:cxnSp>
        <p:nvCxnSpPr>
          <p:cNvPr id="65" name="Conector angular 64"/>
          <p:cNvCxnSpPr>
            <a:stCxn id="17" idx="3"/>
            <a:endCxn id="18" idx="1"/>
          </p:cNvCxnSpPr>
          <p:nvPr/>
        </p:nvCxnSpPr>
        <p:spPr>
          <a:xfrm flipV="1">
            <a:off x="3238500" y="2809875"/>
            <a:ext cx="762000" cy="19050"/>
          </a:xfrm>
          <a:prstGeom prst="bentConnector3">
            <a:avLst>
              <a:gd name="adj1" fmla="val 50000"/>
            </a:avLst>
          </a:prstGeom>
          <a:ln w="19050">
            <a:solidFill>
              <a:srgbClr val="38BDF8"/>
            </a:solidFill>
            <a:prstDash val="solid"/>
            <a:tailEnd type="arrow" w="med" len="med"/>
          </a:ln>
        </p:spPr>
      </p:cxnSp>
      <p:cxnSp>
        <p:nvCxnSpPr>
          <p:cNvPr id="66" name="Conector angular 65"/>
          <p:cNvCxnSpPr>
            <a:stCxn id="18" idx="3"/>
            <a:endCxn id="19" idx="1"/>
          </p:cNvCxnSpPr>
          <p:nvPr/>
        </p:nvCxnSpPr>
        <p:spPr>
          <a:xfrm>
            <a:off x="6477000" y="2809875"/>
            <a:ext cx="762000" cy="19050"/>
          </a:xfrm>
          <a:prstGeom prst="bentConnector3">
            <a:avLst>
              <a:gd name="adj1" fmla="val 50000"/>
            </a:avLst>
          </a:prstGeom>
          <a:ln w="19050">
            <a:solidFill>
              <a:srgbClr val="F59E0B"/>
            </a:solidFill>
            <a:prstDash val="solid"/>
            <a:tailEnd type="arrow" w="med" len="med"/>
          </a:ln>
        </p:spPr>
      </p:cxnSp>
      <p:sp>
        <p:nvSpPr>
          <p:cNvPr id="28" name="Elipse 27">
            <a:extLst>
              <a:ext uri="{FF2B5EF4-FFF2-40B4-BE49-F238E27FC236}">
                <a16:creationId xmlns:a16="http://schemas.microsoft.com/office/drawing/2014/main" id="{DB91B9D7-AC66-442B-A097-FE1664658496}"/>
              </a:ext>
            </a:extLst>
          </p:cNvPr>
          <p:cNvSpPr>
            <a:spLocks noGrp="1"/>
          </p:cNvSpPr>
          <p:nvPr/>
        </p:nvSpPr>
        <p:spPr>
          <a:xfrm>
            <a:off x="1143000" y="4486275"/>
            <a:ext cx="228600" cy="22860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txBody>
          <a:bodyPr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rPr lang="es-ES_tradnl" sz="600" b="1" noProof="0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A1D04285-2B6F-4B87-8A9E-6953D857EBA5}"/>
              </a:ext>
            </a:extLst>
          </p:cNvPr>
          <p:cNvSpPr>
            <a:spLocks noGrp="1"/>
          </p:cNvSpPr>
          <p:nvPr/>
        </p:nvSpPr>
        <p:spPr>
          <a:xfrm>
            <a:off x="1485900" y="4476750"/>
            <a:ext cx="86106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350" b="0">
                <a:solidFill>
                  <a:srgbClr val="D7E5FF"/>
                </a:solidFill>
              </a:defRPr>
            </a:pPr>
            <a:r>
              <a:rPr lang="es-ES_tradnl" sz="1350" b="0" noProof="0" dirty="0">
                <a:solidFill>
                  <a:srgbClr val="D7E5FF"/>
                </a:solidFill>
              </a:rPr>
              <a:t>Predicción avanzada de gravedad.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FCBE5A01-A14B-42F4-B01A-CC9F2AB78131}"/>
              </a:ext>
            </a:extLst>
          </p:cNvPr>
          <p:cNvSpPr>
            <a:spLocks noGrp="1"/>
          </p:cNvSpPr>
          <p:nvPr/>
        </p:nvSpPr>
        <p:spPr>
          <a:xfrm>
            <a:off x="1143000" y="4810125"/>
            <a:ext cx="228600" cy="22860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txBody>
          <a:bodyPr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rPr lang="es-ES_tradnl" sz="600" b="1" noProof="0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E29085EC-C6EF-429B-A937-5B23EE631B43}"/>
              </a:ext>
            </a:extLst>
          </p:cNvPr>
          <p:cNvSpPr>
            <a:spLocks noGrp="1"/>
          </p:cNvSpPr>
          <p:nvPr/>
        </p:nvSpPr>
        <p:spPr>
          <a:xfrm>
            <a:off x="1485900" y="4800600"/>
            <a:ext cx="86106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350" b="0">
                <a:solidFill>
                  <a:srgbClr val="D7E5FF"/>
                </a:solidFill>
              </a:defRPr>
            </a:pPr>
            <a:r>
              <a:rPr lang="es-ES_tradnl" sz="1350" b="0" noProof="0" dirty="0">
                <a:solidFill>
                  <a:srgbClr val="D7E5FF"/>
                </a:solidFill>
              </a:rPr>
              <a:t>Detección de zonas calientes.</a:t>
            </a: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46E4E4F5-9FBB-4711-AB8A-227626685FEE}"/>
              </a:ext>
            </a:extLst>
          </p:cNvPr>
          <p:cNvSpPr>
            <a:spLocks noGrp="1"/>
          </p:cNvSpPr>
          <p:nvPr/>
        </p:nvSpPr>
        <p:spPr>
          <a:xfrm>
            <a:off x="1143000" y="5133975"/>
            <a:ext cx="228600" cy="22860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txBody>
          <a:bodyPr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rPr lang="es-ES_tradnl" sz="600" b="1" noProof="0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BF46FA9A-3E88-494A-84E5-0A93B012CAAF}"/>
              </a:ext>
            </a:extLst>
          </p:cNvPr>
          <p:cNvSpPr>
            <a:spLocks noGrp="1"/>
          </p:cNvSpPr>
          <p:nvPr/>
        </p:nvSpPr>
        <p:spPr>
          <a:xfrm>
            <a:off x="1485900" y="5124450"/>
            <a:ext cx="86106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350" b="0">
                <a:solidFill>
                  <a:srgbClr val="D7E5FF"/>
                </a:solidFill>
              </a:defRPr>
            </a:pPr>
            <a:r>
              <a:rPr lang="es-ES_tradnl" sz="1350" b="0" noProof="0" dirty="0">
                <a:solidFill>
                  <a:srgbClr val="D7E5FF"/>
                </a:solidFill>
              </a:rPr>
              <a:t>Recomendación automática de unidad.</a:t>
            </a: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84AD33E5-F8BD-45F4-9CC4-BD87868C76B5}"/>
              </a:ext>
            </a:extLst>
          </p:cNvPr>
          <p:cNvSpPr>
            <a:spLocks noGrp="1"/>
          </p:cNvSpPr>
          <p:nvPr/>
        </p:nvSpPr>
        <p:spPr>
          <a:xfrm>
            <a:off x="1143000" y="5457825"/>
            <a:ext cx="228600" cy="22860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txBody>
          <a:bodyPr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rPr lang="es-ES_tradnl" sz="600" b="1" noProof="0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9CCCD811-408D-4BE9-87C3-6A139459204C}"/>
              </a:ext>
            </a:extLst>
          </p:cNvPr>
          <p:cNvSpPr>
            <a:spLocks noGrp="1"/>
          </p:cNvSpPr>
          <p:nvPr/>
        </p:nvSpPr>
        <p:spPr>
          <a:xfrm>
            <a:off x="1485900" y="5448300"/>
            <a:ext cx="86106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350" b="0">
                <a:solidFill>
                  <a:srgbClr val="D7E5FF"/>
                </a:solidFill>
              </a:defRPr>
            </a:pPr>
            <a:r>
              <a:rPr lang="es-ES_tradnl" sz="1350" b="0" noProof="0" dirty="0">
                <a:solidFill>
                  <a:srgbClr val="D7E5FF"/>
                </a:solidFill>
              </a:rPr>
              <a:t>Análisis predictivo por hora, zona y tipo.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B651729E-54BC-414E-97E1-6DD7DA0CBACA}"/>
              </a:ext>
            </a:extLst>
          </p:cNvPr>
          <p:cNvSpPr>
            <a:spLocks noGrp="1"/>
          </p:cNvSpPr>
          <p:nvPr/>
        </p:nvSpPr>
        <p:spPr>
          <a:xfrm>
            <a:off x="1143000" y="5781675"/>
            <a:ext cx="228600" cy="22860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txBody>
          <a:bodyPr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rPr lang="es-ES_tradnl" sz="600" b="1" noProof="0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2AAAC63B-337A-4FBD-B975-267237E95DFD}"/>
              </a:ext>
            </a:extLst>
          </p:cNvPr>
          <p:cNvSpPr>
            <a:spLocks noGrp="1"/>
          </p:cNvSpPr>
          <p:nvPr/>
        </p:nvSpPr>
        <p:spPr>
          <a:xfrm>
            <a:off x="1485900" y="5772150"/>
            <a:ext cx="86106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350" b="0">
                <a:solidFill>
                  <a:srgbClr val="D7E5FF"/>
                </a:solidFill>
              </a:defRPr>
            </a:pPr>
            <a:r>
              <a:rPr lang="es-ES_tradnl" sz="1350" b="0" noProof="0" dirty="0">
                <a:solidFill>
                  <a:srgbClr val="D7E5FF"/>
                </a:solidFill>
              </a:rPr>
              <a:t>Modelos supervisados para clasificación.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EE2EC9B6-1319-42E1-ADC7-266B2A0A7BE5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B6C7E6"/>
                </a:solidFill>
              </a:defRPr>
            </a:pPr>
            <a:r>
              <a:rPr lang="es-ES_tradnl" sz="750" b="1" noProof="0" dirty="0">
                <a:solidFill>
                  <a:srgbClr val="B6C7E6"/>
                </a:solidFill>
              </a:rPr>
              <a:t>EMERGENCIAS TECH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A5D2F073-7A7D-4F92-ACFA-C8DD04137FD2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B6C7E6"/>
                </a:solidFill>
              </a:defRPr>
            </a:pPr>
            <a:r>
              <a:rPr lang="es-ES_tradnl" sz="900" b="1" noProof="0" dirty="0">
                <a:solidFill>
                  <a:srgbClr val="B6C7E6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08359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F7858E-B391-496C-8BFD-B1C41B647A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5BDF079-DE4A-4D3A-9250-E0C53E0727DB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0" b="1">
                <a:solidFill>
                  <a:srgbClr val="2563EB"/>
                </a:solidFill>
              </a:defRPr>
            </a:pPr>
            <a:r>
              <a:rPr lang="es-ES_tradnl" sz="900" b="1" noProof="0" dirty="0">
                <a:solidFill>
                  <a:srgbClr val="2563EB"/>
                </a:solidFill>
              </a:rPr>
              <a:t>COMPARACIÓN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17508A7-6278-4474-BD50-7C40D71802BC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88582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550" b="1">
                <a:solidFill>
                  <a:srgbClr val="0F172A"/>
                </a:solidFill>
              </a:defRPr>
            </a:pPr>
            <a:r>
              <a:rPr lang="es-ES_tradnl" sz="2550" b="1" noProof="0" dirty="0">
                <a:solidFill>
                  <a:srgbClr val="0F172A"/>
                </a:solidFill>
              </a:rPr>
              <a:t>Sistema actual vs sistema con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428CEB-667F-421C-9D48-DCAFB07CC752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La versión actual es explicable y funcional; la versión con IA aumentaría precisión y anticipación cuando haya más datos.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8DB885F-F9C3-4FA8-95AF-49750D9FE748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lang="es-ES_tradnl" sz="750" b="1" noProof="0" dirty="0">
                <a:solidFill>
                  <a:srgbClr val="64748B"/>
                </a:solidFill>
              </a:rPr>
              <a:t>EMERGENCIAS TECH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7600223-76B5-4D59-8BAE-9B250BA8B124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lang="es-ES_tradnl" sz="900" b="1" noProof="0" dirty="0">
                <a:solidFill>
                  <a:srgbClr val="64748B"/>
                </a:solidFill>
              </a:rPr>
              <a:t>16</a:t>
            </a:r>
          </a:p>
        </p:txBody>
      </p:sp>
      <p:graphicFrame>
        <p:nvGraphicFramePr>
          <p:cNvPr id="17" name="Tabla 16"/>
          <p:cNvGraphicFramePr/>
          <p:nvPr>
            <p:extLst>
              <p:ext uri="{D42A27DB-BD31-4B8C-83A1-F6EECF244321}">
                <p14:modId xmlns:p14="http://schemas.microsoft.com/office/powerpoint/2010/main" val="707392145"/>
              </p:ext>
            </p:extLst>
          </p:nvPr>
        </p:nvGraphicFramePr>
        <p:xfrm>
          <a:off x="857250" y="1581150"/>
          <a:ext cx="10287000" cy="3714753"/>
        </p:xfrm>
        <a:graphic>
          <a:graphicData uri="http://schemas.openxmlformats.org/drawingml/2006/table">
            <a:tbl>
              <a:tblPr firstRow="1" bandRow="1"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679">
                <a:tc>
                  <a:txBody>
                    <a:bodyPr/>
                    <a:lstStyle/>
                    <a:p>
                      <a:r>
                        <a:rPr lang="es-ES_tradnl" sz="975" b="1" noProof="0" dirty="0">
                          <a:solidFill>
                            <a:srgbClr val="FFFFFF"/>
                          </a:solidFill>
                        </a:rPr>
                        <a:t>Criterio</a:t>
                      </a:r>
                    </a:p>
                  </a:txBody>
                  <a:tcPr>
                    <a:solidFill>
                      <a:srgbClr val="0B23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975" b="1" noProof="0" dirty="0">
                          <a:solidFill>
                            <a:srgbClr val="FFFFFF"/>
                          </a:solidFill>
                        </a:rPr>
                        <a:t>Sistema actual</a:t>
                      </a:r>
                    </a:p>
                  </a:txBody>
                  <a:tcPr>
                    <a:solidFill>
                      <a:srgbClr val="0B23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975" b="1" noProof="0" dirty="0">
                          <a:solidFill>
                            <a:srgbClr val="FFFFFF"/>
                          </a:solidFill>
                        </a:rPr>
                        <a:t>Sistema con IA futura</a:t>
                      </a:r>
                    </a:p>
                  </a:txBody>
                  <a:tcPr>
                    <a:solidFill>
                      <a:srgbClr val="0B23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Precisión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Basada en reglas y palabras clave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Aprende patrones históricos y contextuales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Automatización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Asignación por tipo/cercanía y estados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Priorización y recomendación inteligente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Escalabilidad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Adecuada para demo y operación inicial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Mejor para grandes volúmenes y predicción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Capacidad predictiva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Limitada a cálculos definidos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Predice zonas, horarios y gravedad probable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Tiempo de respuesta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Tiempo real por </a:t>
                      </a:r>
                      <a:r>
                        <a:rPr lang="es-ES_tradnl" sz="938" noProof="0" dirty="0" err="1">
                          <a:solidFill>
                            <a:srgbClr val="0F172A"/>
                          </a:solidFill>
                        </a:rPr>
                        <a:t>Socket.IO</a:t>
                      </a:r>
                      <a:endParaRPr lang="es-ES_tradnl" sz="938" noProof="0" dirty="0">
                        <a:solidFill>
                          <a:srgbClr val="0F172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Tiempo real + anticipación operativa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lang="es-ES_tradnl" sz="938" noProof="0" dirty="0" err="1">
                          <a:solidFill>
                            <a:srgbClr val="0F172A"/>
                          </a:solidFill>
                        </a:rPr>
                        <a:t>Explicabilidad</a:t>
                      </a:r>
                      <a:endParaRPr lang="es-ES_tradnl" sz="938" noProof="0" dirty="0">
                        <a:solidFill>
                          <a:srgbClr val="0F172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Alta: reglas visibles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938" noProof="0" dirty="0">
                          <a:solidFill>
                            <a:srgbClr val="0F172A"/>
                          </a:solidFill>
                        </a:rPr>
                        <a:t>Media/alta si se agregan métricas explicables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6C5AA073-DECF-4167-9FBD-264EAB39E1A5}"/>
              </a:ext>
            </a:extLst>
          </p:cNvPr>
          <p:cNvSpPr>
            <a:spLocks noGrp="1"/>
          </p:cNvSpPr>
          <p:nvPr/>
        </p:nvSpPr>
        <p:spPr>
          <a:xfrm>
            <a:off x="1619250" y="5657850"/>
            <a:ext cx="8096250" cy="2857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9525">
            <a:solidFill>
              <a:srgbClr val="2563EB"/>
            </a:solidFill>
          </a:ln>
        </p:spPr>
        <p:txBody>
          <a:bodyPr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rPr lang="es-ES_tradnl" sz="900" b="1" noProof="0" dirty="0">
                <a:solidFill>
                  <a:srgbClr val="2563EB"/>
                </a:solidFill>
              </a:rPr>
              <a:t>Mensaje para defensa: no se afirma IA actual; se muestra una ruta técnica responsable hacia IA.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789CC21-00A6-42CD-A707-5C34558B13B3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lang="es-ES_tradnl" sz="750" b="1" noProof="0" dirty="0">
                <a:solidFill>
                  <a:srgbClr val="64748B"/>
                </a:solidFill>
              </a:rPr>
              <a:t>EMERGENCIAS TECH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CB4C758-0357-4062-984D-50DD0306D384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lang="es-ES_tradnl" sz="900" b="1" noProof="0" dirty="0">
                <a:solidFill>
                  <a:srgbClr val="64748B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40056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722E3A8B-2C8D-4F10-85A0-31AED477C0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DA5FA09-593B-4B9B-BBF8-36CCDDF73A1E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0" b="1">
                <a:solidFill>
                  <a:srgbClr val="2563EB"/>
                </a:solidFill>
              </a:defRPr>
            </a:pPr>
            <a:r>
              <a:rPr lang="es-ES_tradnl" sz="900" b="1" noProof="0" dirty="0">
                <a:solidFill>
                  <a:srgbClr val="2563EB"/>
                </a:solidFill>
              </a:rPr>
              <a:t>CONCLUSIONES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1058F14-0AE1-4AB8-85DC-EE23B100C981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88582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lang="es-ES_tradnl" sz="2100" b="1" noProof="0" dirty="0">
                <a:solidFill>
                  <a:srgbClr val="0F172A"/>
                </a:solidFill>
              </a:rPr>
              <a:t>Un proyecto integrador con valor operativo y base técnica sólida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CEEF573-FE27-4E60-AA59-57868A11B433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64748B"/>
                </a:solidFill>
              </a:defRPr>
            </a:pPr>
            <a:r>
              <a:rPr lang="es-ES_tradnl" sz="1088" b="0" noProof="0" dirty="0">
                <a:solidFill>
                  <a:srgbClr val="64748B"/>
                </a:solidFill>
              </a:rPr>
              <a:t>EMERGENCIAS TECH combina conceptos de aplicaciones distribuidas con una necesidad social clara.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F34D3F0-2EC5-45BC-BEB2-EA1ADFBCB18E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lang="es-ES_tradnl" sz="750" b="1" noProof="0" dirty="0">
                <a:solidFill>
                  <a:srgbClr val="64748B"/>
                </a:solidFill>
              </a:rPr>
              <a:t>EMERGENCIAS TECH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0969473-B661-45D0-ABEC-75C778B504B7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lang="es-ES_tradnl" sz="900" b="1" noProof="0" dirty="0">
                <a:solidFill>
                  <a:srgbClr val="64748B"/>
                </a:solidFill>
              </a:rPr>
              <a:t>17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955FDA29-E7DE-4FC1-8510-8A84F64302B8}"/>
              </a:ext>
            </a:extLst>
          </p:cNvPr>
          <p:cNvSpPr>
            <a:spLocks noGrp="1"/>
          </p:cNvSpPr>
          <p:nvPr/>
        </p:nvSpPr>
        <p:spPr>
          <a:xfrm>
            <a:off x="971550" y="1581150"/>
            <a:ext cx="9334500" cy="781050"/>
          </a:xfrm>
          <a:prstGeom prst="roundRect">
            <a:avLst>
              <a:gd name="adj" fmla="val 12195"/>
            </a:avLst>
          </a:prstGeom>
          <a:solidFill>
            <a:srgbClr val="F0F7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F871F5F0-DD07-4534-889F-A14B2E91ACF3}"/>
              </a:ext>
            </a:extLst>
          </p:cNvPr>
          <p:cNvSpPr>
            <a:spLocks noGrp="1"/>
          </p:cNvSpPr>
          <p:nvPr/>
        </p:nvSpPr>
        <p:spPr>
          <a:xfrm>
            <a:off x="1238250" y="1752600"/>
            <a:ext cx="419100" cy="41910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lang="es-ES_tradnl" sz="1125" b="1" noProof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A7E0559-CCC8-42E2-A495-1B3B019ECBDE}"/>
              </a:ext>
            </a:extLst>
          </p:cNvPr>
          <p:cNvSpPr>
            <a:spLocks noGrp="1"/>
          </p:cNvSpPr>
          <p:nvPr/>
        </p:nvSpPr>
        <p:spPr>
          <a:xfrm>
            <a:off x="1885950" y="1724025"/>
            <a:ext cx="1905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75" b="1">
                <a:solidFill>
                  <a:srgbClr val="0F172A"/>
                </a:solidFill>
              </a:defRPr>
            </a:pPr>
            <a:r>
              <a:rPr lang="es-ES_tradnl" sz="1575" b="1" noProof="0" dirty="0">
                <a:solidFill>
                  <a:srgbClr val="0F172A"/>
                </a:solidFill>
              </a:rPr>
              <a:t>Logro técnico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92B9F16-3176-4E8E-88E9-71272823DA3E}"/>
              </a:ext>
            </a:extLst>
          </p:cNvPr>
          <p:cNvSpPr>
            <a:spLocks noGrp="1"/>
          </p:cNvSpPr>
          <p:nvPr/>
        </p:nvSpPr>
        <p:spPr>
          <a:xfrm>
            <a:off x="1885950" y="2038350"/>
            <a:ext cx="71437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lang="es-ES_tradnl" sz="1200" b="0" noProof="0" dirty="0">
                <a:solidFill>
                  <a:srgbClr val="64748B"/>
                </a:solidFill>
              </a:rPr>
              <a:t>Integración de REST, </a:t>
            </a:r>
            <a:r>
              <a:rPr lang="es-ES_tradnl" sz="1200" b="0" noProof="0" dirty="0" err="1">
                <a:solidFill>
                  <a:srgbClr val="64748B"/>
                </a:solidFill>
              </a:rPr>
              <a:t>Socket.IO</a:t>
            </a:r>
            <a:r>
              <a:rPr lang="es-ES_tradnl" sz="1200" b="0" noProof="0" dirty="0">
                <a:solidFill>
                  <a:srgbClr val="64748B"/>
                </a:solidFill>
              </a:rPr>
              <a:t>, </a:t>
            </a:r>
            <a:r>
              <a:rPr lang="es-ES_tradnl" sz="1200" b="0" noProof="0" dirty="0" err="1">
                <a:solidFill>
                  <a:srgbClr val="64748B"/>
                </a:solidFill>
              </a:rPr>
              <a:t>WebRTC</a:t>
            </a:r>
            <a:r>
              <a:rPr lang="es-ES_tradnl" sz="1200" b="0" noProof="0" dirty="0">
                <a:solidFill>
                  <a:srgbClr val="64748B"/>
                </a:solidFill>
              </a:rPr>
              <a:t>, mapas, JWT, roles y </a:t>
            </a:r>
            <a:r>
              <a:rPr lang="es-ES_tradnl" sz="1200" b="0" noProof="0" dirty="0" err="1">
                <a:solidFill>
                  <a:srgbClr val="64748B"/>
                </a:solidFill>
              </a:rPr>
              <a:t>worker</a:t>
            </a:r>
            <a:r>
              <a:rPr lang="es-ES_tradnl" sz="1200" b="0" noProof="0" dirty="0">
                <a:solidFill>
                  <a:srgbClr val="64748B"/>
                </a:solidFill>
              </a:rPr>
              <a:t> </a:t>
            </a:r>
            <a:r>
              <a:rPr lang="es-ES_tradnl" sz="1200" b="0" noProof="0" dirty="0" err="1">
                <a:solidFill>
                  <a:srgbClr val="64748B"/>
                </a:solidFill>
              </a:rPr>
              <a:t>threads</a:t>
            </a:r>
            <a:r>
              <a:rPr lang="es-ES_tradnl" sz="1200" b="0" noProof="0" dirty="0">
                <a:solidFill>
                  <a:srgbClr val="64748B"/>
                </a:solidFill>
              </a:rPr>
              <a:t>.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90D4FA86-C3F0-4612-90E9-432C637569B9}"/>
              </a:ext>
            </a:extLst>
          </p:cNvPr>
          <p:cNvSpPr>
            <a:spLocks noGrp="1"/>
          </p:cNvSpPr>
          <p:nvPr/>
        </p:nvSpPr>
        <p:spPr>
          <a:xfrm>
            <a:off x="971550" y="2609850"/>
            <a:ext cx="933450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B5A24599-47F7-4282-915D-09ACFE7FB2ED}"/>
              </a:ext>
            </a:extLst>
          </p:cNvPr>
          <p:cNvSpPr>
            <a:spLocks noGrp="1"/>
          </p:cNvSpPr>
          <p:nvPr/>
        </p:nvSpPr>
        <p:spPr>
          <a:xfrm>
            <a:off x="1238250" y="2781300"/>
            <a:ext cx="419100" cy="41910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lang="es-ES_tradnl" sz="1125" b="1" noProof="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332337F-B727-4204-9588-0166423E96BA}"/>
              </a:ext>
            </a:extLst>
          </p:cNvPr>
          <p:cNvSpPr>
            <a:spLocks noGrp="1"/>
          </p:cNvSpPr>
          <p:nvPr/>
        </p:nvSpPr>
        <p:spPr>
          <a:xfrm>
            <a:off x="1885950" y="2752725"/>
            <a:ext cx="1905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75" b="1">
                <a:solidFill>
                  <a:srgbClr val="0F172A"/>
                </a:solidFill>
              </a:defRPr>
            </a:pPr>
            <a:r>
              <a:rPr lang="es-ES_tradnl" sz="1575" b="1" noProof="0" dirty="0">
                <a:solidFill>
                  <a:srgbClr val="0F172A"/>
                </a:solidFill>
              </a:rPr>
              <a:t>Valor agregado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7D9F5CC-1EB2-4B7D-BF12-35588A131DD4}"/>
              </a:ext>
            </a:extLst>
          </p:cNvPr>
          <p:cNvSpPr>
            <a:spLocks noGrp="1"/>
          </p:cNvSpPr>
          <p:nvPr/>
        </p:nvSpPr>
        <p:spPr>
          <a:xfrm>
            <a:off x="1885950" y="3067050"/>
            <a:ext cx="71437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lang="es-ES_tradnl" sz="1200" b="0" noProof="0" dirty="0">
                <a:solidFill>
                  <a:srgbClr val="64748B"/>
                </a:solidFill>
              </a:rPr>
              <a:t>No solo registra reportes; coordina respuesta, comunicación y seguimiento.</a:t>
            </a:r>
          </a:p>
        </p:txBody>
      </p:sp>
      <p:sp>
        <p:nvSpPr>
          <p:cNvPr id="15" name="Rectángulo redondeado 14">
            <a:extLst>
              <a:ext uri="{FF2B5EF4-FFF2-40B4-BE49-F238E27FC236}">
                <a16:creationId xmlns:a16="http://schemas.microsoft.com/office/drawing/2014/main" id="{03B01019-C77E-42CE-A969-37B30382EFB2}"/>
              </a:ext>
            </a:extLst>
          </p:cNvPr>
          <p:cNvSpPr>
            <a:spLocks noGrp="1"/>
          </p:cNvSpPr>
          <p:nvPr/>
        </p:nvSpPr>
        <p:spPr>
          <a:xfrm>
            <a:off x="971550" y="3638550"/>
            <a:ext cx="9334500" cy="781050"/>
          </a:xfrm>
          <a:prstGeom prst="roundRect">
            <a:avLst>
              <a:gd name="adj" fmla="val 12195"/>
            </a:avLst>
          </a:prstGeom>
          <a:solidFill>
            <a:srgbClr val="F0F7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423D8C8F-96DC-438D-ADD1-0DC8CB39F76A}"/>
              </a:ext>
            </a:extLst>
          </p:cNvPr>
          <p:cNvSpPr>
            <a:spLocks noGrp="1"/>
          </p:cNvSpPr>
          <p:nvPr/>
        </p:nvSpPr>
        <p:spPr>
          <a:xfrm>
            <a:off x="1238250" y="3810000"/>
            <a:ext cx="419100" cy="41910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lang="es-ES_tradnl" sz="1125" b="1" noProof="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C8605AB-AE7F-47BF-A75E-6F0E30388E97}"/>
              </a:ext>
            </a:extLst>
          </p:cNvPr>
          <p:cNvSpPr>
            <a:spLocks noGrp="1"/>
          </p:cNvSpPr>
          <p:nvPr/>
        </p:nvSpPr>
        <p:spPr>
          <a:xfrm>
            <a:off x="1885950" y="3781425"/>
            <a:ext cx="1905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75" b="1">
                <a:solidFill>
                  <a:srgbClr val="0F172A"/>
                </a:solidFill>
              </a:defRPr>
            </a:pPr>
            <a:r>
              <a:rPr lang="es-ES_tradnl" sz="1575" b="1" noProof="0" dirty="0">
                <a:solidFill>
                  <a:srgbClr val="0F172A"/>
                </a:solidFill>
              </a:rPr>
              <a:t>Impacto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26D83CD-500F-424A-9AFB-376D8A624C89}"/>
              </a:ext>
            </a:extLst>
          </p:cNvPr>
          <p:cNvSpPr>
            <a:spLocks noGrp="1"/>
          </p:cNvSpPr>
          <p:nvPr/>
        </p:nvSpPr>
        <p:spPr>
          <a:xfrm>
            <a:off x="1885950" y="4095750"/>
            <a:ext cx="71437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lang="es-ES_tradnl" sz="1200" b="0" noProof="0" dirty="0">
                <a:solidFill>
                  <a:srgbClr val="64748B"/>
                </a:solidFill>
              </a:rPr>
              <a:t>Mejora trazabilidad y reduce incertidumbre en escenarios de emergencia.</a:t>
            </a:r>
          </a:p>
        </p:txBody>
      </p:sp>
      <p:sp>
        <p:nvSpPr>
          <p:cNvPr id="19" name="Rectángulo redondeado 18">
            <a:extLst>
              <a:ext uri="{FF2B5EF4-FFF2-40B4-BE49-F238E27FC236}">
                <a16:creationId xmlns:a16="http://schemas.microsoft.com/office/drawing/2014/main" id="{57EBA115-A7BD-458B-88C5-06D6624B1421}"/>
              </a:ext>
            </a:extLst>
          </p:cNvPr>
          <p:cNvSpPr>
            <a:spLocks noGrp="1"/>
          </p:cNvSpPr>
          <p:nvPr/>
        </p:nvSpPr>
        <p:spPr>
          <a:xfrm>
            <a:off x="971550" y="4667250"/>
            <a:ext cx="933450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ES_tradnl" noProof="0" dirty="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185B40D1-0097-484D-BA69-CD06B7B92548}"/>
              </a:ext>
            </a:extLst>
          </p:cNvPr>
          <p:cNvSpPr>
            <a:spLocks noGrp="1"/>
          </p:cNvSpPr>
          <p:nvPr/>
        </p:nvSpPr>
        <p:spPr>
          <a:xfrm>
            <a:off x="1238250" y="4838700"/>
            <a:ext cx="419100" cy="4191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lang="es-ES_tradnl" sz="1125" b="1" noProof="0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9BEDDF3C-245E-499A-8D33-1B8F8F4CDE49}"/>
              </a:ext>
            </a:extLst>
          </p:cNvPr>
          <p:cNvSpPr>
            <a:spLocks noGrp="1"/>
          </p:cNvSpPr>
          <p:nvPr/>
        </p:nvSpPr>
        <p:spPr>
          <a:xfrm>
            <a:off x="1885950" y="4810125"/>
            <a:ext cx="1905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75" b="1">
                <a:solidFill>
                  <a:srgbClr val="0F172A"/>
                </a:solidFill>
              </a:defRPr>
            </a:pPr>
            <a:r>
              <a:rPr lang="es-ES_tradnl" sz="1575" b="1" noProof="0" dirty="0">
                <a:solidFill>
                  <a:srgbClr val="0F172A"/>
                </a:solidFill>
              </a:rPr>
              <a:t>Evolución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F578C8C-76E4-4C49-9386-2407D8773D94}"/>
              </a:ext>
            </a:extLst>
          </p:cNvPr>
          <p:cNvSpPr>
            <a:spLocks noGrp="1"/>
          </p:cNvSpPr>
          <p:nvPr/>
        </p:nvSpPr>
        <p:spPr>
          <a:xfrm>
            <a:off x="1885950" y="5124450"/>
            <a:ext cx="71437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lang="es-ES_tradnl" sz="1200" b="0" noProof="0" dirty="0">
                <a:solidFill>
                  <a:srgbClr val="64748B"/>
                </a:solidFill>
              </a:rPr>
              <a:t>La arquitectura permite migrar a base de datos real, </a:t>
            </a:r>
            <a:r>
              <a:rPr lang="es-ES_tradnl" sz="1200" b="0" noProof="0" dirty="0" err="1">
                <a:solidFill>
                  <a:srgbClr val="64748B"/>
                </a:solidFill>
              </a:rPr>
              <a:t>circuit</a:t>
            </a:r>
            <a:r>
              <a:rPr lang="es-ES_tradnl" sz="1200" b="0" noProof="0" dirty="0">
                <a:solidFill>
                  <a:srgbClr val="64748B"/>
                </a:solidFill>
              </a:rPr>
              <a:t> breaker e IA predictiva.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5D845FB-9249-4F5B-B53D-1BCE2BD56401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lang="es-ES_tradnl" sz="750" b="1" noProof="0" dirty="0">
                <a:solidFill>
                  <a:srgbClr val="64748B"/>
                </a:solidFill>
              </a:rPr>
              <a:t>EMERGENCIAS TECH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959E08B-483C-4284-8886-9A4E1E5E80CF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lang="es-ES_tradnl" sz="900" b="1" noProof="0" dirty="0">
                <a:solidFill>
                  <a:srgbClr val="64748B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56383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9DC386A7-9B12-45D6-9803-A89601591D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7B9C8A8F-8E0F-43E4-AB5F-662323370C01}"/>
              </a:ext>
            </a:extLst>
          </p:cNvPr>
          <p:cNvSpPr>
            <a:spLocks noGrp="1"/>
          </p:cNvSpPr>
          <p:nvPr/>
        </p:nvSpPr>
        <p:spPr>
          <a:xfrm>
            <a:off x="7810500" y="342900"/>
            <a:ext cx="47625" cy="47625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1AC71273-52BD-4731-A0E2-AEB99E0BC040}"/>
              </a:ext>
            </a:extLst>
          </p:cNvPr>
          <p:cNvSpPr>
            <a:spLocks noGrp="1"/>
          </p:cNvSpPr>
          <p:nvPr/>
        </p:nvSpPr>
        <p:spPr>
          <a:xfrm>
            <a:off x="8134350" y="8763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5473D47F-5A2D-4EDE-83D4-F07E4468C4D4}"/>
              </a:ext>
            </a:extLst>
          </p:cNvPr>
          <p:cNvSpPr>
            <a:spLocks noGrp="1"/>
          </p:cNvSpPr>
          <p:nvPr/>
        </p:nvSpPr>
        <p:spPr>
          <a:xfrm>
            <a:off x="8458200" y="14097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211C4CCB-AAFE-473E-BDF4-121BCEC7CBE6}"/>
              </a:ext>
            </a:extLst>
          </p:cNvPr>
          <p:cNvSpPr>
            <a:spLocks noGrp="1"/>
          </p:cNvSpPr>
          <p:nvPr/>
        </p:nvSpPr>
        <p:spPr>
          <a:xfrm>
            <a:off x="8782050" y="1943100"/>
            <a:ext cx="47625" cy="47625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780B9BED-C3DE-4379-A96D-81680B202A22}"/>
              </a:ext>
            </a:extLst>
          </p:cNvPr>
          <p:cNvSpPr>
            <a:spLocks noGrp="1"/>
          </p:cNvSpPr>
          <p:nvPr/>
        </p:nvSpPr>
        <p:spPr>
          <a:xfrm>
            <a:off x="9105900" y="24765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3A1B5991-7748-4DBE-9241-6E4FD5A26B36}"/>
              </a:ext>
            </a:extLst>
          </p:cNvPr>
          <p:cNvSpPr>
            <a:spLocks noGrp="1"/>
          </p:cNvSpPr>
          <p:nvPr/>
        </p:nvSpPr>
        <p:spPr>
          <a:xfrm>
            <a:off x="9429750" y="3429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F9B1420B-2C03-44D2-8861-AD65730B96C8}"/>
              </a:ext>
            </a:extLst>
          </p:cNvPr>
          <p:cNvSpPr>
            <a:spLocks noGrp="1"/>
          </p:cNvSpPr>
          <p:nvPr/>
        </p:nvSpPr>
        <p:spPr>
          <a:xfrm>
            <a:off x="9753600" y="876300"/>
            <a:ext cx="47625" cy="47625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342E8B0-1F21-43FD-83C5-72D4E8EBBC97}"/>
              </a:ext>
            </a:extLst>
          </p:cNvPr>
          <p:cNvSpPr>
            <a:spLocks noGrp="1"/>
          </p:cNvSpPr>
          <p:nvPr/>
        </p:nvSpPr>
        <p:spPr>
          <a:xfrm>
            <a:off x="10077450" y="14097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81F04FB-B6E9-42A0-9918-28C1A8312C0C}"/>
              </a:ext>
            </a:extLst>
          </p:cNvPr>
          <p:cNvSpPr>
            <a:spLocks noGrp="1"/>
          </p:cNvSpPr>
          <p:nvPr/>
        </p:nvSpPr>
        <p:spPr>
          <a:xfrm>
            <a:off x="10401300" y="1943100"/>
            <a:ext cx="47625" cy="47625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88C278DC-87A2-4FA4-BFC4-DA388301A798}"/>
              </a:ext>
            </a:extLst>
          </p:cNvPr>
          <p:cNvSpPr>
            <a:spLocks noGrp="1"/>
          </p:cNvSpPr>
          <p:nvPr/>
        </p:nvSpPr>
        <p:spPr>
          <a:xfrm>
            <a:off x="10725150" y="2476500"/>
            <a:ext cx="47625" cy="47625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30" name="Imagen 29"/>
          <p:cNvPicPr>
            <a:picLocks noChangeAspect="1"/>
          </p:cNvPicPr>
          <p:nvPr/>
        </p:nvPicPr>
        <p:blipFill>
          <a:blip r:embed="rId3"/>
          <a:srcRect l="15556" r="15556"/>
          <a:stretch>
            <a:fillRect/>
          </a:stretch>
        </p:blipFill>
        <p:spPr>
          <a:xfrm>
            <a:off x="6667500" y="952500"/>
            <a:ext cx="4095750" cy="4095750"/>
          </a:xfrm>
          <a:prstGeom prst="ellipse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12B0EF02-C398-476A-9FF5-5D0D9E3DEBE4}"/>
              </a:ext>
            </a:extLst>
          </p:cNvPr>
          <p:cNvSpPr>
            <a:spLocks noGrp="1"/>
          </p:cNvSpPr>
          <p:nvPr/>
        </p:nvSpPr>
        <p:spPr>
          <a:xfrm>
            <a:off x="914400" y="1524000"/>
            <a:ext cx="4762500" cy="8001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rPr lang="es-ES_tradnl" sz="4800" b="1" noProof="0" dirty="0"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CF750EE-B067-4405-A43B-0EDC27B9C6EE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4095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100" b="1">
                <a:solidFill>
                  <a:srgbClr val="38BDF8"/>
                </a:solidFill>
              </a:defRPr>
            </a:pPr>
            <a:r>
              <a:rPr lang="es-ES_tradnl" sz="2100" b="1" noProof="0" dirty="0">
                <a:solidFill>
                  <a:srgbClr val="38BDF8"/>
                </a:solidFill>
              </a:rPr>
              <a:t>Preguntas y respuestas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08767E7-10D9-4AA2-839A-696C4D1B32DA}"/>
              </a:ext>
            </a:extLst>
          </p:cNvPr>
          <p:cNvSpPr>
            <a:spLocks noGrp="1"/>
          </p:cNvSpPr>
          <p:nvPr/>
        </p:nvSpPr>
        <p:spPr>
          <a:xfrm>
            <a:off x="990600" y="3695700"/>
            <a:ext cx="40957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650" b="1">
                <a:solidFill>
                  <a:srgbClr val="D7E5FF"/>
                </a:solidFill>
              </a:defRPr>
            </a:pPr>
            <a:r>
              <a:rPr lang="es-ES_tradnl" sz="1650" b="1" noProof="0" dirty="0">
                <a:solidFill>
                  <a:srgbClr val="D7E5FF"/>
                </a:solidFill>
              </a:rPr>
              <a:t>EMERGENCIAS TECH</a:t>
            </a:r>
          </a:p>
          <a:p>
            <a:pPr algn="l">
              <a:defRPr sz="1650" b="1">
                <a:solidFill>
                  <a:srgbClr val="D7E5FF"/>
                </a:solidFill>
              </a:defRPr>
            </a:pPr>
            <a:r>
              <a:rPr lang="es-ES_tradnl" sz="1650" b="1" noProof="0" dirty="0">
                <a:solidFill>
                  <a:srgbClr val="D7E5FF"/>
                </a:solidFill>
              </a:rPr>
              <a:t>ALEGRIA ADONIS - ESPE</a:t>
            </a:r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39AD5D42-44BF-45A8-B3F7-9B9FDFBAB173}"/>
              </a:ext>
            </a:extLst>
          </p:cNvPr>
          <p:cNvSpPr>
            <a:spLocks noGrp="1"/>
          </p:cNvSpPr>
          <p:nvPr/>
        </p:nvSpPr>
        <p:spPr>
          <a:xfrm>
            <a:off x="952500" y="4762500"/>
            <a:ext cx="4476750" cy="285750"/>
          </a:xfrm>
          <a:prstGeom prst="roundRect">
            <a:avLst>
              <a:gd name="adj" fmla="val 50000"/>
            </a:avLst>
          </a:prstGeom>
          <a:solidFill>
            <a:srgbClr val="0D2A4D"/>
          </a:solidFill>
          <a:ln w="9525">
            <a:solidFill>
              <a:srgbClr val="38BDF8"/>
            </a:solidFill>
          </a:ln>
        </p:spPr>
        <p:txBody>
          <a:bodyPr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rPr lang="es-ES_tradnl" sz="900" b="1" noProof="0" dirty="0">
                <a:solidFill>
                  <a:srgbClr val="38BDF8"/>
                </a:solidFill>
              </a:rPr>
              <a:t>Software distribuido para coordinación de emergencias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4330905-2E31-467C-8996-0387355D0ADB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750" b="1">
                <a:solidFill>
                  <a:srgbClr val="B6C7E6"/>
                </a:solidFill>
              </a:defRPr>
            </a:pPr>
            <a:r>
              <a:rPr lang="es-ES_tradnl" sz="750" b="1" noProof="0" dirty="0">
                <a:solidFill>
                  <a:srgbClr val="B6C7E6"/>
                </a:solidFill>
              </a:rPr>
              <a:t>EMERGENCIAS TECH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6BAD6A9-801E-420F-B8B9-D57024409F5E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B6C7E6"/>
                </a:solidFill>
              </a:defRPr>
            </a:pPr>
            <a:r>
              <a:rPr lang="es-ES_tradnl" sz="900" b="1" noProof="0" dirty="0">
                <a:solidFill>
                  <a:srgbClr val="B6C7E6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1527726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1848</Words>
  <Application>Microsoft Macintosh PowerPoint</Application>
  <DocSecurity>0</DocSecurity>
  <PresentationFormat>Panorámica</PresentationFormat>
  <Paragraphs>438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0" baseType="lpstr"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ADONIS VLADIMIR ALEGRIA VALLE</cp:lastModifiedBy>
  <cp:revision>1</cp:revision>
  <dcterms:created xsi:type="dcterms:W3CDTF">2026-06-19T04:40:06Z</dcterms:created>
  <dcterms:modified xsi:type="dcterms:W3CDTF">2026-06-19T04:59:19Z</dcterms:modified>
</cp:coreProperties>
</file>